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f37546f-2c99-b490-634c-3330f307ab81}">
          <p14:sldIdLst>
            <p14:sldId id="256"/>
            <p14:sldId id="257"/>
          </p14:sldIdLst>
        </p14:section>
        <p14:section name="Single-factor baseline" id="{ac50807b-1c56-bf85-e344-4fc90f63c9e6}">
          <p14:sldIdLst>
            <p14:sldId id="258"/>
            <p14:sldId id="259"/>
            <p14:sldId id="260"/>
          </p14:sldIdLst>
        </p14:section>
        <p14:section name="Alternative estimators" id="{2ee364c2-e523-93c2-1b2f-21377140b40e}">
          <p14:sldIdLst>
            <p14:sldId id="261"/>
            <p14:sldId id="262"/>
            <p14:sldId id="263"/>
          </p14:sldIdLst>
        </p14:section>
        <p14:section name="Diversification and conclusions" id="{bc647236-c958-20fd-ed16-1b4d5c66f516}">
          <p14:sldIdLst>
            <p14:sldId id="264"/>
            <p14:sldId id="265"/>
          </p14:sldIdLst>
        </p14:section>
        <p14:section name="Appendix" id="{0b1ecc1f-fd0e-6ab7-2ffe-17d795d4f99d}">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Growth of $1, 1995–2025 (log scale, monthly rebalancing, gross of costs)</a:t>
            </a:r>
          </a:p>
        </c:rich>
      </c:tx>
      <c:layout/>
      <c:overlay val="0"/>
    </c:title>
    <c:autoTitleDeleted val="0"/>
    <c:plotArea>
      <c:layout/>
      <c:lineChart>
        <c:varyColors val="0"/>
        <c:ser>
          <c:idx val="0"/>
          <c:order val="0"/>
          <c:tx>
            <c:strRef>
              <c:f>Sheet1!$B$1</c:f>
              <c:strCache>
                <c:ptCount val="1"/>
                <c:pt idx="0">
                  <c:v>Equally weighted</c:v>
                </c:pt>
              </c:strCache>
            </c:strRef>
          </c:tx>
          <c:spPr>
            <a:solidFill>
              <a:srgbClr val="EDA100"/>
            </a:solidFill>
            <a:ln w="22225"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1.0262</c:v>
                </c:pt>
                <c:pt idx="1">
                  <c:v>1.0718</c:v>
                </c:pt>
                <c:pt idx="2">
                  <c:v>1.0981</c:v>
                </c:pt>
                <c:pt idx="3">
                  <c:v>1.1178</c:v>
                </c:pt>
                <c:pt idx="4">
                  <c:v>1.158</c:v>
                </c:pt>
                <c:pt idx="5">
                  <c:v>1.1895</c:v>
                </c:pt>
                <c:pt idx="6">
                  <c:v>1.2349</c:v>
                </c:pt>
                <c:pt idx="7">
                  <c:v>1.2535</c:v>
                </c:pt>
                <c:pt idx="8">
                  <c:v>1.29</c:v>
                </c:pt>
                <c:pt idx="9">
                  <c:v>1.2685</c:v>
                </c:pt>
                <c:pt idx="10">
                  <c:v>1.3288</c:v>
                </c:pt>
                <c:pt idx="11">
                  <c:v>1.3427</c:v>
                </c:pt>
                <c:pt idx="12">
                  <c:v>1.3832</c:v>
                </c:pt>
                <c:pt idx="13">
                  <c:v>1.4054</c:v>
                </c:pt>
                <c:pt idx="14">
                  <c:v>1.4234</c:v>
                </c:pt>
                <c:pt idx="15">
                  <c:v>1.4518</c:v>
                </c:pt>
                <c:pt idx="16">
                  <c:v>1.4782</c:v>
                </c:pt>
                <c:pt idx="17">
                  <c:v>1.4631</c:v>
                </c:pt>
                <c:pt idx="18">
                  <c:v>1.3883</c:v>
                </c:pt>
                <c:pt idx="19">
                  <c:v>1.4375</c:v>
                </c:pt>
                <c:pt idx="20">
                  <c:v>1.5136</c:v>
                </c:pt>
                <c:pt idx="21">
                  <c:v>1.5374</c:v>
                </c:pt>
                <c:pt idx="22">
                  <c:v>1.6469</c:v>
                </c:pt>
                <c:pt idx="23">
                  <c:v>1.6189</c:v>
                </c:pt>
                <c:pt idx="24">
                  <c:v>1.6928</c:v>
                </c:pt>
                <c:pt idx="25">
                  <c:v>1.702</c:v>
                </c:pt>
                <c:pt idx="26">
                  <c:v>1.6358</c:v>
                </c:pt>
                <c:pt idx="27">
                  <c:v>1.6908</c:v>
                </c:pt>
                <c:pt idx="28">
                  <c:v>1.809</c:v>
                </c:pt>
                <c:pt idx="29">
                  <c:v>1.8748</c:v>
                </c:pt>
                <c:pt idx="30">
                  <c:v>2.0372</c:v>
                </c:pt>
                <c:pt idx="31">
                  <c:v>1.983</c:v>
                </c:pt>
                <c:pt idx="32">
                  <c:v>2.0873</c:v>
                </c:pt>
                <c:pt idx="33">
                  <c:v>2.0075</c:v>
                </c:pt>
                <c:pt idx="34">
                  <c:v>2.0729</c:v>
                </c:pt>
                <c:pt idx="35">
                  <c:v>2.1267</c:v>
                </c:pt>
                <c:pt idx="36">
                  <c:v>2.1014</c:v>
                </c:pt>
                <c:pt idx="37">
                  <c:v>2.2619</c:v>
                </c:pt>
                <c:pt idx="38">
                  <c:v>2.3737</c:v>
                </c:pt>
                <c:pt idx="39">
                  <c:v>2.3858</c:v>
                </c:pt>
                <c:pt idx="40">
                  <c:v>2.3187</c:v>
                </c:pt>
                <c:pt idx="41">
                  <c:v>2.3619</c:v>
                </c:pt>
                <c:pt idx="42">
                  <c:v>2.2791</c:v>
                </c:pt>
                <c:pt idx="43">
                  <c:v>1.9442</c:v>
                </c:pt>
                <c:pt idx="44">
                  <c:v>2.0678</c:v>
                </c:pt>
                <c:pt idx="45">
                  <c:v>2.2416</c:v>
                </c:pt>
                <c:pt idx="46">
                  <c:v>2.3561</c:v>
                </c:pt>
                <c:pt idx="47">
                  <c:v>2.4739</c:v>
                </c:pt>
                <c:pt idx="48">
                  <c:v>2.4845</c:v>
                </c:pt>
                <c:pt idx="49">
                  <c:v>2.4183</c:v>
                </c:pt>
                <c:pt idx="50">
                  <c:v>2.4919</c:v>
                </c:pt>
                <c:pt idx="51">
                  <c:v>2.6705</c:v>
                </c:pt>
                <c:pt idx="52">
                  <c:v>2.6668</c:v>
                </c:pt>
                <c:pt idx="53">
                  <c:v>2.7651</c:v>
                </c:pt>
                <c:pt idx="54">
                  <c:v>2.6891</c:v>
                </c:pt>
                <c:pt idx="55">
                  <c:v>2.6197</c:v>
                </c:pt>
                <c:pt idx="56">
                  <c:v>2.5202</c:v>
                </c:pt>
                <c:pt idx="57">
                  <c:v>2.6493</c:v>
                </c:pt>
                <c:pt idx="58">
                  <c:v>2.6883</c:v>
                </c:pt>
                <c:pt idx="59">
                  <c:v>2.8336</c:v>
                </c:pt>
                <c:pt idx="60">
                  <c:v>2.6976</c:v>
                </c:pt>
                <c:pt idx="61">
                  <c:v>2.6966</c:v>
                </c:pt>
                <c:pt idx="62">
                  <c:v>2.9125</c:v>
                </c:pt>
                <c:pt idx="63">
                  <c:v>2.8927</c:v>
                </c:pt>
                <c:pt idx="64">
                  <c:v>2.8975</c:v>
                </c:pt>
                <c:pt idx="65">
                  <c:v>2.8738</c:v>
                </c:pt>
                <c:pt idx="66">
                  <c:v>2.8753</c:v>
                </c:pt>
                <c:pt idx="67">
                  <c:v>3.1281</c:v>
                </c:pt>
                <c:pt idx="68">
                  <c:v>3.0987</c:v>
                </c:pt>
                <c:pt idx="69">
                  <c:v>3.1292</c:v>
                </c:pt>
                <c:pt idx="70">
                  <c:v>2.9161</c:v>
                </c:pt>
                <c:pt idx="71">
                  <c:v>3.1073</c:v>
                </c:pt>
                <c:pt idx="72">
                  <c:v>3.2027</c:v>
                </c:pt>
                <c:pt idx="73">
                  <c:v>3.0323</c:v>
                </c:pt>
                <c:pt idx="74">
                  <c:v>2.8726</c:v>
                </c:pt>
                <c:pt idx="75">
                  <c:v>3.1158</c:v>
                </c:pt>
                <c:pt idx="76">
                  <c:v>3.1711</c:v>
                </c:pt>
                <c:pt idx="77">
                  <c:v>3.1367</c:v>
                </c:pt>
                <c:pt idx="78">
                  <c:v>3.0888</c:v>
                </c:pt>
                <c:pt idx="79">
                  <c:v>2.9463</c:v>
                </c:pt>
                <c:pt idx="80">
                  <c:v>2.6238</c:v>
                </c:pt>
                <c:pt idx="81">
                  <c:v>2.6939</c:v>
                </c:pt>
                <c:pt idx="82">
                  <c:v>2.9242</c:v>
                </c:pt>
                <c:pt idx="83">
                  <c:v>3.0101</c:v>
                </c:pt>
                <c:pt idx="84">
                  <c:v>3.0035</c:v>
                </c:pt>
                <c:pt idx="85">
                  <c:v>2.9532</c:v>
                </c:pt>
                <c:pt idx="86">
                  <c:v>3.1243</c:v>
                </c:pt>
                <c:pt idx="87">
                  <c:v>3.027</c:v>
                </c:pt>
                <c:pt idx="88">
                  <c:v>3.0045</c:v>
                </c:pt>
                <c:pt idx="89">
                  <c:v>2.7877</c:v>
                </c:pt>
                <c:pt idx="90">
                  <c:v>2.5361</c:v>
                </c:pt>
                <c:pt idx="91">
                  <c:v>2.5486</c:v>
                </c:pt>
                <c:pt idx="92">
                  <c:v>2.3055</c:v>
                </c:pt>
                <c:pt idx="93">
                  <c:v>2.4481</c:v>
                </c:pt>
                <c:pt idx="94">
                  <c:v>2.6092</c:v>
                </c:pt>
                <c:pt idx="95">
                  <c:v>2.4857</c:v>
                </c:pt>
                <c:pt idx="96">
                  <c:v>2.4351</c:v>
                </c:pt>
                <c:pt idx="97">
                  <c:v>2.3898</c:v>
                </c:pt>
                <c:pt idx="98">
                  <c:v>2.4007</c:v>
                </c:pt>
                <c:pt idx="99">
                  <c:v>2.5909</c:v>
                </c:pt>
                <c:pt idx="100">
                  <c:v>2.802</c:v>
                </c:pt>
                <c:pt idx="101">
                  <c:v>2.8212</c:v>
                </c:pt>
                <c:pt idx="102">
                  <c:v>2.8939</c:v>
                </c:pt>
                <c:pt idx="103">
                  <c:v>3.005</c:v>
                </c:pt>
                <c:pt idx="104">
                  <c:v>2.957</c:v>
                </c:pt>
                <c:pt idx="105">
                  <c:v>3.1793</c:v>
                </c:pt>
                <c:pt idx="106">
                  <c:v>3.2384</c:v>
                </c:pt>
                <c:pt idx="107">
                  <c:v>3.3616</c:v>
                </c:pt>
                <c:pt idx="108">
                  <c:v>3.418</c:v>
                </c:pt>
                <c:pt idx="109">
                  <c:v>3.4815</c:v>
                </c:pt>
                <c:pt idx="110">
                  <c:v>3.4581</c:v>
                </c:pt>
                <c:pt idx="111">
                  <c:v>3.3936</c:v>
                </c:pt>
                <c:pt idx="112">
                  <c:v>3.4574</c:v>
                </c:pt>
                <c:pt idx="113">
                  <c:v>3.5359</c:v>
                </c:pt>
                <c:pt idx="114">
                  <c:v>3.3901</c:v>
                </c:pt>
                <c:pt idx="115">
                  <c:v>3.3889</c:v>
                </c:pt>
                <c:pt idx="116">
                  <c:v>3.4894</c:v>
                </c:pt>
                <c:pt idx="117">
                  <c:v>3.5551</c:v>
                </c:pt>
                <c:pt idx="118">
                  <c:v>3.7457</c:v>
                </c:pt>
                <c:pt idx="119">
                  <c:v>3.8827</c:v>
                </c:pt>
                <c:pt idx="120">
                  <c:v>3.7909</c:v>
                </c:pt>
                <c:pt idx="121">
                  <c:v>3.8742</c:v>
                </c:pt>
                <c:pt idx="122">
                  <c:v>3.8353</c:v>
                </c:pt>
                <c:pt idx="123">
                  <c:v>3.7304</c:v>
                </c:pt>
                <c:pt idx="124">
                  <c:v>3.8989</c:v>
                </c:pt>
                <c:pt idx="125">
                  <c:v>3.962</c:v>
                </c:pt>
                <c:pt idx="126">
                  <c:v>4.1565</c:v>
                </c:pt>
                <c:pt idx="127">
                  <c:v>4.1228</c:v>
                </c:pt>
                <c:pt idx="128">
                  <c:v>4.1673</c:v>
                </c:pt>
                <c:pt idx="129">
                  <c:v>4.0802</c:v>
                </c:pt>
                <c:pt idx="130">
                  <c:v>4.2501</c:v>
                </c:pt>
                <c:pt idx="131">
                  <c:v>4.2787</c:v>
                </c:pt>
                <c:pt idx="132">
                  <c:v>4.4406</c:v>
                </c:pt>
                <c:pt idx="133">
                  <c:v>4.4366</c:v>
                </c:pt>
                <c:pt idx="134">
                  <c:v>4.5182</c:v>
                </c:pt>
                <c:pt idx="135">
                  <c:v>4.5752</c:v>
                </c:pt>
                <c:pt idx="136">
                  <c:v>4.429</c:v>
                </c:pt>
                <c:pt idx="137">
                  <c:v>4.4335</c:v>
                </c:pt>
                <c:pt idx="138">
                  <c:v>4.3702</c:v>
                </c:pt>
                <c:pt idx="139">
                  <c:v>4.4688</c:v>
                </c:pt>
                <c:pt idx="140">
                  <c:v>4.5566</c:v>
                </c:pt>
                <c:pt idx="141">
                  <c:v>4.7159</c:v>
                </c:pt>
                <c:pt idx="142">
                  <c:v>4.8349</c:v>
                </c:pt>
                <c:pt idx="143">
                  <c:v>4.8573</c:v>
                </c:pt>
                <c:pt idx="144">
                  <c:v>4.9754</c:v>
                </c:pt>
                <c:pt idx="145">
                  <c:v>4.9644</c:v>
                </c:pt>
                <c:pt idx="146">
                  <c:v>5.01</c:v>
                </c:pt>
                <c:pt idx="147">
                  <c:v>5.2244</c:v>
                </c:pt>
                <c:pt idx="148">
                  <c:v>5.4229</c:v>
                </c:pt>
                <c:pt idx="149">
                  <c:v>5.3174</c:v>
                </c:pt>
                <c:pt idx="150">
                  <c:v>5.136</c:v>
                </c:pt>
                <c:pt idx="151">
                  <c:v>5.1676</c:v>
                </c:pt>
                <c:pt idx="152">
                  <c:v>5.3314</c:v>
                </c:pt>
                <c:pt idx="153">
                  <c:v>5.451</c:v>
                </c:pt>
                <c:pt idx="154">
                  <c:v>5.2077</c:v>
                </c:pt>
                <c:pt idx="155">
                  <c:v>5.1442</c:v>
                </c:pt>
                <c:pt idx="156">
                  <c:v>4.8536</c:v>
                </c:pt>
                <c:pt idx="157">
                  <c:v>4.747</c:v>
                </c:pt>
                <c:pt idx="158">
                  <c:v>4.6688</c:v>
                </c:pt>
                <c:pt idx="159">
                  <c:v>4.9336</c:v>
                </c:pt>
                <c:pt idx="160">
                  <c:v>5.1093</c:v>
                </c:pt>
                <c:pt idx="161">
                  <c:v>4.691</c:v>
                </c:pt>
                <c:pt idx="162">
                  <c:v>4.6214</c:v>
                </c:pt>
                <c:pt idx="163">
                  <c:v>4.6862</c:v>
                </c:pt>
                <c:pt idx="164">
                  <c:v>4.1391</c:v>
                </c:pt>
                <c:pt idx="165">
                  <c:v>3.3313</c:v>
                </c:pt>
                <c:pt idx="166">
                  <c:v>3.0561</c:v>
                </c:pt>
                <c:pt idx="167">
                  <c:v>3.1477</c:v>
                </c:pt>
                <c:pt idx="168">
                  <c:v>2.9257</c:v>
                </c:pt>
                <c:pt idx="169">
                  <c:v>2.6331</c:v>
                </c:pt>
                <c:pt idx="170">
                  <c:v>2.8677</c:v>
                </c:pt>
                <c:pt idx="171">
                  <c:v>3.225</c:v>
                </c:pt>
                <c:pt idx="172">
                  <c:v>3.3667</c:v>
                </c:pt>
                <c:pt idx="173">
                  <c:v>3.3707</c:v>
                </c:pt>
                <c:pt idx="174">
                  <c:v>3.6465</c:v>
                </c:pt>
                <c:pt idx="175">
                  <c:v>3.7879</c:v>
                </c:pt>
                <c:pt idx="176">
                  <c:v>3.9702</c:v>
                </c:pt>
                <c:pt idx="177">
                  <c:v>3.8452</c:v>
                </c:pt>
                <c:pt idx="178">
                  <c:v>4.053</c:v>
                </c:pt>
                <c:pt idx="179">
                  <c:v>4.2282</c:v>
                </c:pt>
                <c:pt idx="180">
                  <c:v>4.0919</c:v>
                </c:pt>
                <c:pt idx="181">
                  <c:v>4.2773</c:v>
                </c:pt>
                <c:pt idx="182">
                  <c:v>4.5506</c:v>
                </c:pt>
                <c:pt idx="183">
                  <c:v>4.6743</c:v>
                </c:pt>
                <c:pt idx="184">
                  <c:v>4.3285</c:v>
                </c:pt>
                <c:pt idx="185">
                  <c:v>4.0763</c:v>
                </c:pt>
                <c:pt idx="186">
                  <c:v>4.3696</c:v>
                </c:pt>
                <c:pt idx="187">
                  <c:v>4.1776</c:v>
                </c:pt>
                <c:pt idx="188">
                  <c:v>4.6037</c:v>
                </c:pt>
                <c:pt idx="189">
                  <c:v>4.7865</c:v>
                </c:pt>
                <c:pt idx="190">
                  <c:v>4.8572</c:v>
                </c:pt>
                <c:pt idx="191">
                  <c:v>5.1881</c:v>
                </c:pt>
                <c:pt idx="192">
                  <c:v>5.2965</c:v>
                </c:pt>
                <c:pt idx="193">
                  <c:v>5.4945</c:v>
                </c:pt>
                <c:pt idx="194">
                  <c:v>5.5609</c:v>
                </c:pt>
                <c:pt idx="195">
                  <c:v>5.729</c:v>
                </c:pt>
                <c:pt idx="196">
                  <c:v>5.6963</c:v>
                </c:pt>
                <c:pt idx="197">
                  <c:v>5.5961</c:v>
                </c:pt>
                <c:pt idx="198">
                  <c:v>5.4144</c:v>
                </c:pt>
                <c:pt idx="199">
                  <c:v>5.0689</c:v>
                </c:pt>
                <c:pt idx="200">
                  <c:v>4.6325</c:v>
                </c:pt>
                <c:pt idx="201">
                  <c:v>5.2109</c:v>
                </c:pt>
                <c:pt idx="202">
                  <c:v>5.184</c:v>
                </c:pt>
                <c:pt idx="203">
                  <c:v>5.1564</c:v>
                </c:pt>
                <c:pt idx="204">
                  <c:v>5.4475</c:v>
                </c:pt>
                <c:pt idx="205">
                  <c:v>5.6845</c:v>
                </c:pt>
                <c:pt idx="206">
                  <c:v>5.8172</c:v>
                </c:pt>
                <c:pt idx="207">
                  <c:v>5.7718</c:v>
                </c:pt>
                <c:pt idx="208">
                  <c:v>5.3821</c:v>
                </c:pt>
                <c:pt idx="209">
                  <c:v>5.5494</c:v>
                </c:pt>
                <c:pt idx="210">
                  <c:v>5.5562</c:v>
                </c:pt>
                <c:pt idx="211">
                  <c:v>5.7267</c:v>
                </c:pt>
                <c:pt idx="212">
                  <c:v>5.8634</c:v>
                </c:pt>
                <c:pt idx="213">
                  <c:v>5.8215</c:v>
                </c:pt>
                <c:pt idx="214">
                  <c:v>5.8869</c:v>
                </c:pt>
                <c:pt idx="215">
                  <c:v>6.0074</c:v>
                </c:pt>
                <c:pt idx="216">
                  <c:v>6.4087</c:v>
                </c:pt>
                <c:pt idx="217">
                  <c:v>6.4885</c:v>
                </c:pt>
                <c:pt idx="218">
                  <c:v>6.7834</c:v>
                </c:pt>
                <c:pt idx="219">
                  <c:v>6.8843</c:v>
                </c:pt>
                <c:pt idx="220">
                  <c:v>7.0567</c:v>
                </c:pt>
                <c:pt idx="221">
                  <c:v>6.9712</c:v>
                </c:pt>
                <c:pt idx="222">
                  <c:v>7.3787</c:v>
                </c:pt>
                <c:pt idx="223">
                  <c:v>7.1994</c:v>
                </c:pt>
                <c:pt idx="224">
                  <c:v>7.5132</c:v>
                </c:pt>
                <c:pt idx="225">
                  <c:v>7.7955</c:v>
                </c:pt>
                <c:pt idx="226">
                  <c:v>7.976</c:v>
                </c:pt>
                <c:pt idx="227">
                  <c:v>8.2215</c:v>
                </c:pt>
                <c:pt idx="228">
                  <c:v>7.981</c:v>
                </c:pt>
                <c:pt idx="229">
                  <c:v>8.4106</c:v>
                </c:pt>
                <c:pt idx="230">
                  <c:v>8.4385</c:v>
                </c:pt>
                <c:pt idx="231">
                  <c:v>8.4226</c:v>
                </c:pt>
                <c:pt idx="232">
                  <c:v>8.6212</c:v>
                </c:pt>
                <c:pt idx="233">
                  <c:v>8.8635</c:v>
                </c:pt>
                <c:pt idx="234">
                  <c:v>8.6565</c:v>
                </c:pt>
                <c:pt idx="235">
                  <c:v>9.0322</c:v>
                </c:pt>
                <c:pt idx="236">
                  <c:v>8.8203</c:v>
                </c:pt>
                <c:pt idx="237">
                  <c:v>9.0672</c:v>
                </c:pt>
                <c:pt idx="238">
                  <c:v>9.325</c:v>
                </c:pt>
                <c:pt idx="239">
                  <c:v>9.3475</c:v>
                </c:pt>
                <c:pt idx="240">
                  <c:v>9.1294</c:v>
                </c:pt>
                <c:pt idx="241">
                  <c:v>9.6817</c:v>
                </c:pt>
                <c:pt idx="242">
                  <c:v>9.6182</c:v>
                </c:pt>
                <c:pt idx="243">
                  <c:v>9.6283</c:v>
                </c:pt>
                <c:pt idx="244">
                  <c:v>9.7618</c:v>
                </c:pt>
                <c:pt idx="245">
                  <c:v>9.5856</c:v>
                </c:pt>
                <c:pt idx="246">
                  <c:v>9.6911</c:v>
                </c:pt>
                <c:pt idx="247">
                  <c:v>9.1571</c:v>
                </c:pt>
                <c:pt idx="248">
                  <c:v>8.8485</c:v>
                </c:pt>
                <c:pt idx="249">
                  <c:v>9.4685</c:v>
                </c:pt>
                <c:pt idx="250">
                  <c:v>9.5018</c:v>
                </c:pt>
                <c:pt idx="251">
                  <c:v>9.2571</c:v>
                </c:pt>
                <c:pt idx="252">
                  <c:v>8.6798</c:v>
                </c:pt>
                <c:pt idx="253">
                  <c:v>8.7836</c:v>
                </c:pt>
                <c:pt idx="254">
                  <c:v>9.433</c:v>
                </c:pt>
                <c:pt idx="255">
                  <c:v>9.5568</c:v>
                </c:pt>
                <c:pt idx="256">
                  <c:v>9.7193</c:v>
                </c:pt>
                <c:pt idx="257">
                  <c:v>9.7346</c:v>
                </c:pt>
                <c:pt idx="258">
                  <c:v>10.1209</c:v>
                </c:pt>
                <c:pt idx="259">
                  <c:v>10.1782</c:v>
                </c:pt>
                <c:pt idx="260">
                  <c:v>10.1944</c:v>
                </c:pt>
                <c:pt idx="261">
                  <c:v>9.9867</c:v>
                </c:pt>
                <c:pt idx="262">
                  <c:v>10.5627</c:v>
                </c:pt>
                <c:pt idx="263">
                  <c:v>10.6758</c:v>
                </c:pt>
                <c:pt idx="264">
                  <c:v>10.9382</c:v>
                </c:pt>
                <c:pt idx="265">
                  <c:v>11.3263</c:v>
                </c:pt>
                <c:pt idx="266">
                  <c:v>11.332</c:v>
                </c:pt>
                <c:pt idx="267">
                  <c:v>11.4381</c:v>
                </c:pt>
                <c:pt idx="268">
                  <c:v>11.5535</c:v>
                </c:pt>
                <c:pt idx="269">
                  <c:v>11.6573</c:v>
                </c:pt>
                <c:pt idx="270">
                  <c:v>11.8675</c:v>
                </c:pt>
                <c:pt idx="271">
                  <c:v>11.8298</c:v>
                </c:pt>
                <c:pt idx="272">
                  <c:v>12.1867</c:v>
                </c:pt>
                <c:pt idx="273">
                  <c:v>12.4041</c:v>
                </c:pt>
                <c:pt idx="274">
                  <c:v>12.8996</c:v>
                </c:pt>
                <c:pt idx="275">
                  <c:v>13.0664</c:v>
                </c:pt>
                <c:pt idx="276">
                  <c:v>13.7347</c:v>
                </c:pt>
                <c:pt idx="277">
                  <c:v>13.196</c:v>
                </c:pt>
                <c:pt idx="278">
                  <c:v>13.0841</c:v>
                </c:pt>
                <c:pt idx="279">
                  <c:v>13.1208</c:v>
                </c:pt>
                <c:pt idx="280">
                  <c:v>13.3538</c:v>
                </c:pt>
                <c:pt idx="281">
                  <c:v>13.4313</c:v>
                </c:pt>
                <c:pt idx="282">
                  <c:v>13.8869</c:v>
                </c:pt>
                <c:pt idx="283">
                  <c:v>14.2518</c:v>
                </c:pt>
                <c:pt idx="284">
                  <c:v>14.2843</c:v>
                </c:pt>
                <c:pt idx="285">
                  <c:v>13.1617</c:v>
                </c:pt>
                <c:pt idx="286">
                  <c:v>13.5011</c:v>
                </c:pt>
                <c:pt idx="287">
                  <c:v>12.1982</c:v>
                </c:pt>
                <c:pt idx="288">
                  <c:v>13.3595</c:v>
                </c:pt>
                <c:pt idx="289">
                  <c:v>13.8756</c:v>
                </c:pt>
                <c:pt idx="290">
                  <c:v>13.9882</c:v>
                </c:pt>
                <c:pt idx="291">
                  <c:v>14.5429</c:v>
                </c:pt>
                <c:pt idx="292">
                  <c:v>13.6163</c:v>
                </c:pt>
                <c:pt idx="293">
                  <c:v>14.6534</c:v>
                </c:pt>
                <c:pt idx="294">
                  <c:v>14.8349</c:v>
                </c:pt>
                <c:pt idx="295">
                  <c:v>14.4283</c:v>
                </c:pt>
                <c:pt idx="296">
                  <c:v>14.7316</c:v>
                </c:pt>
                <c:pt idx="297">
                  <c:v>14.9502</c:v>
                </c:pt>
                <c:pt idx="298">
                  <c:v>15.5886</c:v>
                </c:pt>
                <c:pt idx="299">
                  <c:v>15.9549</c:v>
                </c:pt>
                <c:pt idx="300">
                  <c:v>15.7961</c:v>
                </c:pt>
                <c:pt idx="301">
                  <c:v>14.4788</c:v>
                </c:pt>
                <c:pt idx="302">
                  <c:v>12.0556</c:v>
                </c:pt>
                <c:pt idx="303">
                  <c:v>13.6726</c:v>
                </c:pt>
                <c:pt idx="304">
                  <c:v>14.6019</c:v>
                </c:pt>
                <c:pt idx="305">
                  <c:v>14.7384</c:v>
                </c:pt>
                <c:pt idx="306">
                  <c:v>15.5584</c:v>
                </c:pt>
                <c:pt idx="307">
                  <c:v>16.1948</c:v>
                </c:pt>
                <c:pt idx="308">
                  <c:v>15.8787</c:v>
                </c:pt>
                <c:pt idx="309">
                  <c:v>15.8287</c:v>
                </c:pt>
                <c:pt idx="310">
                  <c:v>17.8793</c:v>
                </c:pt>
                <c:pt idx="311">
                  <c:v>18.681</c:v>
                </c:pt>
                <c:pt idx="312">
                  <c:v>18.4949</c:v>
                </c:pt>
                <c:pt idx="313">
                  <c:v>19.339</c:v>
                </c:pt>
                <c:pt idx="314">
                  <c:v>20.2188</c:v>
                </c:pt>
                <c:pt idx="315">
                  <c:v>21.146</c:v>
                </c:pt>
                <c:pt idx="316">
                  <c:v>21.3734</c:v>
                </c:pt>
                <c:pt idx="317">
                  <c:v>21.5693</c:v>
                </c:pt>
                <c:pt idx="318">
                  <c:v>21.7521</c:v>
                </c:pt>
                <c:pt idx="319">
                  <c:v>22.3009</c:v>
                </c:pt>
                <c:pt idx="320">
                  <c:v>21.3878</c:v>
                </c:pt>
                <c:pt idx="321">
                  <c:v>22.6141</c:v>
                </c:pt>
                <c:pt idx="322">
                  <c:v>22.0252</c:v>
                </c:pt>
                <c:pt idx="323">
                  <c:v>23.096</c:v>
                </c:pt>
                <c:pt idx="324">
                  <c:v>21.8574</c:v>
                </c:pt>
                <c:pt idx="325">
                  <c:v>21.7256</c:v>
                </c:pt>
                <c:pt idx="326">
                  <c:v>22.2686</c:v>
                </c:pt>
                <c:pt idx="327">
                  <c:v>20.7023</c:v>
                </c:pt>
                <c:pt idx="328">
                  <c:v>20.8924</c:v>
                </c:pt>
                <c:pt idx="329">
                  <c:v>19.025</c:v>
                </c:pt>
                <c:pt idx="330">
                  <c:v>20.7399</c:v>
                </c:pt>
                <c:pt idx="331">
                  <c:v>20.2049</c:v>
                </c:pt>
                <c:pt idx="332">
                  <c:v>18.3824</c:v>
                </c:pt>
                <c:pt idx="333">
                  <c:v>20.0839</c:v>
                </c:pt>
                <c:pt idx="334">
                  <c:v>21.3906</c:v>
                </c:pt>
                <c:pt idx="335">
                  <c:v>20.3407</c:v>
                </c:pt>
                <c:pt idx="336">
                  <c:v>21.7644</c:v>
                </c:pt>
                <c:pt idx="337">
                  <c:v>21.1319</c:v>
                </c:pt>
                <c:pt idx="338">
                  <c:v>21.1686</c:v>
                </c:pt>
                <c:pt idx="339">
                  <c:v>21.1618</c:v>
                </c:pt>
                <c:pt idx="340">
                  <c:v>20.5271</c:v>
                </c:pt>
                <c:pt idx="341">
                  <c:v>22.0725</c:v>
                </c:pt>
                <c:pt idx="342">
                  <c:v>22.7842</c:v>
                </c:pt>
                <c:pt idx="343">
                  <c:v>22.1813</c:v>
                </c:pt>
                <c:pt idx="344">
                  <c:v>21.1089</c:v>
                </c:pt>
                <c:pt idx="345">
                  <c:v>20.2655</c:v>
                </c:pt>
                <c:pt idx="346">
                  <c:v>22.1092</c:v>
                </c:pt>
                <c:pt idx="347">
                  <c:v>23.6067</c:v>
                </c:pt>
                <c:pt idx="348">
                  <c:v>23.5235</c:v>
                </c:pt>
                <c:pt idx="349">
                  <c:v>24.637</c:v>
                </c:pt>
                <c:pt idx="350">
                  <c:v>25.7856</c:v>
                </c:pt>
                <c:pt idx="351">
                  <c:v>24.5285</c:v>
                </c:pt>
                <c:pt idx="352">
                  <c:v>25.1955</c:v>
                </c:pt>
                <c:pt idx="353">
                  <c:v>25.1289</c:v>
                </c:pt>
                <c:pt idx="354">
                  <c:v>26.1028</c:v>
                </c:pt>
                <c:pt idx="355">
                  <c:v>26.682</c:v>
                </c:pt>
                <c:pt idx="356">
                  <c:v>27.2145</c:v>
                </c:pt>
                <c:pt idx="357">
                  <c:v>26.9724</c:v>
                </c:pt>
                <c:pt idx="358">
                  <c:v>28.8569</c:v>
                </c:pt>
                <c:pt idx="359">
                  <c:v>27.0389</c:v>
                </c:pt>
                <c:pt idx="360">
                  <c:v>28.1807</c:v>
                </c:pt>
                <c:pt idx="361">
                  <c:v>27.7072</c:v>
                </c:pt>
                <c:pt idx="362">
                  <c:v>26.5702</c:v>
                </c:pt>
                <c:pt idx="363">
                  <c:v>26.0999</c:v>
                </c:pt>
                <c:pt idx="364">
                  <c:v>27.3334</c:v>
                </c:pt>
                <c:pt idx="365">
                  <c:v>28.365</c:v>
                </c:pt>
                <c:pt idx="366">
                  <c:v>28.5871</c:v>
                </c:pt>
                <c:pt idx="367">
                  <c:v>29.2894</c:v>
                </c:pt>
                <c:pt idx="368">
                  <c:v>29.6378</c:v>
                </c:pt>
                <c:pt idx="369">
                  <c:v>29.6661</c:v>
                </c:pt>
                <c:pt idx="370">
                  <c:v>30.1566</c:v>
                </c:pt>
                <c:pt idx="371">
                  <c:v>30.2868</c:v>
                </c:pt>
              </c:numCache>
            </c:numRef>
          </c:val>
          <c:smooth val="0"/>
        </c:ser>
        <c:ser>
          <c:idx val="1"/>
          <c:order val="1"/>
          <c:tx>
            <c:strRef>
              <c:f>Sheet1!$C$1</c:f>
              <c:strCache>
                <c:ptCount val="1"/>
                <c:pt idx="0">
                  <c:v>Value weighted</c:v>
                </c:pt>
              </c:strCache>
            </c:strRef>
          </c:tx>
          <c:spPr>
            <a:solidFill>
              <a:srgbClr val="E87BA4"/>
            </a:solidFill>
            <a:ln w="22225"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Sheet1!$C$2:$C$373</c:f>
              <c:numCache>
                <c:formatCode>General</c:formatCode>
                <c:ptCount val="372"/>
                <c:pt idx="0">
                  <c:v>1.0283</c:v>
                </c:pt>
                <c:pt idx="1">
                  <c:v>1.0679</c:v>
                </c:pt>
                <c:pt idx="2">
                  <c:v>1.0963</c:v>
                </c:pt>
                <c:pt idx="3">
                  <c:v>1.1276</c:v>
                </c:pt>
                <c:pt idx="4">
                  <c:v>1.172</c:v>
                </c:pt>
                <c:pt idx="5">
                  <c:v>1.2021</c:v>
                </c:pt>
                <c:pt idx="6">
                  <c:v>1.2431</c:v>
                </c:pt>
                <c:pt idx="7">
                  <c:v>1.2514</c:v>
                </c:pt>
                <c:pt idx="8">
                  <c:v>1.3058</c:v>
                </c:pt>
                <c:pt idx="9">
                  <c:v>1.303</c:v>
                </c:pt>
                <c:pt idx="10">
                  <c:v>1.3589</c:v>
                </c:pt>
                <c:pt idx="11">
                  <c:v>1.3812</c:v>
                </c:pt>
                <c:pt idx="12">
                  <c:v>1.4277</c:v>
                </c:pt>
                <c:pt idx="13">
                  <c:v>1.4458</c:v>
                </c:pt>
                <c:pt idx="14">
                  <c:v>1.4572</c:v>
                </c:pt>
                <c:pt idx="15">
                  <c:v>1.4779</c:v>
                </c:pt>
                <c:pt idx="16">
                  <c:v>1.515</c:v>
                </c:pt>
                <c:pt idx="17">
                  <c:v>1.5189</c:v>
                </c:pt>
                <c:pt idx="18">
                  <c:v>1.4524</c:v>
                </c:pt>
                <c:pt idx="19">
                  <c:v>1.4862</c:v>
                </c:pt>
                <c:pt idx="20">
                  <c:v>1.5705</c:v>
                </c:pt>
                <c:pt idx="21">
                  <c:v>1.6107</c:v>
                </c:pt>
                <c:pt idx="22">
                  <c:v>1.7332</c:v>
                </c:pt>
                <c:pt idx="23">
                  <c:v>1.7025</c:v>
                </c:pt>
                <c:pt idx="24">
                  <c:v>1.8109</c:v>
                </c:pt>
                <c:pt idx="25">
                  <c:v>1.8214</c:v>
                </c:pt>
                <c:pt idx="26">
                  <c:v>1.7433</c:v>
                </c:pt>
                <c:pt idx="27">
                  <c:v>1.8479</c:v>
                </c:pt>
                <c:pt idx="28">
                  <c:v>1.961</c:v>
                </c:pt>
                <c:pt idx="29">
                  <c:v>2.0465</c:v>
                </c:pt>
                <c:pt idx="30">
                  <c:v>2.2126</c:v>
                </c:pt>
                <c:pt idx="31">
                  <c:v>2.0967</c:v>
                </c:pt>
                <c:pt idx="32">
                  <c:v>2.209</c:v>
                </c:pt>
                <c:pt idx="33">
                  <c:v>2.136</c:v>
                </c:pt>
                <c:pt idx="34">
                  <c:v>2.2363</c:v>
                </c:pt>
                <c:pt idx="35">
                  <c:v>2.2792</c:v>
                </c:pt>
                <c:pt idx="36">
                  <c:v>2.3002</c:v>
                </c:pt>
                <c:pt idx="37">
                  <c:v>2.4636</c:v>
                </c:pt>
                <c:pt idx="38">
                  <c:v>2.5899</c:v>
                </c:pt>
                <c:pt idx="39">
                  <c:v>2.6157</c:v>
                </c:pt>
                <c:pt idx="40">
                  <c:v>2.5674</c:v>
                </c:pt>
                <c:pt idx="41">
                  <c:v>2.6759</c:v>
                </c:pt>
                <c:pt idx="42">
                  <c:v>2.6478</c:v>
                </c:pt>
                <c:pt idx="43">
                  <c:v>2.2685</c:v>
                </c:pt>
                <c:pt idx="44">
                  <c:v>2.4196</c:v>
                </c:pt>
                <c:pt idx="45">
                  <c:v>2.6056</c:v>
                </c:pt>
                <c:pt idx="46">
                  <c:v>2.7714</c:v>
                </c:pt>
                <c:pt idx="47">
                  <c:v>2.9398</c:v>
                </c:pt>
                <c:pt idx="48">
                  <c:v>3.0576</c:v>
                </c:pt>
                <c:pt idx="49">
                  <c:v>2.9614</c:v>
                </c:pt>
                <c:pt idx="50">
                  <c:v>3.0742</c:v>
                </c:pt>
                <c:pt idx="51">
                  <c:v>3.1803</c:v>
                </c:pt>
                <c:pt idx="52">
                  <c:v>3.1087</c:v>
                </c:pt>
                <c:pt idx="53">
                  <c:v>3.2677</c:v>
                </c:pt>
                <c:pt idx="54">
                  <c:v>3.1695</c:v>
                </c:pt>
                <c:pt idx="55">
                  <c:v>3.1541</c:v>
                </c:pt>
                <c:pt idx="56">
                  <c:v>3.0566</c:v>
                </c:pt>
                <c:pt idx="57">
                  <c:v>3.2751</c:v>
                </c:pt>
                <c:pt idx="58">
                  <c:v>3.3446</c:v>
                </c:pt>
                <c:pt idx="59">
                  <c:v>3.5516</c:v>
                </c:pt>
                <c:pt idx="60">
                  <c:v>3.3974</c:v>
                </c:pt>
                <c:pt idx="61">
                  <c:v>3.3613</c:v>
                </c:pt>
                <c:pt idx="62">
                  <c:v>3.6755</c:v>
                </c:pt>
                <c:pt idx="63">
                  <c:v>3.5517</c:v>
                </c:pt>
                <c:pt idx="64">
                  <c:v>3.4669</c:v>
                </c:pt>
                <c:pt idx="65">
                  <c:v>3.5629</c:v>
                </c:pt>
                <c:pt idx="66">
                  <c:v>3.5279</c:v>
                </c:pt>
                <c:pt idx="67">
                  <c:v>3.7552</c:v>
                </c:pt>
                <c:pt idx="68">
                  <c:v>3.5874</c:v>
                </c:pt>
                <c:pt idx="69">
                  <c:v>3.5861</c:v>
                </c:pt>
                <c:pt idx="70">
                  <c:v>3.3129</c:v>
                </c:pt>
                <c:pt idx="71">
                  <c:v>3.337</c:v>
                </c:pt>
                <c:pt idx="72">
                  <c:v>3.4303</c:v>
                </c:pt>
                <c:pt idx="73">
                  <c:v>3.1506</c:v>
                </c:pt>
                <c:pt idx="74">
                  <c:v>2.958</c:v>
                </c:pt>
                <c:pt idx="75">
                  <c:v>3.1799</c:v>
                </c:pt>
                <c:pt idx="76">
                  <c:v>3.2062</c:v>
                </c:pt>
                <c:pt idx="77">
                  <c:v>3.1405</c:v>
                </c:pt>
                <c:pt idx="78">
                  <c:v>3.1091</c:v>
                </c:pt>
                <c:pt idx="79">
                  <c:v>2.9168</c:v>
                </c:pt>
                <c:pt idx="80">
                  <c:v>2.6957</c:v>
                </c:pt>
                <c:pt idx="81">
                  <c:v>2.7477</c:v>
                </c:pt>
                <c:pt idx="82">
                  <c:v>2.9526</c:v>
                </c:pt>
                <c:pt idx="83">
                  <c:v>2.9802</c:v>
                </c:pt>
                <c:pt idx="84">
                  <c:v>2.9531</c:v>
                </c:pt>
                <c:pt idx="85">
                  <c:v>2.8994</c:v>
                </c:pt>
                <c:pt idx="86">
                  <c:v>3.0065</c:v>
                </c:pt>
                <c:pt idx="87">
                  <c:v>2.8332</c:v>
                </c:pt>
                <c:pt idx="88">
                  <c:v>2.8137</c:v>
                </c:pt>
                <c:pt idx="89">
                  <c:v>2.6182</c:v>
                </c:pt>
                <c:pt idx="90">
                  <c:v>2.4306</c:v>
                </c:pt>
                <c:pt idx="91">
                  <c:v>2.4469</c:v>
                </c:pt>
                <c:pt idx="92">
                  <c:v>2.1905</c:v>
                </c:pt>
                <c:pt idx="93">
                  <c:v>2.3798</c:v>
                </c:pt>
                <c:pt idx="94">
                  <c:v>2.5045</c:v>
                </c:pt>
                <c:pt idx="95">
                  <c:v>2.3602</c:v>
                </c:pt>
                <c:pt idx="96">
                  <c:v>2.2965</c:v>
                </c:pt>
                <c:pt idx="97">
                  <c:v>2.2584</c:v>
                </c:pt>
                <c:pt idx="98">
                  <c:v>2.2852</c:v>
                </c:pt>
                <c:pt idx="99">
                  <c:v>2.4667</c:v>
                </c:pt>
                <c:pt idx="100">
                  <c:v>2.5933</c:v>
                </c:pt>
                <c:pt idx="101">
                  <c:v>2.626</c:v>
                </c:pt>
                <c:pt idx="102">
                  <c:v>2.6737</c:v>
                </c:pt>
                <c:pt idx="103">
                  <c:v>2.725</c:v>
                </c:pt>
                <c:pt idx="104">
                  <c:v>2.6945</c:v>
                </c:pt>
                <c:pt idx="105">
                  <c:v>2.8481</c:v>
                </c:pt>
                <c:pt idx="106">
                  <c:v>2.8738</c:v>
                </c:pt>
                <c:pt idx="107">
                  <c:v>3.0105</c:v>
                </c:pt>
                <c:pt idx="108">
                  <c:v>3.0594</c:v>
                </c:pt>
                <c:pt idx="109">
                  <c:v>3.1014</c:v>
                </c:pt>
                <c:pt idx="110">
                  <c:v>3.0538</c:v>
                </c:pt>
                <c:pt idx="111">
                  <c:v>3.0117</c:v>
                </c:pt>
                <c:pt idx="112">
                  <c:v>3.0499</c:v>
                </c:pt>
                <c:pt idx="113">
                  <c:v>3.1014</c:v>
                </c:pt>
                <c:pt idx="114">
                  <c:v>2.9965</c:v>
                </c:pt>
                <c:pt idx="115">
                  <c:v>3.0079</c:v>
                </c:pt>
                <c:pt idx="116">
                  <c:v>3.0402</c:v>
                </c:pt>
                <c:pt idx="117">
                  <c:v>3.0791</c:v>
                </c:pt>
                <c:pt idx="118">
                  <c:v>3.2004</c:v>
                </c:pt>
                <c:pt idx="119">
                  <c:v>3.307</c:v>
                </c:pt>
                <c:pt idx="120">
                  <c:v>3.2286</c:v>
                </c:pt>
                <c:pt idx="121">
                  <c:v>3.2943</c:v>
                </c:pt>
                <c:pt idx="122">
                  <c:v>3.2385</c:v>
                </c:pt>
                <c:pt idx="123">
                  <c:v>3.1824</c:v>
                </c:pt>
                <c:pt idx="124">
                  <c:v>3.2902</c:v>
                </c:pt>
                <c:pt idx="125">
                  <c:v>3.2946</c:v>
                </c:pt>
                <c:pt idx="126">
                  <c:v>3.42</c:v>
                </c:pt>
                <c:pt idx="127">
                  <c:v>3.3917</c:v>
                </c:pt>
                <c:pt idx="128">
                  <c:v>3.4196</c:v>
                </c:pt>
                <c:pt idx="129">
                  <c:v>3.3686</c:v>
                </c:pt>
                <c:pt idx="130">
                  <c:v>3.496</c:v>
                </c:pt>
                <c:pt idx="131">
                  <c:v>3.4934</c:v>
                </c:pt>
                <c:pt idx="132">
                  <c:v>3.5798</c:v>
                </c:pt>
                <c:pt idx="133">
                  <c:v>3.5849</c:v>
                </c:pt>
                <c:pt idx="134">
                  <c:v>3.6313</c:v>
                </c:pt>
                <c:pt idx="135">
                  <c:v>3.6707</c:v>
                </c:pt>
                <c:pt idx="136">
                  <c:v>3.566</c:v>
                </c:pt>
                <c:pt idx="137">
                  <c:v>3.5682</c:v>
                </c:pt>
                <c:pt idx="138">
                  <c:v>3.5881</c:v>
                </c:pt>
                <c:pt idx="139">
                  <c:v>3.6762</c:v>
                </c:pt>
                <c:pt idx="140">
                  <c:v>3.7636</c:v>
                </c:pt>
                <c:pt idx="141">
                  <c:v>3.8815</c:v>
                </c:pt>
                <c:pt idx="142">
                  <c:v>3.9511</c:v>
                </c:pt>
                <c:pt idx="143">
                  <c:v>4.0056</c:v>
                </c:pt>
                <c:pt idx="144">
                  <c:v>4.0648</c:v>
                </c:pt>
                <c:pt idx="145">
                  <c:v>3.9925</c:v>
                </c:pt>
                <c:pt idx="146">
                  <c:v>4.0357</c:v>
                </c:pt>
                <c:pt idx="147">
                  <c:v>4.2102</c:v>
                </c:pt>
                <c:pt idx="148">
                  <c:v>4.3602</c:v>
                </c:pt>
                <c:pt idx="149">
                  <c:v>4.2841</c:v>
                </c:pt>
                <c:pt idx="150">
                  <c:v>4.1624</c:v>
                </c:pt>
                <c:pt idx="151">
                  <c:v>4.2319</c:v>
                </c:pt>
                <c:pt idx="152">
                  <c:v>4.3913</c:v>
                </c:pt>
                <c:pt idx="153">
                  <c:v>4.4767</c:v>
                </c:pt>
                <c:pt idx="154">
                  <c:v>4.2992</c:v>
                </c:pt>
                <c:pt idx="155">
                  <c:v>4.2715</c:v>
                </c:pt>
                <c:pt idx="156">
                  <c:v>4.021</c:v>
                </c:pt>
                <c:pt idx="157">
                  <c:v>3.9068</c:v>
                </c:pt>
                <c:pt idx="158">
                  <c:v>3.8856</c:v>
                </c:pt>
                <c:pt idx="159">
                  <c:v>4.0588</c:v>
                </c:pt>
                <c:pt idx="160">
                  <c:v>4.1209</c:v>
                </c:pt>
                <c:pt idx="161">
                  <c:v>3.7853</c:v>
                </c:pt>
                <c:pt idx="162">
                  <c:v>3.7587</c:v>
                </c:pt>
                <c:pt idx="163">
                  <c:v>3.8127</c:v>
                </c:pt>
                <c:pt idx="164">
                  <c:v>3.4891</c:v>
                </c:pt>
                <c:pt idx="165">
                  <c:v>2.927</c:v>
                </c:pt>
                <c:pt idx="166">
                  <c:v>2.7296</c:v>
                </c:pt>
                <c:pt idx="167">
                  <c:v>2.7561</c:v>
                </c:pt>
                <c:pt idx="168">
                  <c:v>2.5345</c:v>
                </c:pt>
                <c:pt idx="169">
                  <c:v>2.2773</c:v>
                </c:pt>
                <c:pt idx="170">
                  <c:v>2.4778</c:v>
                </c:pt>
                <c:pt idx="171">
                  <c:v>2.6854</c:v>
                </c:pt>
                <c:pt idx="172">
                  <c:v>2.8167</c:v>
                </c:pt>
                <c:pt idx="173">
                  <c:v>2.8278</c:v>
                </c:pt>
                <c:pt idx="174">
                  <c:v>3.0369</c:v>
                </c:pt>
                <c:pt idx="175">
                  <c:v>3.1358</c:v>
                </c:pt>
                <c:pt idx="176">
                  <c:v>3.2443</c:v>
                </c:pt>
                <c:pt idx="177">
                  <c:v>3.1858</c:v>
                </c:pt>
                <c:pt idx="178">
                  <c:v>3.3754</c:v>
                </c:pt>
                <c:pt idx="179">
                  <c:v>3.4355</c:v>
                </c:pt>
                <c:pt idx="180">
                  <c:v>3.3209</c:v>
                </c:pt>
                <c:pt idx="181">
                  <c:v>3.4261</c:v>
                </c:pt>
                <c:pt idx="182">
                  <c:v>3.6268</c:v>
                </c:pt>
                <c:pt idx="183">
                  <c:v>3.6774</c:v>
                </c:pt>
                <c:pt idx="184">
                  <c:v>3.3889</c:v>
                </c:pt>
                <c:pt idx="185">
                  <c:v>3.2099</c:v>
                </c:pt>
                <c:pt idx="186">
                  <c:v>3.4311</c:v>
                </c:pt>
                <c:pt idx="187">
                  <c:v>3.2791</c:v>
                </c:pt>
                <c:pt idx="188">
                  <c:v>3.574</c:v>
                </c:pt>
                <c:pt idx="189">
                  <c:v>3.7129</c:v>
                </c:pt>
                <c:pt idx="190">
                  <c:v>3.7179</c:v>
                </c:pt>
                <c:pt idx="191">
                  <c:v>3.9684</c:v>
                </c:pt>
                <c:pt idx="192">
                  <c:v>4.0566</c:v>
                </c:pt>
                <c:pt idx="193">
                  <c:v>4.1844</c:v>
                </c:pt>
                <c:pt idx="194">
                  <c:v>4.1838</c:v>
                </c:pt>
                <c:pt idx="195">
                  <c:v>4.3023</c:v>
                </c:pt>
                <c:pt idx="196">
                  <c:v>4.2479</c:v>
                </c:pt>
                <c:pt idx="197">
                  <c:v>4.1785</c:v>
                </c:pt>
                <c:pt idx="198">
                  <c:v>4.0925</c:v>
                </c:pt>
                <c:pt idx="199">
                  <c:v>3.871</c:v>
                </c:pt>
                <c:pt idx="200">
                  <c:v>3.608</c:v>
                </c:pt>
                <c:pt idx="201">
                  <c:v>3.9897</c:v>
                </c:pt>
                <c:pt idx="202">
                  <c:v>3.976</c:v>
                </c:pt>
                <c:pt idx="203">
                  <c:v>4.0084</c:v>
                </c:pt>
                <c:pt idx="204">
                  <c:v>4.1937</c:v>
                </c:pt>
                <c:pt idx="205">
                  <c:v>4.3738</c:v>
                </c:pt>
                <c:pt idx="206">
                  <c:v>4.5174</c:v>
                </c:pt>
                <c:pt idx="207">
                  <c:v>4.4824</c:v>
                </c:pt>
                <c:pt idx="208">
                  <c:v>4.2178</c:v>
                </c:pt>
                <c:pt idx="209">
                  <c:v>4.3838</c:v>
                </c:pt>
                <c:pt idx="210">
                  <c:v>4.4343</c:v>
                </c:pt>
                <c:pt idx="211">
                  <c:v>4.5414</c:v>
                </c:pt>
                <c:pt idx="212">
                  <c:v>4.6608</c:v>
                </c:pt>
                <c:pt idx="213">
                  <c:v>4.576</c:v>
                </c:pt>
                <c:pt idx="214">
                  <c:v>4.596</c:v>
                </c:pt>
                <c:pt idx="215">
                  <c:v>4.6371</c:v>
                </c:pt>
                <c:pt idx="216">
                  <c:v>4.8818</c:v>
                </c:pt>
                <c:pt idx="217">
                  <c:v>4.9454</c:v>
                </c:pt>
                <c:pt idx="218">
                  <c:v>5.1367</c:v>
                </c:pt>
                <c:pt idx="219">
                  <c:v>5.2341</c:v>
                </c:pt>
                <c:pt idx="220">
                  <c:v>5.3643</c:v>
                </c:pt>
                <c:pt idx="221">
                  <c:v>5.2941</c:v>
                </c:pt>
                <c:pt idx="222">
                  <c:v>5.5676</c:v>
                </c:pt>
                <c:pt idx="223">
                  <c:v>5.4111</c:v>
                </c:pt>
                <c:pt idx="224">
                  <c:v>5.5872</c:v>
                </c:pt>
                <c:pt idx="225">
                  <c:v>5.8365</c:v>
                </c:pt>
                <c:pt idx="226">
                  <c:v>6.019</c:v>
                </c:pt>
                <c:pt idx="227">
                  <c:v>6.1725</c:v>
                </c:pt>
                <c:pt idx="228">
                  <c:v>5.951</c:v>
                </c:pt>
                <c:pt idx="229">
                  <c:v>6.222</c:v>
                </c:pt>
                <c:pt idx="230">
                  <c:v>6.2765</c:v>
                </c:pt>
                <c:pt idx="231">
                  <c:v>6.3095</c:v>
                </c:pt>
                <c:pt idx="232">
                  <c:v>6.45</c:v>
                </c:pt>
                <c:pt idx="233">
                  <c:v>6.5758</c:v>
                </c:pt>
                <c:pt idx="234">
                  <c:v>6.4837</c:v>
                </c:pt>
                <c:pt idx="235">
                  <c:v>6.7454</c:v>
                </c:pt>
                <c:pt idx="236">
                  <c:v>6.6525</c:v>
                </c:pt>
                <c:pt idx="237">
                  <c:v>6.8115</c:v>
                </c:pt>
                <c:pt idx="238">
                  <c:v>7.0124</c:v>
                </c:pt>
                <c:pt idx="239">
                  <c:v>6.9916</c:v>
                </c:pt>
                <c:pt idx="240">
                  <c:v>6.7803</c:v>
                </c:pt>
                <c:pt idx="241">
                  <c:v>7.1801</c:v>
                </c:pt>
                <c:pt idx="242">
                  <c:v>7.0586</c:v>
                </c:pt>
                <c:pt idx="243">
                  <c:v>7.129</c:v>
                </c:pt>
                <c:pt idx="244">
                  <c:v>7.2248</c:v>
                </c:pt>
                <c:pt idx="245">
                  <c:v>7.0884</c:v>
                </c:pt>
                <c:pt idx="246">
                  <c:v>7.2255</c:v>
                </c:pt>
                <c:pt idx="247">
                  <c:v>6.7876</c:v>
                </c:pt>
                <c:pt idx="248">
                  <c:v>6.6249</c:v>
                </c:pt>
                <c:pt idx="249">
                  <c:v>7.1504</c:v>
                </c:pt>
                <c:pt idx="250">
                  <c:v>7.1696</c:v>
                </c:pt>
                <c:pt idx="251">
                  <c:v>7.0506</c:v>
                </c:pt>
                <c:pt idx="252">
                  <c:v>6.6717</c:v>
                </c:pt>
                <c:pt idx="253">
                  <c:v>6.6759</c:v>
                </c:pt>
                <c:pt idx="254">
                  <c:v>7.1255</c:v>
                </c:pt>
                <c:pt idx="255">
                  <c:v>7.1751</c:v>
                </c:pt>
                <c:pt idx="256">
                  <c:v>7.3019</c:v>
                </c:pt>
                <c:pt idx="257">
                  <c:v>7.3267</c:v>
                </c:pt>
                <c:pt idx="258">
                  <c:v>7.5819</c:v>
                </c:pt>
                <c:pt idx="259">
                  <c:v>7.6042</c:v>
                </c:pt>
                <c:pt idx="260">
                  <c:v>7.6062</c:v>
                </c:pt>
                <c:pt idx="261">
                  <c:v>7.482</c:v>
                </c:pt>
                <c:pt idx="262">
                  <c:v>7.8138</c:v>
                </c:pt>
                <c:pt idx="263">
                  <c:v>7.9654</c:v>
                </c:pt>
                <c:pt idx="264">
                  <c:v>8.1155</c:v>
                </c:pt>
                <c:pt idx="265">
                  <c:v>8.4403</c:v>
                </c:pt>
                <c:pt idx="266">
                  <c:v>8.4492</c:v>
                </c:pt>
                <c:pt idx="267">
                  <c:v>8.5291</c:v>
                </c:pt>
                <c:pt idx="268">
                  <c:v>8.651</c:v>
                </c:pt>
                <c:pt idx="269">
                  <c:v>8.7048</c:v>
                </c:pt>
                <c:pt idx="270">
                  <c:v>8.8904</c:v>
                </c:pt>
                <c:pt idx="271">
                  <c:v>8.9314</c:v>
                </c:pt>
                <c:pt idx="272">
                  <c:v>9.1132</c:v>
                </c:pt>
                <c:pt idx="273">
                  <c:v>9.3373</c:v>
                </c:pt>
                <c:pt idx="274">
                  <c:v>9.641</c:v>
                </c:pt>
                <c:pt idx="275">
                  <c:v>9.7623</c:v>
                </c:pt>
                <c:pt idx="276">
                  <c:v>10.3474</c:v>
                </c:pt>
                <c:pt idx="277">
                  <c:v>9.9905</c:v>
                </c:pt>
                <c:pt idx="278">
                  <c:v>9.7384</c:v>
                </c:pt>
                <c:pt idx="279">
                  <c:v>9.7899</c:v>
                </c:pt>
                <c:pt idx="280">
                  <c:v>10.0163</c:v>
                </c:pt>
                <c:pt idx="281">
                  <c:v>10.0647</c:v>
                </c:pt>
                <c:pt idx="282">
                  <c:v>10.4406</c:v>
                </c:pt>
                <c:pt idx="283">
                  <c:v>10.8077</c:v>
                </c:pt>
                <c:pt idx="284">
                  <c:v>10.8808</c:v>
                </c:pt>
                <c:pt idx="285">
                  <c:v>10.1366</c:v>
                </c:pt>
                <c:pt idx="286">
                  <c:v>10.3292</c:v>
                </c:pt>
                <c:pt idx="287">
                  <c:v>9.3926</c:v>
                </c:pt>
                <c:pt idx="288">
                  <c:v>10.147</c:v>
                </c:pt>
                <c:pt idx="289">
                  <c:v>10.4861</c:v>
                </c:pt>
                <c:pt idx="290">
                  <c:v>10.662</c:v>
                </c:pt>
                <c:pt idx="291">
                  <c:v>11.1088</c:v>
                </c:pt>
                <c:pt idx="292">
                  <c:v>10.4036</c:v>
                </c:pt>
                <c:pt idx="293">
                  <c:v>11.1373</c:v>
                </c:pt>
                <c:pt idx="294">
                  <c:v>11.3108</c:v>
                </c:pt>
                <c:pt idx="295">
                  <c:v>11.1082</c:v>
                </c:pt>
                <c:pt idx="296">
                  <c:v>11.2998</c:v>
                </c:pt>
                <c:pt idx="297">
                  <c:v>11.5625</c:v>
                </c:pt>
                <c:pt idx="298">
                  <c:v>12.0126</c:v>
                </c:pt>
                <c:pt idx="299">
                  <c:v>12.3632</c:v>
                </c:pt>
                <c:pt idx="300">
                  <c:v>12.4102</c:v>
                </c:pt>
                <c:pt idx="301">
                  <c:v>11.4182</c:v>
                </c:pt>
                <c:pt idx="302">
                  <c:v>10.0611</c:v>
                </c:pt>
                <c:pt idx="303">
                  <c:v>11.3682</c:v>
                </c:pt>
                <c:pt idx="304">
                  <c:v>11.9346</c:v>
                </c:pt>
                <c:pt idx="305">
                  <c:v>12.1842</c:v>
                </c:pt>
                <c:pt idx="306">
                  <c:v>12.9248</c:v>
                </c:pt>
                <c:pt idx="307">
                  <c:v>13.9478</c:v>
                </c:pt>
                <c:pt idx="308">
                  <c:v>13.3904</c:v>
                </c:pt>
                <c:pt idx="309">
                  <c:v>13.0326</c:v>
                </c:pt>
                <c:pt idx="310">
                  <c:v>14.5066</c:v>
                </c:pt>
                <c:pt idx="311">
                  <c:v>15.1253</c:v>
                </c:pt>
                <c:pt idx="312">
                  <c:v>14.9782</c:v>
                </c:pt>
                <c:pt idx="313">
                  <c:v>15.3234</c:v>
                </c:pt>
                <c:pt idx="314">
                  <c:v>15.9214</c:v>
                </c:pt>
                <c:pt idx="315">
                  <c:v>16.7777</c:v>
                </c:pt>
                <c:pt idx="316">
                  <c:v>16.8382</c:v>
                </c:pt>
                <c:pt idx="317">
                  <c:v>17.276</c:v>
                </c:pt>
                <c:pt idx="318">
                  <c:v>17.6329</c:v>
                </c:pt>
                <c:pt idx="319">
                  <c:v>18.1765</c:v>
                </c:pt>
                <c:pt idx="320">
                  <c:v>17.3314</c:v>
                </c:pt>
                <c:pt idx="321">
                  <c:v>18.5655</c:v>
                </c:pt>
                <c:pt idx="322">
                  <c:v>18.4074</c:v>
                </c:pt>
                <c:pt idx="323">
                  <c:v>19.1084</c:v>
                </c:pt>
                <c:pt idx="324">
                  <c:v>18.1239</c:v>
                </c:pt>
                <c:pt idx="325">
                  <c:v>17.6347</c:v>
                </c:pt>
                <c:pt idx="326">
                  <c:v>18.275</c:v>
                </c:pt>
                <c:pt idx="327">
                  <c:v>16.615</c:v>
                </c:pt>
                <c:pt idx="328">
                  <c:v>16.6007</c:v>
                </c:pt>
                <c:pt idx="329">
                  <c:v>15.2561</c:v>
                </c:pt>
                <c:pt idx="330">
                  <c:v>16.6976</c:v>
                </c:pt>
                <c:pt idx="331">
                  <c:v>16.0647</c:v>
                </c:pt>
                <c:pt idx="332">
                  <c:v>14.6153</c:v>
                </c:pt>
                <c:pt idx="333">
                  <c:v>15.7776</c:v>
                </c:pt>
                <c:pt idx="334">
                  <c:v>16.6141</c:v>
                </c:pt>
                <c:pt idx="335">
                  <c:v>15.619</c:v>
                </c:pt>
                <c:pt idx="336">
                  <c:v>16.5988</c:v>
                </c:pt>
                <c:pt idx="337">
                  <c:v>16.2164</c:v>
                </c:pt>
                <c:pt idx="338">
                  <c:v>16.8456</c:v>
                </c:pt>
                <c:pt idx="339">
                  <c:v>17.0972</c:v>
                </c:pt>
                <c:pt idx="340">
                  <c:v>17.2342</c:v>
                </c:pt>
                <c:pt idx="341">
                  <c:v>18.3816</c:v>
                </c:pt>
                <c:pt idx="342">
                  <c:v>18.9776</c:v>
                </c:pt>
                <c:pt idx="343">
                  <c:v>18.7049</c:v>
                </c:pt>
                <c:pt idx="344">
                  <c:v>17.822</c:v>
                </c:pt>
                <c:pt idx="345">
                  <c:v>17.4536</c:v>
                </c:pt>
                <c:pt idx="346">
                  <c:v>19.0406</c:v>
                </c:pt>
                <c:pt idx="347">
                  <c:v>19.8892</c:v>
                </c:pt>
                <c:pt idx="348">
                  <c:v>20.2462</c:v>
                </c:pt>
                <c:pt idx="349">
                  <c:v>21.3268</c:v>
                </c:pt>
                <c:pt idx="350">
                  <c:v>22.0273</c:v>
                </c:pt>
                <c:pt idx="351">
                  <c:v>21.1871</c:v>
                </c:pt>
                <c:pt idx="352">
                  <c:v>22.2413</c:v>
                </c:pt>
                <c:pt idx="353">
                  <c:v>23.075</c:v>
                </c:pt>
                <c:pt idx="354">
                  <c:v>23.319</c:v>
                </c:pt>
                <c:pt idx="355">
                  <c:v>23.8799</c:v>
                </c:pt>
                <c:pt idx="356">
                  <c:v>24.3808</c:v>
                </c:pt>
                <c:pt idx="357">
                  <c:v>24.2164</c:v>
                </c:pt>
                <c:pt idx="358">
                  <c:v>25.7157</c:v>
                </c:pt>
                <c:pt idx="359">
                  <c:v>25.1299</c:v>
                </c:pt>
                <c:pt idx="360">
                  <c:v>25.8736</c:v>
                </c:pt>
                <c:pt idx="361">
                  <c:v>25.4331</c:v>
                </c:pt>
                <c:pt idx="362">
                  <c:v>23.9394</c:v>
                </c:pt>
                <c:pt idx="363">
                  <c:v>23.8039</c:v>
                </c:pt>
                <c:pt idx="364">
                  <c:v>25.3024</c:v>
                </c:pt>
                <c:pt idx="365">
                  <c:v>26.6129</c:v>
                </c:pt>
                <c:pt idx="366">
                  <c:v>27.2009</c:v>
                </c:pt>
                <c:pt idx="367">
                  <c:v>27.7467</c:v>
                </c:pt>
                <c:pt idx="368">
                  <c:v>28.7758</c:v>
                </c:pt>
                <c:pt idx="369">
                  <c:v>29.5357</c:v>
                </c:pt>
                <c:pt idx="370">
                  <c:v>29.5874</c:v>
                </c:pt>
                <c:pt idx="371">
                  <c:v>29.5812</c:v>
                </c:pt>
              </c:numCache>
            </c:numRef>
          </c:val>
          <c:smooth val="0"/>
        </c:ser>
        <c:ser>
          <c:idx val="2"/>
          <c:order val="2"/>
          <c:tx>
            <c:strRef>
              <c:f>Sheet1!$D$1</c:f>
              <c:strCache>
                <c:ptCount val="1"/>
                <c:pt idx="0">
                  <c:v>Minimum risk</c:v>
                </c:pt>
              </c:strCache>
            </c:strRef>
          </c:tx>
          <c:spPr>
            <a:solidFill>
              <a:srgbClr val="2A78D6"/>
            </a:solidFill>
            <a:ln w="2222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Sheet1!$D$2:$D$373</c:f>
              <c:numCache>
                <c:formatCode>General</c:formatCode>
                <c:ptCount val="372"/>
                <c:pt idx="0">
                  <c:v>1.0417</c:v>
                </c:pt>
                <c:pt idx="1">
                  <c:v>1.0689</c:v>
                </c:pt>
                <c:pt idx="2">
                  <c:v>1.0794</c:v>
                </c:pt>
                <c:pt idx="3">
                  <c:v>1.0934</c:v>
                </c:pt>
                <c:pt idx="4">
                  <c:v>1.1578</c:v>
                </c:pt>
                <c:pt idx="5">
                  <c:v>1.1351</c:v>
                </c:pt>
                <c:pt idx="6">
                  <c:v>1.1548</c:v>
                </c:pt>
                <c:pt idx="7">
                  <c:v>1.1664</c:v>
                </c:pt>
                <c:pt idx="8">
                  <c:v>1.223</c:v>
                </c:pt>
                <c:pt idx="9">
                  <c:v>1.239</c:v>
                </c:pt>
                <c:pt idx="10">
                  <c:v>1.2827</c:v>
                </c:pt>
                <c:pt idx="11">
                  <c:v>1.3384</c:v>
                </c:pt>
                <c:pt idx="12">
                  <c:v>1.3874</c:v>
                </c:pt>
                <c:pt idx="13">
                  <c:v>1.3543</c:v>
                </c:pt>
                <c:pt idx="14">
                  <c:v>1.3605</c:v>
                </c:pt>
                <c:pt idx="15">
                  <c:v>1.3119</c:v>
                </c:pt>
                <c:pt idx="16">
                  <c:v>1.3288</c:v>
                </c:pt>
                <c:pt idx="17">
                  <c:v>1.3834</c:v>
                </c:pt>
                <c:pt idx="18">
                  <c:v>1.3099</c:v>
                </c:pt>
                <c:pt idx="19">
                  <c:v>1.3319</c:v>
                </c:pt>
                <c:pt idx="20">
                  <c:v>1.3393</c:v>
                </c:pt>
                <c:pt idx="21">
                  <c:v>1.3775</c:v>
                </c:pt>
                <c:pt idx="22">
                  <c:v>1.4132</c:v>
                </c:pt>
                <c:pt idx="23">
                  <c:v>1.4214</c:v>
                </c:pt>
                <c:pt idx="24">
                  <c:v>1.4334</c:v>
                </c:pt>
                <c:pt idx="25">
                  <c:v>1.4516</c:v>
                </c:pt>
                <c:pt idx="26">
                  <c:v>1.3964</c:v>
                </c:pt>
                <c:pt idx="27">
                  <c:v>1.3986</c:v>
                </c:pt>
                <c:pt idx="28">
                  <c:v>1.4476</c:v>
                </c:pt>
                <c:pt idx="29">
                  <c:v>1.5069</c:v>
                </c:pt>
                <c:pt idx="30">
                  <c:v>1.5714</c:v>
                </c:pt>
                <c:pt idx="31">
                  <c:v>1.5378</c:v>
                </c:pt>
                <c:pt idx="32">
                  <c:v>1.6103</c:v>
                </c:pt>
                <c:pt idx="33">
                  <c:v>1.5881</c:v>
                </c:pt>
                <c:pt idx="34">
                  <c:v>1.673</c:v>
                </c:pt>
                <c:pt idx="35">
                  <c:v>1.7925</c:v>
                </c:pt>
                <c:pt idx="36">
                  <c:v>1.7416</c:v>
                </c:pt>
                <c:pt idx="37">
                  <c:v>1.8121</c:v>
                </c:pt>
                <c:pt idx="38">
                  <c:v>1.931</c:v>
                </c:pt>
                <c:pt idx="39">
                  <c:v>1.8639</c:v>
                </c:pt>
                <c:pt idx="40">
                  <c:v>1.8397</c:v>
                </c:pt>
                <c:pt idx="41">
                  <c:v>1.8911</c:v>
                </c:pt>
                <c:pt idx="42">
                  <c:v>1.7867</c:v>
                </c:pt>
                <c:pt idx="43">
                  <c:v>1.7486</c:v>
                </c:pt>
                <c:pt idx="44">
                  <c:v>1.8824</c:v>
                </c:pt>
                <c:pt idx="45">
                  <c:v>1.8392</c:v>
                </c:pt>
                <c:pt idx="46">
                  <c:v>1.8581</c:v>
                </c:pt>
                <c:pt idx="47">
                  <c:v>1.9216</c:v>
                </c:pt>
                <c:pt idx="48">
                  <c:v>1.7789</c:v>
                </c:pt>
                <c:pt idx="49">
                  <c:v>1.6734</c:v>
                </c:pt>
                <c:pt idx="50">
                  <c:v>1.6464</c:v>
                </c:pt>
                <c:pt idx="51">
                  <c:v>1.728</c:v>
                </c:pt>
                <c:pt idx="52">
                  <c:v>1.8405</c:v>
                </c:pt>
                <c:pt idx="53">
                  <c:v>1.7456</c:v>
                </c:pt>
                <c:pt idx="54">
                  <c:v>1.7031</c:v>
                </c:pt>
                <c:pt idx="55">
                  <c:v>1.7288</c:v>
                </c:pt>
                <c:pt idx="56">
                  <c:v>1.6377</c:v>
                </c:pt>
                <c:pt idx="57">
                  <c:v>1.6522</c:v>
                </c:pt>
                <c:pt idx="58">
                  <c:v>1.5275</c:v>
                </c:pt>
                <c:pt idx="59">
                  <c:v>1.5025</c:v>
                </c:pt>
                <c:pt idx="60">
                  <c:v>1.5379</c:v>
                </c:pt>
                <c:pt idx="61">
                  <c:v>1.4135</c:v>
                </c:pt>
                <c:pt idx="62">
                  <c:v>1.5021</c:v>
                </c:pt>
                <c:pt idx="63">
                  <c:v>1.6716</c:v>
                </c:pt>
                <c:pt idx="64">
                  <c:v>1.7192</c:v>
                </c:pt>
                <c:pt idx="65">
                  <c:v>1.6085</c:v>
                </c:pt>
                <c:pt idx="66">
                  <c:v>1.6949</c:v>
                </c:pt>
                <c:pt idx="67">
                  <c:v>1.8819</c:v>
                </c:pt>
                <c:pt idx="68">
                  <c:v>2.0895</c:v>
                </c:pt>
                <c:pt idx="69">
                  <c:v>2.04</c:v>
                </c:pt>
                <c:pt idx="70">
                  <c:v>2.1478</c:v>
                </c:pt>
                <c:pt idx="71">
                  <c:v>2.2624</c:v>
                </c:pt>
                <c:pt idx="72">
                  <c:v>2.0253</c:v>
                </c:pt>
                <c:pt idx="73">
                  <c:v>2.1502</c:v>
                </c:pt>
                <c:pt idx="74">
                  <c:v>2.1823</c:v>
                </c:pt>
                <c:pt idx="75">
                  <c:v>2.2607</c:v>
                </c:pt>
                <c:pt idx="76">
                  <c:v>2.3272</c:v>
                </c:pt>
                <c:pt idx="77">
                  <c:v>2.2451</c:v>
                </c:pt>
                <c:pt idx="78">
                  <c:v>2.1651</c:v>
                </c:pt>
                <c:pt idx="79">
                  <c:v>2.2191</c:v>
                </c:pt>
                <c:pt idx="80">
                  <c:v>2.1373</c:v>
                </c:pt>
                <c:pt idx="81">
                  <c:v>2.1319</c:v>
                </c:pt>
                <c:pt idx="82">
                  <c:v>2.1406</c:v>
                </c:pt>
                <c:pt idx="83">
                  <c:v>2.2256</c:v>
                </c:pt>
                <c:pt idx="84">
                  <c:v>2.2155</c:v>
                </c:pt>
                <c:pt idx="85">
                  <c:v>2.2343</c:v>
                </c:pt>
                <c:pt idx="86">
                  <c:v>2.3777</c:v>
                </c:pt>
                <c:pt idx="87">
                  <c:v>2.3956</c:v>
                </c:pt>
                <c:pt idx="88">
                  <c:v>2.3628</c:v>
                </c:pt>
                <c:pt idx="89">
                  <c:v>2.2769</c:v>
                </c:pt>
                <c:pt idx="90">
                  <c:v>2.1335</c:v>
                </c:pt>
                <c:pt idx="91">
                  <c:v>2.1679</c:v>
                </c:pt>
                <c:pt idx="92">
                  <c:v>2.0086</c:v>
                </c:pt>
                <c:pt idx="93">
                  <c:v>1.9963</c:v>
                </c:pt>
                <c:pt idx="94">
                  <c:v>2.0023</c:v>
                </c:pt>
                <c:pt idx="95">
                  <c:v>2.0759</c:v>
                </c:pt>
                <c:pt idx="96">
                  <c:v>1.9864</c:v>
                </c:pt>
                <c:pt idx="97">
                  <c:v>1.9331</c:v>
                </c:pt>
                <c:pt idx="98">
                  <c:v>1.9777</c:v>
                </c:pt>
                <c:pt idx="99">
                  <c:v>2.0567</c:v>
                </c:pt>
                <c:pt idx="100">
                  <c:v>2.2318</c:v>
                </c:pt>
                <c:pt idx="101">
                  <c:v>2.2264</c:v>
                </c:pt>
                <c:pt idx="102">
                  <c:v>2.1724</c:v>
                </c:pt>
                <c:pt idx="103">
                  <c:v>2.1916</c:v>
                </c:pt>
                <c:pt idx="104">
                  <c:v>2.2276</c:v>
                </c:pt>
                <c:pt idx="105">
                  <c:v>2.2991</c:v>
                </c:pt>
                <c:pt idx="106">
                  <c:v>2.3412</c:v>
                </c:pt>
                <c:pt idx="107">
                  <c:v>2.4241</c:v>
                </c:pt>
                <c:pt idx="108">
                  <c:v>2.4417</c:v>
                </c:pt>
                <c:pt idx="109">
                  <c:v>2.521</c:v>
                </c:pt>
                <c:pt idx="110">
                  <c:v>2.5211</c:v>
                </c:pt>
                <c:pt idx="111">
                  <c:v>2.5332</c:v>
                </c:pt>
                <c:pt idx="112">
                  <c:v>2.5655</c:v>
                </c:pt>
                <c:pt idx="113">
                  <c:v>2.625</c:v>
                </c:pt>
                <c:pt idx="114">
                  <c:v>2.5715</c:v>
                </c:pt>
                <c:pt idx="115">
                  <c:v>2.6246</c:v>
                </c:pt>
                <c:pt idx="116">
                  <c:v>2.6353</c:v>
                </c:pt>
                <c:pt idx="117">
                  <c:v>2.6761</c:v>
                </c:pt>
                <c:pt idx="118">
                  <c:v>2.7963</c:v>
                </c:pt>
                <c:pt idx="119">
                  <c:v>2.8816</c:v>
                </c:pt>
                <c:pt idx="120">
                  <c:v>2.8858</c:v>
                </c:pt>
                <c:pt idx="121">
                  <c:v>2.9023</c:v>
                </c:pt>
                <c:pt idx="122">
                  <c:v>2.8814</c:v>
                </c:pt>
                <c:pt idx="123">
                  <c:v>2.9235</c:v>
                </c:pt>
                <c:pt idx="124">
                  <c:v>2.968</c:v>
                </c:pt>
                <c:pt idx="125">
                  <c:v>2.9794</c:v>
                </c:pt>
                <c:pt idx="126">
                  <c:v>3.0108</c:v>
                </c:pt>
                <c:pt idx="127">
                  <c:v>2.9772</c:v>
                </c:pt>
                <c:pt idx="128">
                  <c:v>2.9993</c:v>
                </c:pt>
                <c:pt idx="129">
                  <c:v>2.92</c:v>
                </c:pt>
                <c:pt idx="130">
                  <c:v>2.9769</c:v>
                </c:pt>
                <c:pt idx="131">
                  <c:v>2.9832</c:v>
                </c:pt>
                <c:pt idx="132">
                  <c:v>3.0066</c:v>
                </c:pt>
                <c:pt idx="133">
                  <c:v>3.0402</c:v>
                </c:pt>
                <c:pt idx="134">
                  <c:v>3.0384</c:v>
                </c:pt>
                <c:pt idx="135">
                  <c:v>3.0132</c:v>
                </c:pt>
                <c:pt idx="136">
                  <c:v>2.9796</c:v>
                </c:pt>
                <c:pt idx="137">
                  <c:v>2.9746</c:v>
                </c:pt>
                <c:pt idx="138">
                  <c:v>3.0747</c:v>
                </c:pt>
                <c:pt idx="139">
                  <c:v>3.1487</c:v>
                </c:pt>
                <c:pt idx="140">
                  <c:v>3.1589</c:v>
                </c:pt>
                <c:pt idx="141">
                  <c:v>3.2547</c:v>
                </c:pt>
                <c:pt idx="142">
                  <c:v>3.3166</c:v>
                </c:pt>
                <c:pt idx="143">
                  <c:v>3.3394</c:v>
                </c:pt>
                <c:pt idx="144">
                  <c:v>3.4034</c:v>
                </c:pt>
                <c:pt idx="145">
                  <c:v>3.4032</c:v>
                </c:pt>
                <c:pt idx="146">
                  <c:v>3.4762</c:v>
                </c:pt>
                <c:pt idx="147">
                  <c:v>3.6041</c:v>
                </c:pt>
                <c:pt idx="148">
                  <c:v>3.6569</c:v>
                </c:pt>
                <c:pt idx="149">
                  <c:v>3.5564</c:v>
                </c:pt>
                <c:pt idx="150">
                  <c:v>3.4778</c:v>
                </c:pt>
                <c:pt idx="151">
                  <c:v>3.5955</c:v>
                </c:pt>
                <c:pt idx="152">
                  <c:v>3.7484</c:v>
                </c:pt>
                <c:pt idx="153">
                  <c:v>3.8277</c:v>
                </c:pt>
                <c:pt idx="154">
                  <c:v>3.8558</c:v>
                </c:pt>
                <c:pt idx="155">
                  <c:v>3.8313</c:v>
                </c:pt>
                <c:pt idx="156">
                  <c:v>3.604</c:v>
                </c:pt>
                <c:pt idx="157">
                  <c:v>3.453</c:v>
                </c:pt>
                <c:pt idx="158">
                  <c:v>3.4958</c:v>
                </c:pt>
                <c:pt idx="159">
                  <c:v>3.5834</c:v>
                </c:pt>
                <c:pt idx="160">
                  <c:v>3.6194</c:v>
                </c:pt>
                <c:pt idx="161">
                  <c:v>3.3751</c:v>
                </c:pt>
                <c:pt idx="162">
                  <c:v>3.4794</c:v>
                </c:pt>
                <c:pt idx="163">
                  <c:v>3.5367</c:v>
                </c:pt>
                <c:pt idx="164">
                  <c:v>3.4675</c:v>
                </c:pt>
                <c:pt idx="165">
                  <c:v>3.157</c:v>
                </c:pt>
                <c:pt idx="166">
                  <c:v>2.9781</c:v>
                </c:pt>
                <c:pt idx="167">
                  <c:v>2.9227</c:v>
                </c:pt>
                <c:pt idx="168">
                  <c:v>2.6209</c:v>
                </c:pt>
                <c:pt idx="169">
                  <c:v>2.408</c:v>
                </c:pt>
                <c:pt idx="170">
                  <c:v>2.4958</c:v>
                </c:pt>
                <c:pt idx="171">
                  <c:v>2.47</c:v>
                </c:pt>
                <c:pt idx="172">
                  <c:v>2.4973</c:v>
                </c:pt>
                <c:pt idx="173">
                  <c:v>2.5961</c:v>
                </c:pt>
                <c:pt idx="174">
                  <c:v>2.6955</c:v>
                </c:pt>
                <c:pt idx="175">
                  <c:v>2.734</c:v>
                </c:pt>
                <c:pt idx="176">
                  <c:v>2.7631</c:v>
                </c:pt>
                <c:pt idx="177">
                  <c:v>2.7488</c:v>
                </c:pt>
                <c:pt idx="178">
                  <c:v>2.89</c:v>
                </c:pt>
                <c:pt idx="179">
                  <c:v>2.9621</c:v>
                </c:pt>
                <c:pt idx="180">
                  <c:v>2.9553</c:v>
                </c:pt>
                <c:pt idx="181">
                  <c:v>3.0179</c:v>
                </c:pt>
                <c:pt idx="182">
                  <c:v>3.0791</c:v>
                </c:pt>
                <c:pt idx="183">
                  <c:v>3.1123</c:v>
                </c:pt>
                <c:pt idx="184">
                  <c:v>2.9516</c:v>
                </c:pt>
                <c:pt idx="185">
                  <c:v>2.9117</c:v>
                </c:pt>
                <c:pt idx="186">
                  <c:v>3.0627</c:v>
                </c:pt>
                <c:pt idx="187">
                  <c:v>3.0868</c:v>
                </c:pt>
                <c:pt idx="188">
                  <c:v>3.1957</c:v>
                </c:pt>
                <c:pt idx="189">
                  <c:v>3.2713</c:v>
                </c:pt>
                <c:pt idx="190">
                  <c:v>3.2099</c:v>
                </c:pt>
                <c:pt idx="191">
                  <c:v>3.3176</c:v>
                </c:pt>
                <c:pt idx="192">
                  <c:v>3.298</c:v>
                </c:pt>
                <c:pt idx="193">
                  <c:v>3.4446</c:v>
                </c:pt>
                <c:pt idx="194">
                  <c:v>3.4625</c:v>
                </c:pt>
                <c:pt idx="195">
                  <c:v>3.6148</c:v>
                </c:pt>
                <c:pt idx="196">
                  <c:v>3.6246</c:v>
                </c:pt>
                <c:pt idx="197">
                  <c:v>3.5816</c:v>
                </c:pt>
                <c:pt idx="198">
                  <c:v>3.5083</c:v>
                </c:pt>
                <c:pt idx="199">
                  <c:v>3.5383</c:v>
                </c:pt>
                <c:pt idx="200">
                  <c:v>3.467</c:v>
                </c:pt>
                <c:pt idx="201">
                  <c:v>3.6043</c:v>
                </c:pt>
                <c:pt idx="202">
                  <c:v>3.6517</c:v>
                </c:pt>
                <c:pt idx="203">
                  <c:v>3.7708</c:v>
                </c:pt>
                <c:pt idx="204">
                  <c:v>3.7168</c:v>
                </c:pt>
                <c:pt idx="205">
                  <c:v>3.738</c:v>
                </c:pt>
                <c:pt idx="206">
                  <c:v>3.8352</c:v>
                </c:pt>
                <c:pt idx="207">
                  <c:v>3.8906</c:v>
                </c:pt>
                <c:pt idx="208">
                  <c:v>3.9223</c:v>
                </c:pt>
                <c:pt idx="209">
                  <c:v>4.091</c:v>
                </c:pt>
                <c:pt idx="210">
                  <c:v>4.161</c:v>
                </c:pt>
                <c:pt idx="211">
                  <c:v>4.075</c:v>
                </c:pt>
                <c:pt idx="212">
                  <c:v>4.1084</c:v>
                </c:pt>
                <c:pt idx="213">
                  <c:v>4.1201</c:v>
                </c:pt>
                <c:pt idx="214">
                  <c:v>4.0764</c:v>
                </c:pt>
                <c:pt idx="215">
                  <c:v>4.0192</c:v>
                </c:pt>
                <c:pt idx="216">
                  <c:v>4.2016</c:v>
                </c:pt>
                <c:pt idx="217">
                  <c:v>4.399</c:v>
                </c:pt>
                <c:pt idx="218">
                  <c:v>4.638</c:v>
                </c:pt>
                <c:pt idx="219">
                  <c:v>4.8385</c:v>
                </c:pt>
                <c:pt idx="220">
                  <c:v>4.535</c:v>
                </c:pt>
                <c:pt idx="221">
                  <c:v>4.6118</c:v>
                </c:pt>
                <c:pt idx="222">
                  <c:v>4.8221</c:v>
                </c:pt>
                <c:pt idx="223">
                  <c:v>4.5785</c:v>
                </c:pt>
                <c:pt idx="224">
                  <c:v>4.5734</c:v>
                </c:pt>
                <c:pt idx="225">
                  <c:v>4.7448</c:v>
                </c:pt>
                <c:pt idx="226">
                  <c:v>4.6496</c:v>
                </c:pt>
                <c:pt idx="227">
                  <c:v>4.6576</c:v>
                </c:pt>
                <c:pt idx="228">
                  <c:v>4.6833</c:v>
                </c:pt>
                <c:pt idx="229">
                  <c:v>4.8581</c:v>
                </c:pt>
                <c:pt idx="230">
                  <c:v>4.9477</c:v>
                </c:pt>
                <c:pt idx="231">
                  <c:v>5.1063</c:v>
                </c:pt>
                <c:pt idx="232">
                  <c:v>5.06</c:v>
                </c:pt>
                <c:pt idx="233">
                  <c:v>5.2</c:v>
                </c:pt>
                <c:pt idx="234">
                  <c:v>4.9355</c:v>
                </c:pt>
                <c:pt idx="235">
                  <c:v>5.183</c:v>
                </c:pt>
                <c:pt idx="236">
                  <c:v>5.099</c:v>
                </c:pt>
                <c:pt idx="237">
                  <c:v>5.4531</c:v>
                </c:pt>
                <c:pt idx="238">
                  <c:v>5.5937</c:v>
                </c:pt>
                <c:pt idx="239">
                  <c:v>5.7175</c:v>
                </c:pt>
                <c:pt idx="240">
                  <c:v>5.8782</c:v>
                </c:pt>
                <c:pt idx="241">
                  <c:v>5.6792</c:v>
                </c:pt>
                <c:pt idx="242">
                  <c:v>5.6246</c:v>
                </c:pt>
                <c:pt idx="243">
                  <c:v>5.5938</c:v>
                </c:pt>
                <c:pt idx="244">
                  <c:v>5.6278</c:v>
                </c:pt>
                <c:pt idx="245">
                  <c:v>5.3374</c:v>
                </c:pt>
                <c:pt idx="246">
                  <c:v>5.6638</c:v>
                </c:pt>
                <c:pt idx="247">
                  <c:v>5.4663</c:v>
                </c:pt>
                <c:pt idx="248">
                  <c:v>5.6386</c:v>
                </c:pt>
                <c:pt idx="249">
                  <c:v>5.7654</c:v>
                </c:pt>
                <c:pt idx="250">
                  <c:v>5.68</c:v>
                </c:pt>
                <c:pt idx="251">
                  <c:v>5.8338</c:v>
                </c:pt>
                <c:pt idx="252">
                  <c:v>6.0916</c:v>
                </c:pt>
                <c:pt idx="253">
                  <c:v>6.1823</c:v>
                </c:pt>
                <c:pt idx="254">
                  <c:v>6.6486</c:v>
                </c:pt>
                <c:pt idx="255">
                  <c:v>6.5176</c:v>
                </c:pt>
                <c:pt idx="256">
                  <c:v>6.6178</c:v>
                </c:pt>
                <c:pt idx="257">
                  <c:v>7.1747</c:v>
                </c:pt>
                <c:pt idx="258">
                  <c:v>7.1282</c:v>
                </c:pt>
                <c:pt idx="259">
                  <c:v>6.7599</c:v>
                </c:pt>
                <c:pt idx="260">
                  <c:v>6.7627</c:v>
                </c:pt>
                <c:pt idx="261">
                  <c:v>6.7475</c:v>
                </c:pt>
                <c:pt idx="262">
                  <c:v>6.4739</c:v>
                </c:pt>
                <c:pt idx="263">
                  <c:v>6.786</c:v>
                </c:pt>
                <c:pt idx="264">
                  <c:v>6.8349</c:v>
                </c:pt>
                <c:pt idx="265">
                  <c:v>7.1882</c:v>
                </c:pt>
                <c:pt idx="266">
                  <c:v>7.1867</c:v>
                </c:pt>
                <c:pt idx="267">
                  <c:v>7.2545</c:v>
                </c:pt>
                <c:pt idx="268">
                  <c:v>7.503</c:v>
                </c:pt>
                <c:pt idx="269">
                  <c:v>7.3163</c:v>
                </c:pt>
                <c:pt idx="270">
                  <c:v>7.4468</c:v>
                </c:pt>
                <c:pt idx="271">
                  <c:v>7.5842</c:v>
                </c:pt>
                <c:pt idx="272">
                  <c:v>7.4117</c:v>
                </c:pt>
                <c:pt idx="273">
                  <c:v>7.6799</c:v>
                </c:pt>
                <c:pt idx="274">
                  <c:v>7.9892</c:v>
                </c:pt>
                <c:pt idx="275">
                  <c:v>7.6618</c:v>
                </c:pt>
                <c:pt idx="276">
                  <c:v>7.4616</c:v>
                </c:pt>
                <c:pt idx="277">
                  <c:v>7.1338</c:v>
                </c:pt>
                <c:pt idx="278">
                  <c:v>7.3681</c:v>
                </c:pt>
                <c:pt idx="279">
                  <c:v>7.497</c:v>
                </c:pt>
                <c:pt idx="280">
                  <c:v>7.4097</c:v>
                </c:pt>
                <c:pt idx="281">
                  <c:v>7.6298</c:v>
                </c:pt>
                <c:pt idx="282">
                  <c:v>7.7838</c:v>
                </c:pt>
                <c:pt idx="283">
                  <c:v>7.9449</c:v>
                </c:pt>
                <c:pt idx="284">
                  <c:v>7.8884</c:v>
                </c:pt>
                <c:pt idx="285">
                  <c:v>7.9732</c:v>
                </c:pt>
                <c:pt idx="286">
                  <c:v>8.2203</c:v>
                </c:pt>
                <c:pt idx="287">
                  <c:v>7.7252</c:v>
                </c:pt>
                <c:pt idx="288">
                  <c:v>7.991</c:v>
                </c:pt>
                <c:pt idx="289">
                  <c:v>8.3483</c:v>
                </c:pt>
                <c:pt idx="290">
                  <c:v>8.6235</c:v>
                </c:pt>
                <c:pt idx="291">
                  <c:v>8.7736</c:v>
                </c:pt>
                <c:pt idx="292">
                  <c:v>8.7226</c:v>
                </c:pt>
                <c:pt idx="293">
                  <c:v>9.0507</c:v>
                </c:pt>
                <c:pt idx="294">
                  <c:v>9.1525</c:v>
                </c:pt>
                <c:pt idx="295">
                  <c:v>9.6617</c:v>
                </c:pt>
                <c:pt idx="296">
                  <c:v>9.8342</c:v>
                </c:pt>
                <c:pt idx="297">
                  <c:v>9.6861</c:v>
                </c:pt>
                <c:pt idx="298">
                  <c:v>9.5243</c:v>
                </c:pt>
                <c:pt idx="299">
                  <c:v>9.8311</c:v>
                </c:pt>
                <c:pt idx="300">
                  <c:v>10.5082</c:v>
                </c:pt>
                <c:pt idx="301">
                  <c:v>9.5084</c:v>
                </c:pt>
                <c:pt idx="302">
                  <c:v>8.8685</c:v>
                </c:pt>
                <c:pt idx="303">
                  <c:v>9.3561</c:v>
                </c:pt>
                <c:pt idx="304">
                  <c:v>9.7106</c:v>
                </c:pt>
                <c:pt idx="305">
                  <c:v>9.4661</c:v>
                </c:pt>
                <c:pt idx="306">
                  <c:v>10.3351</c:v>
                </c:pt>
                <c:pt idx="307">
                  <c:v>10.2262</c:v>
                </c:pt>
                <c:pt idx="308">
                  <c:v>10.2432</c:v>
                </c:pt>
                <c:pt idx="309">
                  <c:v>10.3621</c:v>
                </c:pt>
                <c:pt idx="310">
                  <c:v>10.3873</c:v>
                </c:pt>
                <c:pt idx="311">
                  <c:v>10.394</c:v>
                </c:pt>
                <c:pt idx="312">
                  <c:v>10.2361</c:v>
                </c:pt>
                <c:pt idx="313">
                  <c:v>9.7001</c:v>
                </c:pt>
                <c:pt idx="314">
                  <c:v>10.6484</c:v>
                </c:pt>
                <c:pt idx="315">
                  <c:v>10.9303</c:v>
                </c:pt>
                <c:pt idx="316">
                  <c:v>10.9117</c:v>
                </c:pt>
                <c:pt idx="317">
                  <c:v>10.7167</c:v>
                </c:pt>
                <c:pt idx="318">
                  <c:v>11.0554</c:v>
                </c:pt>
                <c:pt idx="319">
                  <c:v>11.3012</c:v>
                </c:pt>
                <c:pt idx="320">
                  <c:v>10.5294</c:v>
                </c:pt>
                <c:pt idx="321">
                  <c:v>10.8837</c:v>
                </c:pt>
                <c:pt idx="322">
                  <c:v>10.68</c:v>
                </c:pt>
                <c:pt idx="323">
                  <c:v>11.6772</c:v>
                </c:pt>
                <c:pt idx="324">
                  <c:v>11.4927</c:v>
                </c:pt>
                <c:pt idx="325">
                  <c:v>11.3167</c:v>
                </c:pt>
                <c:pt idx="326">
                  <c:v>12.1698</c:v>
                </c:pt>
                <c:pt idx="327">
                  <c:v>11.9336</c:v>
                </c:pt>
                <c:pt idx="328">
                  <c:v>12.1829</c:v>
                </c:pt>
                <c:pt idx="329">
                  <c:v>11.6502</c:v>
                </c:pt>
                <c:pt idx="330">
                  <c:v>11.9676</c:v>
                </c:pt>
                <c:pt idx="331">
                  <c:v>11.9261</c:v>
                </c:pt>
                <c:pt idx="332">
                  <c:v>10.8847</c:v>
                </c:pt>
                <c:pt idx="333">
                  <c:v>11.645</c:v>
                </c:pt>
                <c:pt idx="334">
                  <c:v>12.3266</c:v>
                </c:pt>
                <c:pt idx="335">
                  <c:v>12.1781</c:v>
                </c:pt>
                <c:pt idx="336">
                  <c:v>12.1268</c:v>
                </c:pt>
                <c:pt idx="337">
                  <c:v>11.7352</c:v>
                </c:pt>
                <c:pt idx="338">
                  <c:v>12.1347</c:v>
                </c:pt>
                <c:pt idx="339">
                  <c:v>12.5005</c:v>
                </c:pt>
                <c:pt idx="340">
                  <c:v>11.75</c:v>
                </c:pt>
                <c:pt idx="341">
                  <c:v>11.731</c:v>
                </c:pt>
                <c:pt idx="342">
                  <c:v>11.6926</c:v>
                </c:pt>
                <c:pt idx="343">
                  <c:v>11.2163</c:v>
                </c:pt>
                <c:pt idx="344">
                  <c:v>10.4726</c:v>
                </c:pt>
                <c:pt idx="345">
                  <c:v>10.2931</c:v>
                </c:pt>
                <c:pt idx="346">
                  <c:v>10.5126</c:v>
                </c:pt>
                <c:pt idx="347">
                  <c:v>10.9146</c:v>
                </c:pt>
                <c:pt idx="348">
                  <c:v>11.0767</c:v>
                </c:pt>
                <c:pt idx="349">
                  <c:v>11.0266</c:v>
                </c:pt>
                <c:pt idx="350">
                  <c:v>11.5043</c:v>
                </c:pt>
                <c:pt idx="351">
                  <c:v>11.335</c:v>
                </c:pt>
                <c:pt idx="352">
                  <c:v>11.3158</c:v>
                </c:pt>
                <c:pt idx="353">
                  <c:v>11.2158</c:v>
                </c:pt>
                <c:pt idx="354">
                  <c:v>11.7118</c:v>
                </c:pt>
                <c:pt idx="355">
                  <c:v>12.4681</c:v>
                </c:pt>
                <c:pt idx="356">
                  <c:v>12.5336</c:v>
                </c:pt>
                <c:pt idx="357">
                  <c:v>11.9462</c:v>
                </c:pt>
                <c:pt idx="358">
                  <c:v>12.1519</c:v>
                </c:pt>
                <c:pt idx="359">
                  <c:v>11.5493</c:v>
                </c:pt>
                <c:pt idx="360">
                  <c:v>11.3975</c:v>
                </c:pt>
                <c:pt idx="361">
                  <c:v>11.7708</c:v>
                </c:pt>
                <c:pt idx="362">
                  <c:v>11.9676</c:v>
                </c:pt>
                <c:pt idx="363">
                  <c:v>11.5728</c:v>
                </c:pt>
                <c:pt idx="364">
                  <c:v>11.3522</c:v>
                </c:pt>
                <c:pt idx="365">
                  <c:v>11.1286</c:v>
                </c:pt>
                <c:pt idx="366">
                  <c:v>11.2413</c:v>
                </c:pt>
                <c:pt idx="367">
                  <c:v>11.4534</c:v>
                </c:pt>
                <c:pt idx="368">
                  <c:v>11.5773</c:v>
                </c:pt>
                <c:pt idx="369">
                  <c:v>11.1921</c:v>
                </c:pt>
                <c:pt idx="370">
                  <c:v>11.6687</c:v>
                </c:pt>
                <c:pt idx="371">
                  <c:v>11.5178</c:v>
                </c:pt>
              </c:numCache>
            </c:numRef>
          </c:val>
          <c:smooth val="0"/>
        </c:ser>
        <c:ser>
          <c:idx val="3"/>
          <c:order val="3"/>
          <c:tx>
            <c:strRef>
              <c:f>Sheet1!$E$1</c:f>
              <c:strCache>
                <c:ptCount val="1"/>
                <c:pt idx="0">
                  <c:v>Risk parity</c:v>
                </c:pt>
              </c:strCache>
            </c:strRef>
          </c:tx>
          <c:spPr>
            <a:solidFill>
              <a:srgbClr val="1BAF7A"/>
            </a:solidFill>
            <a:ln w="22225"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Sheet1!$E$2:$E$373</c:f>
              <c:numCache>
                <c:formatCode>General</c:formatCode>
                <c:ptCount val="372"/>
                <c:pt idx="0">
                  <c:v>1.0267</c:v>
                </c:pt>
                <c:pt idx="1">
                  <c:v>1.0693</c:v>
                </c:pt>
                <c:pt idx="2">
                  <c:v>1.0946</c:v>
                </c:pt>
                <c:pt idx="3">
                  <c:v>1.1127</c:v>
                </c:pt>
                <c:pt idx="4">
                  <c:v>1.154</c:v>
                </c:pt>
                <c:pt idx="5">
                  <c:v>1.1778</c:v>
                </c:pt>
                <c:pt idx="6">
                  <c:v>1.2175</c:v>
                </c:pt>
                <c:pt idx="7">
                  <c:v>1.2341</c:v>
                </c:pt>
                <c:pt idx="8">
                  <c:v>1.2717</c:v>
                </c:pt>
                <c:pt idx="9">
                  <c:v>1.254</c:v>
                </c:pt>
                <c:pt idx="10">
                  <c:v>1.3145</c:v>
                </c:pt>
                <c:pt idx="11">
                  <c:v>1.3363</c:v>
                </c:pt>
                <c:pt idx="12">
                  <c:v>1.3787</c:v>
                </c:pt>
                <c:pt idx="13">
                  <c:v>1.395</c:v>
                </c:pt>
                <c:pt idx="14">
                  <c:v>1.4137</c:v>
                </c:pt>
                <c:pt idx="15">
                  <c:v>1.4344</c:v>
                </c:pt>
                <c:pt idx="16">
                  <c:v>1.4584</c:v>
                </c:pt>
                <c:pt idx="17">
                  <c:v>1.4511</c:v>
                </c:pt>
                <c:pt idx="18">
                  <c:v>1.3788</c:v>
                </c:pt>
                <c:pt idx="19">
                  <c:v>1.4238</c:v>
                </c:pt>
                <c:pt idx="20">
                  <c:v>1.4918</c:v>
                </c:pt>
                <c:pt idx="21">
                  <c:v>1.5201</c:v>
                </c:pt>
                <c:pt idx="22">
                  <c:v>1.6184</c:v>
                </c:pt>
                <c:pt idx="23">
                  <c:v>1.5968</c:v>
                </c:pt>
                <c:pt idx="24">
                  <c:v>1.6591</c:v>
                </c:pt>
                <c:pt idx="25">
                  <c:v>1.6742</c:v>
                </c:pt>
                <c:pt idx="26">
                  <c:v>1.6103</c:v>
                </c:pt>
                <c:pt idx="27">
                  <c:v>1.6588</c:v>
                </c:pt>
                <c:pt idx="28">
                  <c:v>1.7664</c:v>
                </c:pt>
                <c:pt idx="29">
                  <c:v>1.8323</c:v>
                </c:pt>
                <c:pt idx="30">
                  <c:v>1.9791</c:v>
                </c:pt>
                <c:pt idx="31">
                  <c:v>1.9286</c:v>
                </c:pt>
                <c:pt idx="32">
                  <c:v>2.0258</c:v>
                </c:pt>
                <c:pt idx="33">
                  <c:v>1.9581</c:v>
                </c:pt>
                <c:pt idx="34">
                  <c:v>2.024</c:v>
                </c:pt>
                <c:pt idx="35">
                  <c:v>2.0873</c:v>
                </c:pt>
                <c:pt idx="36">
                  <c:v>2.0587</c:v>
                </c:pt>
                <c:pt idx="37">
                  <c:v>2.2075</c:v>
                </c:pt>
                <c:pt idx="38">
                  <c:v>2.3204</c:v>
                </c:pt>
                <c:pt idx="39">
                  <c:v>2.3207</c:v>
                </c:pt>
                <c:pt idx="40">
                  <c:v>2.2618</c:v>
                </c:pt>
                <c:pt idx="41">
                  <c:v>2.302</c:v>
                </c:pt>
                <c:pt idx="42">
                  <c:v>2.2155</c:v>
                </c:pt>
                <c:pt idx="43">
                  <c:v>1.9194</c:v>
                </c:pt>
                <c:pt idx="44">
                  <c:v>2.0402</c:v>
                </c:pt>
                <c:pt idx="45">
                  <c:v>2.1884</c:v>
                </c:pt>
                <c:pt idx="46">
                  <c:v>2.292</c:v>
                </c:pt>
                <c:pt idx="47">
                  <c:v>2.3948</c:v>
                </c:pt>
                <c:pt idx="48">
                  <c:v>2.3748</c:v>
                </c:pt>
                <c:pt idx="49">
                  <c:v>2.314</c:v>
                </c:pt>
                <c:pt idx="50">
                  <c:v>2.3685</c:v>
                </c:pt>
                <c:pt idx="51">
                  <c:v>2.5376</c:v>
                </c:pt>
                <c:pt idx="52">
                  <c:v>2.5488</c:v>
                </c:pt>
                <c:pt idx="53">
                  <c:v>2.6068</c:v>
                </c:pt>
                <c:pt idx="54">
                  <c:v>2.5367</c:v>
                </c:pt>
                <c:pt idx="55">
                  <c:v>2.4726</c:v>
                </c:pt>
                <c:pt idx="56">
                  <c:v>2.3707</c:v>
                </c:pt>
                <c:pt idx="57">
                  <c:v>2.4751</c:v>
                </c:pt>
                <c:pt idx="58">
                  <c:v>2.4752</c:v>
                </c:pt>
                <c:pt idx="59">
                  <c:v>2.5583</c:v>
                </c:pt>
                <c:pt idx="60">
                  <c:v>2.4498</c:v>
                </c:pt>
                <c:pt idx="61">
                  <c:v>2.3697</c:v>
                </c:pt>
                <c:pt idx="62">
                  <c:v>2.5803</c:v>
                </c:pt>
                <c:pt idx="63">
                  <c:v>2.6068</c:v>
                </c:pt>
                <c:pt idx="64">
                  <c:v>2.6503</c:v>
                </c:pt>
                <c:pt idx="65">
                  <c:v>2.5887</c:v>
                </c:pt>
                <c:pt idx="66">
                  <c:v>2.6115</c:v>
                </c:pt>
                <c:pt idx="67">
                  <c:v>2.8208</c:v>
                </c:pt>
                <c:pt idx="68">
                  <c:v>2.8688</c:v>
                </c:pt>
                <c:pt idx="69">
                  <c:v>2.9111</c:v>
                </c:pt>
                <c:pt idx="70">
                  <c:v>2.8227</c:v>
                </c:pt>
                <c:pt idx="71">
                  <c:v>3.0125</c:v>
                </c:pt>
                <c:pt idx="72">
                  <c:v>2.9953</c:v>
                </c:pt>
                <c:pt idx="73">
                  <c:v>2.9506</c:v>
                </c:pt>
                <c:pt idx="74">
                  <c:v>2.8468</c:v>
                </c:pt>
                <c:pt idx="75">
                  <c:v>3.0211</c:v>
                </c:pt>
                <c:pt idx="76">
                  <c:v>3.1011</c:v>
                </c:pt>
                <c:pt idx="77">
                  <c:v>3.0541</c:v>
                </c:pt>
                <c:pt idx="78">
                  <c:v>3.0313</c:v>
                </c:pt>
                <c:pt idx="79">
                  <c:v>2.9511</c:v>
                </c:pt>
                <c:pt idx="80">
                  <c:v>2.7112</c:v>
                </c:pt>
                <c:pt idx="81">
                  <c:v>2.738</c:v>
                </c:pt>
                <c:pt idx="82">
                  <c:v>2.9058</c:v>
                </c:pt>
                <c:pt idx="83">
                  <c:v>2.9961</c:v>
                </c:pt>
                <c:pt idx="84">
                  <c:v>2.997</c:v>
                </c:pt>
                <c:pt idx="85">
                  <c:v>2.9993</c:v>
                </c:pt>
                <c:pt idx="86">
                  <c:v>3.1536</c:v>
                </c:pt>
                <c:pt idx="87">
                  <c:v>3.1078</c:v>
                </c:pt>
                <c:pt idx="88">
                  <c:v>3.0926</c:v>
                </c:pt>
                <c:pt idx="89">
                  <c:v>2.9148</c:v>
                </c:pt>
                <c:pt idx="90">
                  <c:v>2.6859</c:v>
                </c:pt>
                <c:pt idx="91">
                  <c:v>2.7098</c:v>
                </c:pt>
                <c:pt idx="92">
                  <c:v>2.4728</c:v>
                </c:pt>
                <c:pt idx="93">
                  <c:v>2.5733</c:v>
                </c:pt>
                <c:pt idx="94">
                  <c:v>2.6803</c:v>
                </c:pt>
                <c:pt idx="95">
                  <c:v>2.6215</c:v>
                </c:pt>
                <c:pt idx="96">
                  <c:v>2.5592</c:v>
                </c:pt>
                <c:pt idx="97">
                  <c:v>2.5007</c:v>
                </c:pt>
                <c:pt idx="98">
                  <c:v>2.5227</c:v>
                </c:pt>
                <c:pt idx="99">
                  <c:v>2.6904</c:v>
                </c:pt>
                <c:pt idx="100">
                  <c:v>2.8887</c:v>
                </c:pt>
                <c:pt idx="101">
                  <c:v>2.909</c:v>
                </c:pt>
                <c:pt idx="102">
                  <c:v>2.9571</c:v>
                </c:pt>
                <c:pt idx="103">
                  <c:v>3.0366</c:v>
                </c:pt>
                <c:pt idx="104">
                  <c:v>3.0125</c:v>
                </c:pt>
                <c:pt idx="105">
                  <c:v>3.1961</c:v>
                </c:pt>
                <c:pt idx="106">
                  <c:v>3.266</c:v>
                </c:pt>
                <c:pt idx="107">
                  <c:v>3.3879</c:v>
                </c:pt>
                <c:pt idx="108">
                  <c:v>3.4333</c:v>
                </c:pt>
                <c:pt idx="109">
                  <c:v>3.5218</c:v>
                </c:pt>
                <c:pt idx="110">
                  <c:v>3.5078</c:v>
                </c:pt>
                <c:pt idx="111">
                  <c:v>3.4867</c:v>
                </c:pt>
                <c:pt idx="112">
                  <c:v>3.5439</c:v>
                </c:pt>
                <c:pt idx="113">
                  <c:v>3.6228</c:v>
                </c:pt>
                <c:pt idx="114">
                  <c:v>3.5028</c:v>
                </c:pt>
                <c:pt idx="115">
                  <c:v>3.5282</c:v>
                </c:pt>
                <c:pt idx="116">
                  <c:v>3.6108</c:v>
                </c:pt>
                <c:pt idx="117">
                  <c:v>3.6616</c:v>
                </c:pt>
                <c:pt idx="118">
                  <c:v>3.8445</c:v>
                </c:pt>
                <c:pt idx="119">
                  <c:v>3.9824</c:v>
                </c:pt>
                <c:pt idx="120">
                  <c:v>3.92</c:v>
                </c:pt>
                <c:pt idx="121">
                  <c:v>4.0018</c:v>
                </c:pt>
                <c:pt idx="122">
                  <c:v>3.9741</c:v>
                </c:pt>
                <c:pt idx="123">
                  <c:v>3.9141</c:v>
                </c:pt>
                <c:pt idx="124">
                  <c:v>4.0497</c:v>
                </c:pt>
                <c:pt idx="125">
                  <c:v>4.1148</c:v>
                </c:pt>
                <c:pt idx="126">
                  <c:v>4.2699</c:v>
                </c:pt>
                <c:pt idx="127">
                  <c:v>4.233</c:v>
                </c:pt>
                <c:pt idx="128">
                  <c:v>4.2596</c:v>
                </c:pt>
                <c:pt idx="129">
                  <c:v>4.1678</c:v>
                </c:pt>
                <c:pt idx="130">
                  <c:v>4.3174</c:v>
                </c:pt>
                <c:pt idx="131">
                  <c:v>4.3507</c:v>
                </c:pt>
                <c:pt idx="132">
                  <c:v>4.4841</c:v>
                </c:pt>
                <c:pt idx="133">
                  <c:v>4.4923</c:v>
                </c:pt>
                <c:pt idx="134">
                  <c:v>4.5584</c:v>
                </c:pt>
                <c:pt idx="135">
                  <c:v>4.5996</c:v>
                </c:pt>
                <c:pt idx="136">
                  <c:v>4.4849</c:v>
                </c:pt>
                <c:pt idx="137">
                  <c:v>4.4975</c:v>
                </c:pt>
                <c:pt idx="138">
                  <c:v>4.4927</c:v>
                </c:pt>
                <c:pt idx="139">
                  <c:v>4.5763</c:v>
                </c:pt>
                <c:pt idx="140">
                  <c:v>4.6485</c:v>
                </c:pt>
                <c:pt idx="141">
                  <c:v>4.7901</c:v>
                </c:pt>
                <c:pt idx="142">
                  <c:v>4.8985</c:v>
                </c:pt>
                <c:pt idx="143">
                  <c:v>4.9281</c:v>
                </c:pt>
                <c:pt idx="144">
                  <c:v>5.0417</c:v>
                </c:pt>
                <c:pt idx="145">
                  <c:v>5.0318</c:v>
                </c:pt>
                <c:pt idx="146">
                  <c:v>5.0841</c:v>
                </c:pt>
                <c:pt idx="147">
                  <c:v>5.2924</c:v>
                </c:pt>
                <c:pt idx="148">
                  <c:v>5.4735</c:v>
                </c:pt>
                <c:pt idx="149">
                  <c:v>5.3581</c:v>
                </c:pt>
                <c:pt idx="150">
                  <c:v>5.1841</c:v>
                </c:pt>
                <c:pt idx="151">
                  <c:v>5.2398</c:v>
                </c:pt>
                <c:pt idx="152">
                  <c:v>5.4187</c:v>
                </c:pt>
                <c:pt idx="153">
                  <c:v>5.5505</c:v>
                </c:pt>
                <c:pt idx="154">
                  <c:v>5.3506</c:v>
                </c:pt>
                <c:pt idx="155">
                  <c:v>5.2921</c:v>
                </c:pt>
                <c:pt idx="156">
                  <c:v>5.0125</c:v>
                </c:pt>
                <c:pt idx="157">
                  <c:v>4.8872</c:v>
                </c:pt>
                <c:pt idx="158">
                  <c:v>4.8179</c:v>
                </c:pt>
                <c:pt idx="159">
                  <c:v>5.0597</c:v>
                </c:pt>
                <c:pt idx="160">
                  <c:v>5.2084</c:v>
                </c:pt>
                <c:pt idx="161">
                  <c:v>4.79</c:v>
                </c:pt>
                <c:pt idx="162">
                  <c:v>4.752</c:v>
                </c:pt>
                <c:pt idx="163">
                  <c:v>4.8209</c:v>
                </c:pt>
                <c:pt idx="164">
                  <c:v>4.3469</c:v>
                </c:pt>
                <c:pt idx="165">
                  <c:v>3.5922</c:v>
                </c:pt>
                <c:pt idx="166">
                  <c:v>3.326</c:v>
                </c:pt>
                <c:pt idx="167">
                  <c:v>3.3911</c:v>
                </c:pt>
                <c:pt idx="168">
                  <c:v>3.1414</c:v>
                </c:pt>
                <c:pt idx="169">
                  <c:v>2.8361</c:v>
                </c:pt>
                <c:pt idx="170">
                  <c:v>3.0675</c:v>
                </c:pt>
                <c:pt idx="171">
                  <c:v>3.3714</c:v>
                </c:pt>
                <c:pt idx="172">
                  <c:v>3.4974</c:v>
                </c:pt>
                <c:pt idx="173">
                  <c:v>3.5265</c:v>
                </c:pt>
                <c:pt idx="174">
                  <c:v>3.7785</c:v>
                </c:pt>
                <c:pt idx="175">
                  <c:v>3.8995</c:v>
                </c:pt>
                <c:pt idx="176">
                  <c:v>4.0646</c:v>
                </c:pt>
                <c:pt idx="177">
                  <c:v>3.9538</c:v>
                </c:pt>
                <c:pt idx="178">
                  <c:v>4.1592</c:v>
                </c:pt>
                <c:pt idx="179">
                  <c:v>4.3255</c:v>
                </c:pt>
                <c:pt idx="180">
                  <c:v>4.2087</c:v>
                </c:pt>
                <c:pt idx="181">
                  <c:v>4.3774</c:v>
                </c:pt>
                <c:pt idx="182">
                  <c:v>4.6206</c:v>
                </c:pt>
                <c:pt idx="183">
                  <c:v>4.7246</c:v>
                </c:pt>
                <c:pt idx="184">
                  <c:v>4.3982</c:v>
                </c:pt>
                <c:pt idx="185">
                  <c:v>4.1866</c:v>
                </c:pt>
                <c:pt idx="186">
                  <c:v>4.456</c:v>
                </c:pt>
                <c:pt idx="187">
                  <c:v>4.2918</c:v>
                </c:pt>
                <c:pt idx="188">
                  <c:v>4.6916</c:v>
                </c:pt>
                <c:pt idx="189">
                  <c:v>4.8634</c:v>
                </c:pt>
                <c:pt idx="190">
                  <c:v>4.9134</c:v>
                </c:pt>
                <c:pt idx="191">
                  <c:v>5.2196</c:v>
                </c:pt>
                <c:pt idx="192">
                  <c:v>5.3097</c:v>
                </c:pt>
                <c:pt idx="193">
                  <c:v>5.5103</c:v>
                </c:pt>
                <c:pt idx="194">
                  <c:v>5.5796</c:v>
                </c:pt>
                <c:pt idx="195">
                  <c:v>5.7558</c:v>
                </c:pt>
                <c:pt idx="196">
                  <c:v>5.7448</c:v>
                </c:pt>
                <c:pt idx="197">
                  <c:v>5.6551</c:v>
                </c:pt>
                <c:pt idx="198">
                  <c:v>5.4849</c:v>
                </c:pt>
                <c:pt idx="199">
                  <c:v>5.2086</c:v>
                </c:pt>
                <c:pt idx="200">
                  <c:v>4.821</c:v>
                </c:pt>
                <c:pt idx="201">
                  <c:v>5.3505</c:v>
                </c:pt>
                <c:pt idx="202">
                  <c:v>5.3367</c:v>
                </c:pt>
                <c:pt idx="203">
                  <c:v>5.3412</c:v>
                </c:pt>
                <c:pt idx="204">
                  <c:v>5.5865</c:v>
                </c:pt>
                <c:pt idx="205">
                  <c:v>5.7948</c:v>
                </c:pt>
                <c:pt idx="206">
                  <c:v>5.9356</c:v>
                </c:pt>
                <c:pt idx="207">
                  <c:v>5.913</c:v>
                </c:pt>
                <c:pt idx="208">
                  <c:v>5.5915</c:v>
                </c:pt>
                <c:pt idx="209">
                  <c:v>5.7779</c:v>
                </c:pt>
                <c:pt idx="210">
                  <c:v>5.7936</c:v>
                </c:pt>
                <c:pt idx="211">
                  <c:v>5.9298</c:v>
                </c:pt>
                <c:pt idx="212">
                  <c:v>6.0686</c:v>
                </c:pt>
                <c:pt idx="213">
                  <c:v>6.0203</c:v>
                </c:pt>
                <c:pt idx="214">
                  <c:v>6.082</c:v>
                </c:pt>
                <c:pt idx="215">
                  <c:v>6.1666</c:v>
                </c:pt>
                <c:pt idx="216">
                  <c:v>6.5586</c:v>
                </c:pt>
                <c:pt idx="217">
                  <c:v>6.6675</c:v>
                </c:pt>
                <c:pt idx="218">
                  <c:v>6.9855</c:v>
                </c:pt>
                <c:pt idx="219">
                  <c:v>7.1112</c:v>
                </c:pt>
                <c:pt idx="220">
                  <c:v>7.2273</c:v>
                </c:pt>
                <c:pt idx="221">
                  <c:v>7.1674</c:v>
                </c:pt>
                <c:pt idx="222">
                  <c:v>7.5736</c:v>
                </c:pt>
                <c:pt idx="223">
                  <c:v>7.3678</c:v>
                </c:pt>
                <c:pt idx="224">
                  <c:v>7.6518</c:v>
                </c:pt>
                <c:pt idx="225">
                  <c:v>7.9472</c:v>
                </c:pt>
                <c:pt idx="226">
                  <c:v>8.0979</c:v>
                </c:pt>
                <c:pt idx="227">
                  <c:v>8.316</c:v>
                </c:pt>
                <c:pt idx="228">
                  <c:v>8.1039</c:v>
                </c:pt>
                <c:pt idx="229">
                  <c:v>8.5285</c:v>
                </c:pt>
                <c:pt idx="230">
                  <c:v>8.5758</c:v>
                </c:pt>
                <c:pt idx="231">
                  <c:v>8.594</c:v>
                </c:pt>
                <c:pt idx="232">
                  <c:v>8.78</c:v>
                </c:pt>
                <c:pt idx="233">
                  <c:v>9.0143</c:v>
                </c:pt>
                <c:pt idx="234">
                  <c:v>8.795</c:v>
                </c:pt>
                <c:pt idx="235">
                  <c:v>9.1935</c:v>
                </c:pt>
                <c:pt idx="236">
                  <c:v>9.0158</c:v>
                </c:pt>
                <c:pt idx="237">
                  <c:v>9.3219</c:v>
                </c:pt>
                <c:pt idx="238">
                  <c:v>9.6095</c:v>
                </c:pt>
                <c:pt idx="239">
                  <c:v>9.6405</c:v>
                </c:pt>
                <c:pt idx="240">
                  <c:v>9.4937</c:v>
                </c:pt>
                <c:pt idx="241">
                  <c:v>9.9775</c:v>
                </c:pt>
                <c:pt idx="242">
                  <c:v>9.9189</c:v>
                </c:pt>
                <c:pt idx="243">
                  <c:v>9.9047</c:v>
                </c:pt>
                <c:pt idx="244">
                  <c:v>10.0478</c:v>
                </c:pt>
                <c:pt idx="245">
                  <c:v>9.8448</c:v>
                </c:pt>
                <c:pt idx="246">
                  <c:v>10.0361</c:v>
                </c:pt>
                <c:pt idx="247">
                  <c:v>9.5141</c:v>
                </c:pt>
                <c:pt idx="248">
                  <c:v>9.2728</c:v>
                </c:pt>
                <c:pt idx="249">
                  <c:v>9.8638</c:v>
                </c:pt>
                <c:pt idx="250">
                  <c:v>9.879</c:v>
                </c:pt>
                <c:pt idx="251">
                  <c:v>9.7179</c:v>
                </c:pt>
                <c:pt idx="252">
                  <c:v>9.2758</c:v>
                </c:pt>
                <c:pt idx="253">
                  <c:v>9.4062</c:v>
                </c:pt>
                <c:pt idx="254">
                  <c:v>10.0641</c:v>
                </c:pt>
                <c:pt idx="255">
                  <c:v>10.1329</c:v>
                </c:pt>
                <c:pt idx="256">
                  <c:v>10.3024</c:v>
                </c:pt>
                <c:pt idx="257">
                  <c:v>10.4535</c:v>
                </c:pt>
                <c:pt idx="258">
                  <c:v>10.7899</c:v>
                </c:pt>
                <c:pt idx="259">
                  <c:v>10.753</c:v>
                </c:pt>
                <c:pt idx="260">
                  <c:v>10.7409</c:v>
                </c:pt>
                <c:pt idx="261">
                  <c:v>10.5286</c:v>
                </c:pt>
                <c:pt idx="262">
                  <c:v>10.9853</c:v>
                </c:pt>
                <c:pt idx="263">
                  <c:v>11.1483</c:v>
                </c:pt>
                <c:pt idx="264">
                  <c:v>11.3953</c:v>
                </c:pt>
                <c:pt idx="265">
                  <c:v>11.8214</c:v>
                </c:pt>
                <c:pt idx="266">
                  <c:v>11.821</c:v>
                </c:pt>
                <c:pt idx="267">
                  <c:v>11.9391</c:v>
                </c:pt>
                <c:pt idx="268">
                  <c:v>12.0978</c:v>
                </c:pt>
                <c:pt idx="269">
                  <c:v>12.1569</c:v>
                </c:pt>
                <c:pt idx="270">
                  <c:v>12.3609</c:v>
                </c:pt>
                <c:pt idx="271">
                  <c:v>12.3403</c:v>
                </c:pt>
                <c:pt idx="272">
                  <c:v>12.6194</c:v>
                </c:pt>
                <c:pt idx="273">
                  <c:v>12.859</c:v>
                </c:pt>
                <c:pt idx="274">
                  <c:v>13.3882</c:v>
                </c:pt>
                <c:pt idx="275">
                  <c:v>13.486</c:v>
                </c:pt>
                <c:pt idx="276">
                  <c:v>14.0961</c:v>
                </c:pt>
                <c:pt idx="277">
                  <c:v>13.5457</c:v>
                </c:pt>
                <c:pt idx="278">
                  <c:v>13.4873</c:v>
                </c:pt>
                <c:pt idx="279">
                  <c:v>13.558</c:v>
                </c:pt>
                <c:pt idx="280">
                  <c:v>13.7418</c:v>
                </c:pt>
                <c:pt idx="281">
                  <c:v>13.8986</c:v>
                </c:pt>
                <c:pt idx="282">
                  <c:v>14.3383</c:v>
                </c:pt>
                <c:pt idx="283">
                  <c:v>14.738</c:v>
                </c:pt>
                <c:pt idx="284">
                  <c:v>14.7762</c:v>
                </c:pt>
                <c:pt idx="285">
                  <c:v>13.8195</c:v>
                </c:pt>
                <c:pt idx="286">
                  <c:v>14.1679</c:v>
                </c:pt>
                <c:pt idx="287">
                  <c:v>12.8927</c:v>
                </c:pt>
                <c:pt idx="288">
                  <c:v>13.969</c:v>
                </c:pt>
                <c:pt idx="289">
                  <c:v>14.4997</c:v>
                </c:pt>
                <c:pt idx="290">
                  <c:v>14.6781</c:v>
                </c:pt>
                <c:pt idx="291">
                  <c:v>15.2305</c:v>
                </c:pt>
                <c:pt idx="292">
                  <c:v>14.399</c:v>
                </c:pt>
                <c:pt idx="293">
                  <c:v>15.4126</c:v>
                </c:pt>
                <c:pt idx="294">
                  <c:v>15.6117</c:v>
                </c:pt>
                <c:pt idx="295">
                  <c:v>15.3704</c:v>
                </c:pt>
                <c:pt idx="296">
                  <c:v>15.6488</c:v>
                </c:pt>
                <c:pt idx="297">
                  <c:v>15.8017</c:v>
                </c:pt>
                <c:pt idx="298">
                  <c:v>16.34</c:v>
                </c:pt>
                <c:pt idx="299">
                  <c:v>16.7173</c:v>
                </c:pt>
                <c:pt idx="300">
                  <c:v>16.7312</c:v>
                </c:pt>
                <c:pt idx="301">
                  <c:v>15.3627</c:v>
                </c:pt>
                <c:pt idx="302">
                  <c:v>13.051</c:v>
                </c:pt>
                <c:pt idx="303">
                  <c:v>14.6389</c:v>
                </c:pt>
                <c:pt idx="304">
                  <c:v>15.5705</c:v>
                </c:pt>
                <c:pt idx="305">
                  <c:v>15.6229</c:v>
                </c:pt>
                <c:pt idx="306">
                  <c:v>16.5383</c:v>
                </c:pt>
                <c:pt idx="307">
                  <c:v>17.1303</c:v>
                </c:pt>
                <c:pt idx="308">
                  <c:v>16.8006</c:v>
                </c:pt>
                <c:pt idx="309">
                  <c:v>16.7113</c:v>
                </c:pt>
                <c:pt idx="310">
                  <c:v>18.5868</c:v>
                </c:pt>
                <c:pt idx="311">
                  <c:v>19.3296</c:v>
                </c:pt>
                <c:pt idx="312">
                  <c:v>19.0897</c:v>
                </c:pt>
                <c:pt idx="313">
                  <c:v>19.6606</c:v>
                </c:pt>
                <c:pt idx="314">
                  <c:v>20.635</c:v>
                </c:pt>
                <c:pt idx="315">
                  <c:v>21.5508</c:v>
                </c:pt>
                <c:pt idx="316">
                  <c:v>21.7307</c:v>
                </c:pt>
                <c:pt idx="317">
                  <c:v>21.8998</c:v>
                </c:pt>
                <c:pt idx="318">
                  <c:v>22.2108</c:v>
                </c:pt>
                <c:pt idx="319">
                  <c:v>22.7038</c:v>
                </c:pt>
                <c:pt idx="320">
                  <c:v>21.6718</c:v>
                </c:pt>
                <c:pt idx="321">
                  <c:v>22.8451</c:v>
                </c:pt>
                <c:pt idx="322">
                  <c:v>22.2595</c:v>
                </c:pt>
                <c:pt idx="323">
                  <c:v>23.4989</c:v>
                </c:pt>
                <c:pt idx="324">
                  <c:v>22.297</c:v>
                </c:pt>
                <c:pt idx="325">
                  <c:v>22.1025</c:v>
                </c:pt>
                <c:pt idx="326">
                  <c:v>22.78</c:v>
                </c:pt>
                <c:pt idx="327">
                  <c:v>21.3485</c:v>
                </c:pt>
                <c:pt idx="328">
                  <c:v>21.5548</c:v>
                </c:pt>
                <c:pt idx="329">
                  <c:v>19.8747</c:v>
                </c:pt>
                <c:pt idx="330">
                  <c:v>21.4527</c:v>
                </c:pt>
                <c:pt idx="331">
                  <c:v>20.8968</c:v>
                </c:pt>
                <c:pt idx="332">
                  <c:v>19.1141</c:v>
                </c:pt>
                <c:pt idx="333">
                  <c:v>20.8385</c:v>
                </c:pt>
                <c:pt idx="334">
                  <c:v>22.1772</c:v>
                </c:pt>
                <c:pt idx="335">
                  <c:v>21.1948</c:v>
                </c:pt>
                <c:pt idx="336">
                  <c:v>22.4111</c:v>
                </c:pt>
                <c:pt idx="337">
                  <c:v>21.7256</c:v>
                </c:pt>
                <c:pt idx="338">
                  <c:v>21.8684</c:v>
                </c:pt>
                <c:pt idx="339">
                  <c:v>21.9777</c:v>
                </c:pt>
                <c:pt idx="340">
                  <c:v>21.2162</c:v>
                </c:pt>
                <c:pt idx="341">
                  <c:v>22.6475</c:v>
                </c:pt>
                <c:pt idx="342">
                  <c:v>23.2965</c:v>
                </c:pt>
                <c:pt idx="343">
                  <c:v>22.6784</c:v>
                </c:pt>
                <c:pt idx="344">
                  <c:v>21.6204</c:v>
                </c:pt>
                <c:pt idx="345">
                  <c:v>20.8902</c:v>
                </c:pt>
                <c:pt idx="346">
                  <c:v>22.6416</c:v>
                </c:pt>
                <c:pt idx="347">
                  <c:v>24.0186</c:v>
                </c:pt>
                <c:pt idx="348">
                  <c:v>23.9955</c:v>
                </c:pt>
                <c:pt idx="349">
                  <c:v>24.9792</c:v>
                </c:pt>
                <c:pt idx="350">
                  <c:v>26.0804</c:v>
                </c:pt>
                <c:pt idx="351">
                  <c:v>24.9179</c:v>
                </c:pt>
                <c:pt idx="352">
                  <c:v>25.5481</c:v>
                </c:pt>
                <c:pt idx="353">
                  <c:v>25.4983</c:v>
                </c:pt>
                <c:pt idx="354">
                  <c:v>26.5175</c:v>
                </c:pt>
                <c:pt idx="355">
                  <c:v>27.2387</c:v>
                </c:pt>
                <c:pt idx="356">
                  <c:v>27.7215</c:v>
                </c:pt>
                <c:pt idx="357">
                  <c:v>27.4046</c:v>
                </c:pt>
                <c:pt idx="358">
                  <c:v>29.1291</c:v>
                </c:pt>
                <c:pt idx="359">
                  <c:v>27.3333</c:v>
                </c:pt>
                <c:pt idx="360">
                  <c:v>28.3955</c:v>
                </c:pt>
                <c:pt idx="361">
                  <c:v>28.1766</c:v>
                </c:pt>
                <c:pt idx="362">
                  <c:v>27.3307</c:v>
                </c:pt>
                <c:pt idx="363">
                  <c:v>26.7889</c:v>
                </c:pt>
                <c:pt idx="364">
                  <c:v>27.7673</c:v>
                </c:pt>
                <c:pt idx="365">
                  <c:v>28.5897</c:v>
                </c:pt>
                <c:pt idx="366">
                  <c:v>28.6787</c:v>
                </c:pt>
                <c:pt idx="367">
                  <c:v>29.4114</c:v>
                </c:pt>
                <c:pt idx="368">
                  <c:v>29.7143</c:v>
                </c:pt>
                <c:pt idx="369">
                  <c:v>29.5171</c:v>
                </c:pt>
                <c:pt idx="370">
                  <c:v>30.1792</c:v>
                </c:pt>
                <c:pt idx="371">
                  <c:v>30.2089</c:v>
                </c:pt>
              </c:numCache>
            </c:numRef>
          </c:val>
          <c:smooth val="0"/>
        </c:ser>
        <c:ser>
          <c:idx val="4"/>
          <c:order val="4"/>
          <c:tx>
            <c:strRef>
              <c:f>Sheet1!$F$1</c:f>
              <c:strCache>
                <c:ptCount val="1"/>
                <c:pt idx="0">
                  <c:v>Maximum diversification</c:v>
                </c:pt>
              </c:strCache>
            </c:strRef>
          </c:tx>
          <c:spPr>
            <a:solidFill>
              <a:srgbClr val="EB6834"/>
            </a:solidFill>
            <a:ln w="22225"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Sheet1!$F$2:$F$373</c:f>
              <c:numCache>
                <c:formatCode>General</c:formatCode>
                <c:ptCount val="372"/>
                <c:pt idx="0">
                  <c:v>0.9881</c:v>
                </c:pt>
                <c:pt idx="1">
                  <c:v>1.0571</c:v>
                </c:pt>
                <c:pt idx="2">
                  <c:v>1.1229</c:v>
                </c:pt>
                <c:pt idx="3">
                  <c:v>1.1288</c:v>
                </c:pt>
                <c:pt idx="4">
                  <c:v>1.1672</c:v>
                </c:pt>
                <c:pt idx="5">
                  <c:v>1.1712</c:v>
                </c:pt>
                <c:pt idx="6">
                  <c:v>1.2282</c:v>
                </c:pt>
                <c:pt idx="7">
                  <c:v>1.2571</c:v>
                </c:pt>
                <c:pt idx="8">
                  <c:v>1.2622</c:v>
                </c:pt>
                <c:pt idx="9">
                  <c:v>1.2095</c:v>
                </c:pt>
                <c:pt idx="10">
                  <c:v>1.2916</c:v>
                </c:pt>
                <c:pt idx="11">
                  <c:v>1.3038</c:v>
                </c:pt>
                <c:pt idx="12">
                  <c:v>1.363</c:v>
                </c:pt>
                <c:pt idx="13">
                  <c:v>1.3949</c:v>
                </c:pt>
                <c:pt idx="14">
                  <c:v>1.3897</c:v>
                </c:pt>
                <c:pt idx="15">
                  <c:v>1.4516</c:v>
                </c:pt>
                <c:pt idx="16">
                  <c:v>1.4858</c:v>
                </c:pt>
                <c:pt idx="17">
                  <c:v>1.4168</c:v>
                </c:pt>
                <c:pt idx="18">
                  <c:v>1.3407</c:v>
                </c:pt>
                <c:pt idx="19">
                  <c:v>1.3863</c:v>
                </c:pt>
                <c:pt idx="20">
                  <c:v>1.4424</c:v>
                </c:pt>
                <c:pt idx="21">
                  <c:v>1.452</c:v>
                </c:pt>
                <c:pt idx="22">
                  <c:v>1.5361</c:v>
                </c:pt>
                <c:pt idx="23">
                  <c:v>1.5372</c:v>
                </c:pt>
                <c:pt idx="24">
                  <c:v>1.6036</c:v>
                </c:pt>
                <c:pt idx="25">
                  <c:v>1.596</c:v>
                </c:pt>
                <c:pt idx="26">
                  <c:v>1.5253</c:v>
                </c:pt>
                <c:pt idx="27">
                  <c:v>1.5181</c:v>
                </c:pt>
                <c:pt idx="28">
                  <c:v>1.6244</c:v>
                </c:pt>
                <c:pt idx="29">
                  <c:v>1.6624</c:v>
                </c:pt>
                <c:pt idx="30">
                  <c:v>1.8542</c:v>
                </c:pt>
                <c:pt idx="31">
                  <c:v>1.8673</c:v>
                </c:pt>
                <c:pt idx="32">
                  <c:v>1.9537</c:v>
                </c:pt>
                <c:pt idx="33">
                  <c:v>1.8431</c:v>
                </c:pt>
                <c:pt idx="34">
                  <c:v>1.7691</c:v>
                </c:pt>
                <c:pt idx="35">
                  <c:v>1.7438</c:v>
                </c:pt>
                <c:pt idx="36">
                  <c:v>1.6959</c:v>
                </c:pt>
                <c:pt idx="37">
                  <c:v>1.856</c:v>
                </c:pt>
                <c:pt idx="38">
                  <c:v>1.9678</c:v>
                </c:pt>
                <c:pt idx="39">
                  <c:v>1.9253</c:v>
                </c:pt>
                <c:pt idx="40">
                  <c:v>1.8273</c:v>
                </c:pt>
                <c:pt idx="41">
                  <c:v>1.8742</c:v>
                </c:pt>
                <c:pt idx="42">
                  <c:v>1.7638</c:v>
                </c:pt>
                <c:pt idx="43">
                  <c:v>1.4724</c:v>
                </c:pt>
                <c:pt idx="44">
                  <c:v>1.5802</c:v>
                </c:pt>
                <c:pt idx="45">
                  <c:v>1.634</c:v>
                </c:pt>
                <c:pt idx="46">
                  <c:v>1.7316</c:v>
                </c:pt>
                <c:pt idx="47">
                  <c:v>1.8426</c:v>
                </c:pt>
                <c:pt idx="48">
                  <c:v>1.8351</c:v>
                </c:pt>
                <c:pt idx="49">
                  <c:v>1.7278</c:v>
                </c:pt>
                <c:pt idx="50">
                  <c:v>1.8003</c:v>
                </c:pt>
                <c:pt idx="51">
                  <c:v>1.8945</c:v>
                </c:pt>
                <c:pt idx="52">
                  <c:v>1.9531</c:v>
                </c:pt>
                <c:pt idx="53">
                  <c:v>1.9509</c:v>
                </c:pt>
                <c:pt idx="54">
                  <c:v>1.9172</c:v>
                </c:pt>
                <c:pt idx="55">
                  <c:v>1.9113</c:v>
                </c:pt>
                <c:pt idx="56">
                  <c:v>1.8182</c:v>
                </c:pt>
                <c:pt idx="57">
                  <c:v>1.8671</c:v>
                </c:pt>
                <c:pt idx="58">
                  <c:v>1.8622</c:v>
                </c:pt>
                <c:pt idx="59">
                  <c:v>1.9182</c:v>
                </c:pt>
                <c:pt idx="60">
                  <c:v>1.8714</c:v>
                </c:pt>
                <c:pt idx="61">
                  <c:v>1.8826</c:v>
                </c:pt>
                <c:pt idx="62">
                  <c:v>1.9182</c:v>
                </c:pt>
                <c:pt idx="63">
                  <c:v>1.9854</c:v>
                </c:pt>
                <c:pt idx="64">
                  <c:v>1.9973</c:v>
                </c:pt>
                <c:pt idx="65">
                  <c:v>1.9363</c:v>
                </c:pt>
                <c:pt idx="66">
                  <c:v>1.9741</c:v>
                </c:pt>
                <c:pt idx="67">
                  <c:v>2.1701</c:v>
                </c:pt>
                <c:pt idx="68">
                  <c:v>2.3856</c:v>
                </c:pt>
                <c:pt idx="69">
                  <c:v>2.3361</c:v>
                </c:pt>
                <c:pt idx="70">
                  <c:v>2.3777</c:v>
                </c:pt>
                <c:pt idx="71">
                  <c:v>2.487</c:v>
                </c:pt>
                <c:pt idx="72">
                  <c:v>2.2893</c:v>
                </c:pt>
                <c:pt idx="73">
                  <c:v>2.4022</c:v>
                </c:pt>
                <c:pt idx="74">
                  <c:v>2.3702</c:v>
                </c:pt>
                <c:pt idx="75">
                  <c:v>2.4735</c:v>
                </c:pt>
                <c:pt idx="76">
                  <c:v>2.5558</c:v>
                </c:pt>
                <c:pt idx="77">
                  <c:v>2.5039</c:v>
                </c:pt>
                <c:pt idx="78">
                  <c:v>2.453</c:v>
                </c:pt>
                <c:pt idx="79">
                  <c:v>2.4817</c:v>
                </c:pt>
                <c:pt idx="80">
                  <c:v>2.3585</c:v>
                </c:pt>
                <c:pt idx="81">
                  <c:v>2.3543</c:v>
                </c:pt>
                <c:pt idx="82">
                  <c:v>2.3868</c:v>
                </c:pt>
                <c:pt idx="83">
                  <c:v>2.4642</c:v>
                </c:pt>
                <c:pt idx="84">
                  <c:v>2.461</c:v>
                </c:pt>
                <c:pt idx="85">
                  <c:v>2.4701</c:v>
                </c:pt>
                <c:pt idx="86">
                  <c:v>2.6266</c:v>
                </c:pt>
                <c:pt idx="87">
                  <c:v>2.6845</c:v>
                </c:pt>
                <c:pt idx="88">
                  <c:v>2.6464</c:v>
                </c:pt>
                <c:pt idx="89">
                  <c:v>2.5367</c:v>
                </c:pt>
                <c:pt idx="90">
                  <c:v>2.3548</c:v>
                </c:pt>
                <c:pt idx="91">
                  <c:v>2.3923</c:v>
                </c:pt>
                <c:pt idx="92">
                  <c:v>2.2392</c:v>
                </c:pt>
                <c:pt idx="93">
                  <c:v>2.223</c:v>
                </c:pt>
                <c:pt idx="94">
                  <c:v>2.2258</c:v>
                </c:pt>
                <c:pt idx="95">
                  <c:v>2.2878</c:v>
                </c:pt>
                <c:pt idx="96">
                  <c:v>2.2276</c:v>
                </c:pt>
                <c:pt idx="97">
                  <c:v>2.164</c:v>
                </c:pt>
                <c:pt idx="98">
                  <c:v>2.2181</c:v>
                </c:pt>
                <c:pt idx="99">
                  <c:v>2.2956</c:v>
                </c:pt>
                <c:pt idx="100">
                  <c:v>2.4829</c:v>
                </c:pt>
                <c:pt idx="101">
                  <c:v>2.5031</c:v>
                </c:pt>
                <c:pt idx="102">
                  <c:v>2.5028</c:v>
                </c:pt>
                <c:pt idx="103">
                  <c:v>2.534</c:v>
                </c:pt>
                <c:pt idx="104">
                  <c:v>2.5503</c:v>
                </c:pt>
                <c:pt idx="105">
                  <c:v>2.6498</c:v>
                </c:pt>
                <c:pt idx="106">
                  <c:v>2.7355</c:v>
                </c:pt>
                <c:pt idx="107">
                  <c:v>2.8262</c:v>
                </c:pt>
                <c:pt idx="108">
                  <c:v>2.8658</c:v>
                </c:pt>
                <c:pt idx="109">
                  <c:v>2.9566</c:v>
                </c:pt>
                <c:pt idx="110">
                  <c:v>2.952</c:v>
                </c:pt>
                <c:pt idx="111">
                  <c:v>2.9894</c:v>
                </c:pt>
                <c:pt idx="112">
                  <c:v>3.0256</c:v>
                </c:pt>
                <c:pt idx="113">
                  <c:v>3.107</c:v>
                </c:pt>
                <c:pt idx="114">
                  <c:v>2.9916</c:v>
                </c:pt>
                <c:pt idx="115">
                  <c:v>3.0231</c:v>
                </c:pt>
                <c:pt idx="116">
                  <c:v>3.0835</c:v>
                </c:pt>
                <c:pt idx="117">
                  <c:v>3.1135</c:v>
                </c:pt>
                <c:pt idx="118">
                  <c:v>3.292</c:v>
                </c:pt>
                <c:pt idx="119">
                  <c:v>3.4114</c:v>
                </c:pt>
                <c:pt idx="120">
                  <c:v>3.3963</c:v>
                </c:pt>
                <c:pt idx="121">
                  <c:v>3.4648</c:v>
                </c:pt>
                <c:pt idx="122">
                  <c:v>3.471</c:v>
                </c:pt>
                <c:pt idx="123">
                  <c:v>3.5033</c:v>
                </c:pt>
                <c:pt idx="124">
                  <c:v>3.5873</c:v>
                </c:pt>
                <c:pt idx="125">
                  <c:v>3.648</c:v>
                </c:pt>
                <c:pt idx="126">
                  <c:v>3.6852</c:v>
                </c:pt>
                <c:pt idx="127">
                  <c:v>3.6672</c:v>
                </c:pt>
                <c:pt idx="128">
                  <c:v>3.6807</c:v>
                </c:pt>
                <c:pt idx="129">
                  <c:v>3.5921</c:v>
                </c:pt>
                <c:pt idx="130">
                  <c:v>3.7174</c:v>
                </c:pt>
                <c:pt idx="131">
                  <c:v>3.7479</c:v>
                </c:pt>
                <c:pt idx="132">
                  <c:v>3.8517</c:v>
                </c:pt>
                <c:pt idx="133">
                  <c:v>3.8727</c:v>
                </c:pt>
                <c:pt idx="134">
                  <c:v>3.8889</c:v>
                </c:pt>
                <c:pt idx="135">
                  <c:v>3.8307</c:v>
                </c:pt>
                <c:pt idx="136">
                  <c:v>3.7394</c:v>
                </c:pt>
                <c:pt idx="137">
                  <c:v>3.7343</c:v>
                </c:pt>
                <c:pt idx="138">
                  <c:v>3.8189</c:v>
                </c:pt>
                <c:pt idx="139">
                  <c:v>3.86</c:v>
                </c:pt>
                <c:pt idx="140">
                  <c:v>3.8505</c:v>
                </c:pt>
                <c:pt idx="141">
                  <c:v>3.8599</c:v>
                </c:pt>
                <c:pt idx="142">
                  <c:v>3.9906</c:v>
                </c:pt>
                <c:pt idx="143">
                  <c:v>3.9735</c:v>
                </c:pt>
                <c:pt idx="144">
                  <c:v>4.1255</c:v>
                </c:pt>
                <c:pt idx="145">
                  <c:v>4.1506</c:v>
                </c:pt>
                <c:pt idx="146">
                  <c:v>4.1742</c:v>
                </c:pt>
                <c:pt idx="147">
                  <c:v>4.3404</c:v>
                </c:pt>
                <c:pt idx="148">
                  <c:v>4.49</c:v>
                </c:pt>
                <c:pt idx="149">
                  <c:v>4.4331</c:v>
                </c:pt>
                <c:pt idx="150">
                  <c:v>4.3814</c:v>
                </c:pt>
                <c:pt idx="151">
                  <c:v>4.4652</c:v>
                </c:pt>
                <c:pt idx="152">
                  <c:v>4.7032</c:v>
                </c:pt>
                <c:pt idx="153">
                  <c:v>4.9352</c:v>
                </c:pt>
                <c:pt idx="154">
                  <c:v>4.7645</c:v>
                </c:pt>
                <c:pt idx="155">
                  <c:v>4.6863</c:v>
                </c:pt>
                <c:pt idx="156">
                  <c:v>4.4191</c:v>
                </c:pt>
                <c:pt idx="157">
                  <c:v>4.191</c:v>
                </c:pt>
                <c:pt idx="158">
                  <c:v>4.08</c:v>
                </c:pt>
                <c:pt idx="159">
                  <c:v>4.2597</c:v>
                </c:pt>
                <c:pt idx="160">
                  <c:v>4.3236</c:v>
                </c:pt>
                <c:pt idx="161">
                  <c:v>4.0337</c:v>
                </c:pt>
                <c:pt idx="162">
                  <c:v>3.9514</c:v>
                </c:pt>
                <c:pt idx="163">
                  <c:v>3.8848</c:v>
                </c:pt>
                <c:pt idx="164">
                  <c:v>3.4574</c:v>
                </c:pt>
                <c:pt idx="165">
                  <c:v>3.0682</c:v>
                </c:pt>
                <c:pt idx="166">
                  <c:v>2.8431</c:v>
                </c:pt>
                <c:pt idx="167">
                  <c:v>2.7887</c:v>
                </c:pt>
                <c:pt idx="168">
                  <c:v>2.501</c:v>
                </c:pt>
                <c:pt idx="169">
                  <c:v>2.2889</c:v>
                </c:pt>
                <c:pt idx="170">
                  <c:v>2.5175</c:v>
                </c:pt>
                <c:pt idx="171">
                  <c:v>2.5695</c:v>
                </c:pt>
                <c:pt idx="172">
                  <c:v>2.6007</c:v>
                </c:pt>
                <c:pt idx="173">
                  <c:v>2.6284</c:v>
                </c:pt>
                <c:pt idx="174">
                  <c:v>2.7309</c:v>
                </c:pt>
                <c:pt idx="175">
                  <c:v>2.7863</c:v>
                </c:pt>
                <c:pt idx="176">
                  <c:v>2.9018</c:v>
                </c:pt>
                <c:pt idx="177">
                  <c:v>2.7137</c:v>
                </c:pt>
                <c:pt idx="178">
                  <c:v>2.8446</c:v>
                </c:pt>
                <c:pt idx="179">
                  <c:v>2.9472</c:v>
                </c:pt>
                <c:pt idx="180">
                  <c:v>2.9741</c:v>
                </c:pt>
                <c:pt idx="181">
                  <c:v>3.1118</c:v>
                </c:pt>
                <c:pt idx="182">
                  <c:v>3.2428</c:v>
                </c:pt>
                <c:pt idx="183">
                  <c:v>3.3086</c:v>
                </c:pt>
                <c:pt idx="184">
                  <c:v>3.0561</c:v>
                </c:pt>
                <c:pt idx="185">
                  <c:v>2.8929</c:v>
                </c:pt>
                <c:pt idx="186">
                  <c:v>3.0434</c:v>
                </c:pt>
                <c:pt idx="187">
                  <c:v>2.9714</c:v>
                </c:pt>
                <c:pt idx="188">
                  <c:v>3.2383</c:v>
                </c:pt>
                <c:pt idx="189">
                  <c:v>3.3266</c:v>
                </c:pt>
                <c:pt idx="190">
                  <c:v>3.335</c:v>
                </c:pt>
                <c:pt idx="191">
                  <c:v>3.4989</c:v>
                </c:pt>
                <c:pt idx="192">
                  <c:v>3.6276</c:v>
                </c:pt>
                <c:pt idx="193">
                  <c:v>3.7906</c:v>
                </c:pt>
                <c:pt idx="194">
                  <c:v>3.8943</c:v>
                </c:pt>
                <c:pt idx="195">
                  <c:v>3.9881</c:v>
                </c:pt>
                <c:pt idx="196">
                  <c:v>4.0282</c:v>
                </c:pt>
                <c:pt idx="197">
                  <c:v>3.9471</c:v>
                </c:pt>
                <c:pt idx="198">
                  <c:v>3.9899</c:v>
                </c:pt>
                <c:pt idx="199">
                  <c:v>3.8302</c:v>
                </c:pt>
                <c:pt idx="200">
                  <c:v>3.4084</c:v>
                </c:pt>
                <c:pt idx="201">
                  <c:v>3.6917</c:v>
                </c:pt>
                <c:pt idx="202">
                  <c:v>3.5674</c:v>
                </c:pt>
                <c:pt idx="203">
                  <c:v>3.494</c:v>
                </c:pt>
                <c:pt idx="204">
                  <c:v>3.7301</c:v>
                </c:pt>
                <c:pt idx="205">
                  <c:v>3.8006</c:v>
                </c:pt>
                <c:pt idx="206">
                  <c:v>3.8278</c:v>
                </c:pt>
                <c:pt idx="207">
                  <c:v>3.7127</c:v>
                </c:pt>
                <c:pt idx="208">
                  <c:v>3.6378</c:v>
                </c:pt>
                <c:pt idx="209">
                  <c:v>3.6938</c:v>
                </c:pt>
                <c:pt idx="210">
                  <c:v>3.5384</c:v>
                </c:pt>
                <c:pt idx="211">
                  <c:v>3.6464</c:v>
                </c:pt>
                <c:pt idx="212">
                  <c:v>3.8214</c:v>
                </c:pt>
                <c:pt idx="213">
                  <c:v>3.666</c:v>
                </c:pt>
                <c:pt idx="214">
                  <c:v>3.7049</c:v>
                </c:pt>
                <c:pt idx="215">
                  <c:v>3.8045</c:v>
                </c:pt>
                <c:pt idx="216">
                  <c:v>4.0272</c:v>
                </c:pt>
                <c:pt idx="217">
                  <c:v>4.1406</c:v>
                </c:pt>
                <c:pt idx="218">
                  <c:v>4.4076</c:v>
                </c:pt>
                <c:pt idx="219">
                  <c:v>4.7101</c:v>
                </c:pt>
                <c:pt idx="220">
                  <c:v>4.8955</c:v>
                </c:pt>
                <c:pt idx="221">
                  <c:v>4.8327</c:v>
                </c:pt>
                <c:pt idx="222">
                  <c:v>5.2081</c:v>
                </c:pt>
                <c:pt idx="223">
                  <c:v>5.1634</c:v>
                </c:pt>
                <c:pt idx="224">
                  <c:v>5.4424</c:v>
                </c:pt>
                <c:pt idx="225">
                  <c:v>5.5467</c:v>
                </c:pt>
                <c:pt idx="226">
                  <c:v>5.5031</c:v>
                </c:pt>
                <c:pt idx="227">
                  <c:v>5.6657</c:v>
                </c:pt>
                <c:pt idx="228">
                  <c:v>5.7007</c:v>
                </c:pt>
                <c:pt idx="229">
                  <c:v>6.1536</c:v>
                </c:pt>
                <c:pt idx="230">
                  <c:v>5.8739</c:v>
                </c:pt>
                <c:pt idx="231">
                  <c:v>5.7818</c:v>
                </c:pt>
                <c:pt idx="232">
                  <c:v>6.0126</c:v>
                </c:pt>
                <c:pt idx="233">
                  <c:v>6.3159</c:v>
                </c:pt>
                <c:pt idx="234">
                  <c:v>6.3186</c:v>
                </c:pt>
                <c:pt idx="235">
                  <c:v>6.8292</c:v>
                </c:pt>
                <c:pt idx="236">
                  <c:v>6.759</c:v>
                </c:pt>
                <c:pt idx="237">
                  <c:v>7.0681</c:v>
                </c:pt>
                <c:pt idx="238">
                  <c:v>7.3978</c:v>
                </c:pt>
                <c:pt idx="239">
                  <c:v>7.3286</c:v>
                </c:pt>
                <c:pt idx="240">
                  <c:v>7.7176</c:v>
                </c:pt>
                <c:pt idx="241">
                  <c:v>8.102</c:v>
                </c:pt>
                <c:pt idx="242">
                  <c:v>8.0657</c:v>
                </c:pt>
                <c:pt idx="243">
                  <c:v>8.1613</c:v>
                </c:pt>
                <c:pt idx="244">
                  <c:v>8.3364</c:v>
                </c:pt>
                <c:pt idx="245">
                  <c:v>8.105</c:v>
                </c:pt>
                <c:pt idx="246">
                  <c:v>8.3254</c:v>
                </c:pt>
                <c:pt idx="247">
                  <c:v>7.8849</c:v>
                </c:pt>
                <c:pt idx="248">
                  <c:v>7.6077</c:v>
                </c:pt>
                <c:pt idx="249">
                  <c:v>7.8861</c:v>
                </c:pt>
                <c:pt idx="250">
                  <c:v>7.8721</c:v>
                </c:pt>
                <c:pt idx="251">
                  <c:v>8.0031</c:v>
                </c:pt>
                <c:pt idx="252">
                  <c:v>7.7401</c:v>
                </c:pt>
                <c:pt idx="253">
                  <c:v>7.9887</c:v>
                </c:pt>
                <c:pt idx="254">
                  <c:v>8.4874</c:v>
                </c:pt>
                <c:pt idx="255">
                  <c:v>8.4768</c:v>
                </c:pt>
                <c:pt idx="256">
                  <c:v>8.6452</c:v>
                </c:pt>
                <c:pt idx="257">
                  <c:v>9.0249</c:v>
                </c:pt>
                <c:pt idx="258">
                  <c:v>9.299</c:v>
                </c:pt>
                <c:pt idx="259">
                  <c:v>8.961</c:v>
                </c:pt>
                <c:pt idx="260">
                  <c:v>8.9446</c:v>
                </c:pt>
                <c:pt idx="261">
                  <c:v>8.7205</c:v>
                </c:pt>
                <c:pt idx="262">
                  <c:v>8.5167</c:v>
                </c:pt>
                <c:pt idx="263">
                  <c:v>8.8587</c:v>
                </c:pt>
                <c:pt idx="264">
                  <c:v>9.0614</c:v>
                </c:pt>
                <c:pt idx="265">
                  <c:v>9.4065</c:v>
                </c:pt>
                <c:pt idx="266">
                  <c:v>9.5129</c:v>
                </c:pt>
                <c:pt idx="267">
                  <c:v>9.6757</c:v>
                </c:pt>
                <c:pt idx="268">
                  <c:v>9.887</c:v>
                </c:pt>
                <c:pt idx="269">
                  <c:v>9.7489</c:v>
                </c:pt>
                <c:pt idx="270">
                  <c:v>9.9435</c:v>
                </c:pt>
                <c:pt idx="271">
                  <c:v>10.0203</c:v>
                </c:pt>
                <c:pt idx="272">
                  <c:v>9.9024</c:v>
                </c:pt>
                <c:pt idx="273">
                  <c:v>10.164</c:v>
                </c:pt>
                <c:pt idx="274">
                  <c:v>10.5991</c:v>
                </c:pt>
                <c:pt idx="275">
                  <c:v>10.4134</c:v>
                </c:pt>
                <c:pt idx="276">
                  <c:v>10.658</c:v>
                </c:pt>
                <c:pt idx="277">
                  <c:v>10.3291</c:v>
                </c:pt>
                <c:pt idx="278">
                  <c:v>10.5154</c:v>
                </c:pt>
                <c:pt idx="279">
                  <c:v>10.7314</c:v>
                </c:pt>
                <c:pt idx="280">
                  <c:v>10.7813</c:v>
                </c:pt>
                <c:pt idx="281">
                  <c:v>11.1329</c:v>
                </c:pt>
                <c:pt idx="282">
                  <c:v>11.1098</c:v>
                </c:pt>
                <c:pt idx="283">
                  <c:v>11.6318</c:v>
                </c:pt>
                <c:pt idx="284">
                  <c:v>11.6181</c:v>
                </c:pt>
                <c:pt idx="285">
                  <c:v>11.2861</c:v>
                </c:pt>
                <c:pt idx="286">
                  <c:v>11.3026</c:v>
                </c:pt>
                <c:pt idx="287">
                  <c:v>10.4908</c:v>
                </c:pt>
                <c:pt idx="288">
                  <c:v>10.9603</c:v>
                </c:pt>
                <c:pt idx="289">
                  <c:v>11.3172</c:v>
                </c:pt>
                <c:pt idx="290">
                  <c:v>11.4962</c:v>
                </c:pt>
                <c:pt idx="291">
                  <c:v>11.8182</c:v>
                </c:pt>
                <c:pt idx="292">
                  <c:v>11.2777</c:v>
                </c:pt>
                <c:pt idx="293">
                  <c:v>12.0378</c:v>
                </c:pt>
                <c:pt idx="294">
                  <c:v>12.3029</c:v>
                </c:pt>
                <c:pt idx="295">
                  <c:v>12.3307</c:v>
                </c:pt>
                <c:pt idx="296">
                  <c:v>12.2426</c:v>
                </c:pt>
                <c:pt idx="297">
                  <c:v>12.2157</c:v>
                </c:pt>
                <c:pt idx="298">
                  <c:v>12.5387</c:v>
                </c:pt>
                <c:pt idx="299">
                  <c:v>12.8784</c:v>
                </c:pt>
                <c:pt idx="300">
                  <c:v>13.3264</c:v>
                </c:pt>
                <c:pt idx="301">
                  <c:v>12.7275</c:v>
                </c:pt>
                <c:pt idx="302">
                  <c:v>11.52</c:v>
                </c:pt>
                <c:pt idx="303">
                  <c:v>13.2581</c:v>
                </c:pt>
                <c:pt idx="304">
                  <c:v>14.1797</c:v>
                </c:pt>
                <c:pt idx="305">
                  <c:v>14.0851</c:v>
                </c:pt>
                <c:pt idx="306">
                  <c:v>15.2053</c:v>
                </c:pt>
                <c:pt idx="307">
                  <c:v>15.6154</c:v>
                </c:pt>
                <c:pt idx="308">
                  <c:v>15.3834</c:v>
                </c:pt>
                <c:pt idx="309">
                  <c:v>15.2512</c:v>
                </c:pt>
                <c:pt idx="310">
                  <c:v>15.8634</c:v>
                </c:pt>
                <c:pt idx="311">
                  <c:v>16.726</c:v>
                </c:pt>
                <c:pt idx="312">
                  <c:v>17.0401</c:v>
                </c:pt>
                <c:pt idx="313">
                  <c:v>16.6674</c:v>
                </c:pt>
                <c:pt idx="314">
                  <c:v>16.3038</c:v>
                </c:pt>
                <c:pt idx="315">
                  <c:v>16.538</c:v>
                </c:pt>
                <c:pt idx="316">
                  <c:v>16.3983</c:v>
                </c:pt>
                <c:pt idx="317">
                  <c:v>17.4773</c:v>
                </c:pt>
                <c:pt idx="318">
                  <c:v>17.1762</c:v>
                </c:pt>
                <c:pt idx="319">
                  <c:v>17.2655</c:v>
                </c:pt>
                <c:pt idx="320">
                  <c:v>16.1653</c:v>
                </c:pt>
                <c:pt idx="321">
                  <c:v>16.8933</c:v>
                </c:pt>
                <c:pt idx="322">
                  <c:v>16.0002</c:v>
                </c:pt>
                <c:pt idx="323">
                  <c:v>16.1118</c:v>
                </c:pt>
                <c:pt idx="324">
                  <c:v>15.0979</c:v>
                </c:pt>
                <c:pt idx="325">
                  <c:v>15.2991</c:v>
                </c:pt>
                <c:pt idx="326">
                  <c:v>16.1276</c:v>
                </c:pt>
                <c:pt idx="327">
                  <c:v>14.8</c:v>
                </c:pt>
                <c:pt idx="328">
                  <c:v>14.786</c:v>
                </c:pt>
                <c:pt idx="329">
                  <c:v>13.7305</c:v>
                </c:pt>
                <c:pt idx="330">
                  <c:v>14.6154</c:v>
                </c:pt>
                <c:pt idx="331">
                  <c:v>14.6821</c:v>
                </c:pt>
                <c:pt idx="332">
                  <c:v>14.3221</c:v>
                </c:pt>
                <c:pt idx="333">
                  <c:v>15.5286</c:v>
                </c:pt>
                <c:pt idx="334">
                  <c:v>16.3417</c:v>
                </c:pt>
                <c:pt idx="335">
                  <c:v>15.6553</c:v>
                </c:pt>
                <c:pt idx="336">
                  <c:v>16.4906</c:v>
                </c:pt>
                <c:pt idx="337">
                  <c:v>15.8293</c:v>
                </c:pt>
                <c:pt idx="338">
                  <c:v>16.5566</c:v>
                </c:pt>
                <c:pt idx="339">
                  <c:v>16.4131</c:v>
                </c:pt>
                <c:pt idx="340">
                  <c:v>16.2496</c:v>
                </c:pt>
                <c:pt idx="341">
                  <c:v>16.94</c:v>
                </c:pt>
                <c:pt idx="342">
                  <c:v>16.9003</c:v>
                </c:pt>
                <c:pt idx="343">
                  <c:v>16.8903</c:v>
                </c:pt>
                <c:pt idx="344">
                  <c:v>16.2576</c:v>
                </c:pt>
                <c:pt idx="345">
                  <c:v>15.4497</c:v>
                </c:pt>
                <c:pt idx="346">
                  <c:v>16.3052</c:v>
                </c:pt>
                <c:pt idx="347">
                  <c:v>17.5133</c:v>
                </c:pt>
                <c:pt idx="348">
                  <c:v>17.1458</c:v>
                </c:pt>
                <c:pt idx="349">
                  <c:v>17.2989</c:v>
                </c:pt>
                <c:pt idx="350">
                  <c:v>17.5943</c:v>
                </c:pt>
                <c:pt idx="351">
                  <c:v>17.0944</c:v>
                </c:pt>
                <c:pt idx="352">
                  <c:v>17.6112</c:v>
                </c:pt>
                <c:pt idx="353">
                  <c:v>18.4959</c:v>
                </c:pt>
                <c:pt idx="354">
                  <c:v>18.4638</c:v>
                </c:pt>
                <c:pt idx="355">
                  <c:v>18.9496</c:v>
                </c:pt>
                <c:pt idx="356">
                  <c:v>18.7757</c:v>
                </c:pt>
                <c:pt idx="357">
                  <c:v>18.2415</c:v>
                </c:pt>
                <c:pt idx="358">
                  <c:v>18.9378</c:v>
                </c:pt>
                <c:pt idx="359">
                  <c:v>18.1641</c:v>
                </c:pt>
                <c:pt idx="360">
                  <c:v>18.9234</c:v>
                </c:pt>
                <c:pt idx="361">
                  <c:v>19.0221</c:v>
                </c:pt>
                <c:pt idx="362">
                  <c:v>18.9863</c:v>
                </c:pt>
                <c:pt idx="363">
                  <c:v>17.8154</c:v>
                </c:pt>
                <c:pt idx="364">
                  <c:v>18.2508</c:v>
                </c:pt>
                <c:pt idx="365">
                  <c:v>18.8752</c:v>
                </c:pt>
                <c:pt idx="366">
                  <c:v>18.9714</c:v>
                </c:pt>
                <c:pt idx="367">
                  <c:v>19.5466</c:v>
                </c:pt>
                <c:pt idx="368">
                  <c:v>20.117</c:v>
                </c:pt>
                <c:pt idx="369">
                  <c:v>20.2483</c:v>
                </c:pt>
                <c:pt idx="370">
                  <c:v>21.0894</c:v>
                </c:pt>
                <c:pt idx="371">
                  <c:v>21.1562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logBase val="10"/>
          <c:orientation val="minMax"/>
          <c:max val="100"/>
          <c:min val="1"/>
        </c:scaling>
        <c:delete val="0"/>
        <c:axPos val="l"/>
        <c:majorGridlines>
          <c:spPr>
            <a:ln w="6350" cap="flat">
              <a:solidFill>
                <a:srgbClr val="E3E7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Dot-com bust</a:t>
            </a:r>
          </a:p>
        </c:rich>
      </c:tx>
      <c:layout/>
      <c:overlay val="0"/>
    </c:title>
    <c:autoTitleDeleted val="0"/>
    <c:plotArea>
      <c:layout/>
      <c:lineChart>
        <c:varyColors val="0"/>
        <c:ser>
          <c:idx val="0"/>
          <c:order val="0"/>
          <c:tx>
            <c:strRef>
              <c:f>Sheet1!$B$1</c:f>
              <c:strCache>
                <c:ptCount val="1"/>
                <c:pt idx="0">
                  <c:v>Equally weighted</c:v>
                </c:pt>
              </c:strCache>
            </c:strRef>
          </c:tx>
          <c:spPr>
            <a:solidFill>
              <a:srgbClr val="EDA100"/>
            </a:solidFill>
            <a:ln w="19050" cap="flat">
              <a:solidFill>
                <a:srgbClr val="EDA100"/>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Sheet1!$B$2:$B$75</c:f>
              <c:numCache>
                <c:formatCode>General</c:formatCode>
                <c:ptCount val="74"/>
                <c:pt idx="0">
                  <c:v>1</c:v>
                </c:pt>
                <c:pt idx="1">
                  <c:v>0.9906</c:v>
                </c:pt>
                <c:pt idx="2">
                  <c:v>1.0003</c:v>
                </c:pt>
                <c:pt idx="3">
                  <c:v>0.9322</c:v>
                </c:pt>
                <c:pt idx="4">
                  <c:v>0.9933</c:v>
                </c:pt>
                <c:pt idx="5">
                  <c:v>1.0238</c:v>
                </c:pt>
                <c:pt idx="6">
                  <c:v>0.9694</c:v>
                </c:pt>
                <c:pt idx="7">
                  <c:v>0.9183</c:v>
                </c:pt>
                <c:pt idx="8">
                  <c:v>0.996</c:v>
                </c:pt>
                <c:pt idx="9">
                  <c:v>1.0137</c:v>
                </c:pt>
                <c:pt idx="10">
                  <c:v>1.0027</c:v>
                </c:pt>
                <c:pt idx="11">
                  <c:v>0.9874</c:v>
                </c:pt>
                <c:pt idx="12">
                  <c:v>0.9419</c:v>
                </c:pt>
                <c:pt idx="13">
                  <c:v>0.8388</c:v>
                </c:pt>
                <c:pt idx="14">
                  <c:v>0.8612</c:v>
                </c:pt>
                <c:pt idx="15">
                  <c:v>0.9348</c:v>
                </c:pt>
                <c:pt idx="16">
                  <c:v>0.9623</c:v>
                </c:pt>
                <c:pt idx="17">
                  <c:v>0.9602</c:v>
                </c:pt>
                <c:pt idx="18">
                  <c:v>0.9441</c:v>
                </c:pt>
                <c:pt idx="19">
                  <c:v>0.9988</c:v>
                </c:pt>
                <c:pt idx="20">
                  <c:v>0.9677</c:v>
                </c:pt>
                <c:pt idx="21">
                  <c:v>0.9605</c:v>
                </c:pt>
                <c:pt idx="22">
                  <c:v>0.8912</c:v>
                </c:pt>
                <c:pt idx="23">
                  <c:v>0.8107</c:v>
                </c:pt>
                <c:pt idx="24">
                  <c:v>0.8147</c:v>
                </c:pt>
                <c:pt idx="25">
                  <c:v>0.737</c:v>
                </c:pt>
                <c:pt idx="26">
                  <c:v>0.7826</c:v>
                </c:pt>
                <c:pt idx="27">
                  <c:v>0.8341</c:v>
                </c:pt>
                <c:pt idx="28">
                  <c:v>0.7946</c:v>
                </c:pt>
                <c:pt idx="29">
                  <c:v>0.7785</c:v>
                </c:pt>
                <c:pt idx="30">
                  <c:v>0.764</c:v>
                </c:pt>
                <c:pt idx="31">
                  <c:v>0.7675</c:v>
                </c:pt>
                <c:pt idx="32">
                  <c:v>0.8283</c:v>
                </c:pt>
                <c:pt idx="33">
                  <c:v>0.8957</c:v>
                </c:pt>
                <c:pt idx="34">
                  <c:v>0.9019</c:v>
                </c:pt>
                <c:pt idx="35">
                  <c:v>0.9251</c:v>
                </c:pt>
                <c:pt idx="36">
                  <c:v>0.9606</c:v>
                </c:pt>
                <c:pt idx="37">
                  <c:v>0.9453</c:v>
                </c:pt>
                <c:pt idx="38">
                  <c:v>1.0164</c:v>
                </c:pt>
                <c:pt idx="39">
                  <c:v>1.0352</c:v>
                </c:pt>
                <c:pt idx="40">
                  <c:v>1.0746</c:v>
                </c:pt>
                <c:pt idx="41">
                  <c:v>1.0927</c:v>
                </c:pt>
                <c:pt idx="42">
                  <c:v>1.113</c:v>
                </c:pt>
                <c:pt idx="43">
                  <c:v>1.1055</c:v>
                </c:pt>
                <c:pt idx="44">
                  <c:v>1.0849</c:v>
                </c:pt>
                <c:pt idx="45">
                  <c:v>1.1053</c:v>
                </c:pt>
                <c:pt idx="46">
                  <c:v>1.1303</c:v>
                </c:pt>
                <c:pt idx="47">
                  <c:v>1.0837</c:v>
                </c:pt>
                <c:pt idx="48">
                  <c:v>1.0834</c:v>
                </c:pt>
                <c:pt idx="49">
                  <c:v>1.1155</c:v>
                </c:pt>
                <c:pt idx="50">
                  <c:v>1.1365</c:v>
                </c:pt>
                <c:pt idx="51">
                  <c:v>1.1974</c:v>
                </c:pt>
                <c:pt idx="52">
                  <c:v>1.2412</c:v>
                </c:pt>
                <c:pt idx="53">
                  <c:v>1.2119</c:v>
                </c:pt>
                <c:pt idx="54">
                  <c:v>1.2385</c:v>
                </c:pt>
                <c:pt idx="55">
                  <c:v>1.2261</c:v>
                </c:pt>
                <c:pt idx="56">
                  <c:v>1.1925</c:v>
                </c:pt>
                <c:pt idx="57">
                  <c:v>1.2464</c:v>
                </c:pt>
                <c:pt idx="58">
                  <c:v>1.2666</c:v>
                </c:pt>
                <c:pt idx="59">
                  <c:v>1.3287</c:v>
                </c:pt>
                <c:pt idx="60">
                  <c:v>1.318</c:v>
                </c:pt>
                <c:pt idx="61">
                  <c:v>1.3322</c:v>
                </c:pt>
                <c:pt idx="62">
                  <c:v>1.3044</c:v>
                </c:pt>
                <c:pt idx="63">
                  <c:v>1.3587</c:v>
                </c:pt>
                <c:pt idx="64">
                  <c:v>1.3678</c:v>
                </c:pt>
                <c:pt idx="65">
                  <c:v>1.4196</c:v>
                </c:pt>
                <c:pt idx="66">
                  <c:v>1.4183</c:v>
                </c:pt>
                <c:pt idx="67">
                  <c:v>1.4444</c:v>
                </c:pt>
                <c:pt idx="68">
                  <c:v>1.4626</c:v>
                </c:pt>
                <c:pt idx="69">
                  <c:v>1.4159</c:v>
                </c:pt>
                <c:pt idx="70">
                  <c:v>1.4173</c:v>
                </c:pt>
                <c:pt idx="71">
                  <c:v>1.397</c:v>
                </c:pt>
                <c:pt idx="72">
                  <c:v>1.4286</c:v>
                </c:pt>
                <c:pt idx="73">
                  <c:v>1.4567</c:v>
                </c:pt>
              </c:numCache>
            </c:numRef>
          </c:val>
          <c:smooth val="0"/>
        </c:ser>
        <c:ser>
          <c:idx val="1"/>
          <c:order val="1"/>
          <c:tx>
            <c:strRef>
              <c:f>Sheet1!$C$1</c:f>
              <c:strCache>
                <c:ptCount val="1"/>
                <c:pt idx="0">
                  <c:v>Value weighted</c:v>
                </c:pt>
              </c:strCache>
            </c:strRef>
          </c:tx>
          <c:spPr>
            <a:solidFill>
              <a:srgbClr val="E87BA4"/>
            </a:solidFill>
            <a:ln w="19050" cap="flat">
              <a:solidFill>
                <a:srgbClr val="E87BA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Sheet1!$C$2:$C$75</c:f>
              <c:numCache>
                <c:formatCode>General</c:formatCode>
                <c:ptCount val="74"/>
                <c:pt idx="0">
                  <c:v>1</c:v>
                </c:pt>
                <c:pt idx="1">
                  <c:v>0.9553</c:v>
                </c:pt>
                <c:pt idx="2">
                  <c:v>0.955</c:v>
                </c:pt>
                <c:pt idx="3">
                  <c:v>0.8822</c:v>
                </c:pt>
                <c:pt idx="4">
                  <c:v>0.8886</c:v>
                </c:pt>
                <c:pt idx="5">
                  <c:v>0.9135</c:v>
                </c:pt>
                <c:pt idx="6">
                  <c:v>0.839</c:v>
                </c:pt>
                <c:pt idx="7">
                  <c:v>0.7877</c:v>
                </c:pt>
                <c:pt idx="8">
                  <c:v>0.8468</c:v>
                </c:pt>
                <c:pt idx="9">
                  <c:v>0.8538</c:v>
                </c:pt>
                <c:pt idx="10">
                  <c:v>0.8363</c:v>
                </c:pt>
                <c:pt idx="11">
                  <c:v>0.8279</c:v>
                </c:pt>
                <c:pt idx="12">
                  <c:v>0.7767</c:v>
                </c:pt>
                <c:pt idx="13">
                  <c:v>0.7179</c:v>
                </c:pt>
                <c:pt idx="14">
                  <c:v>0.7317</c:v>
                </c:pt>
                <c:pt idx="15">
                  <c:v>0.7863</c:v>
                </c:pt>
                <c:pt idx="16">
                  <c:v>0.7936</c:v>
                </c:pt>
                <c:pt idx="17">
                  <c:v>0.7864</c:v>
                </c:pt>
                <c:pt idx="18">
                  <c:v>0.7721</c:v>
                </c:pt>
                <c:pt idx="19">
                  <c:v>0.8006</c:v>
                </c:pt>
                <c:pt idx="20">
                  <c:v>0.7545</c:v>
                </c:pt>
                <c:pt idx="21">
                  <c:v>0.7493</c:v>
                </c:pt>
                <c:pt idx="22">
                  <c:v>0.6972</c:v>
                </c:pt>
                <c:pt idx="23">
                  <c:v>0.6473</c:v>
                </c:pt>
                <c:pt idx="24">
                  <c:v>0.6516</c:v>
                </c:pt>
                <c:pt idx="25">
                  <c:v>0.5833</c:v>
                </c:pt>
                <c:pt idx="26">
                  <c:v>0.6337</c:v>
                </c:pt>
                <c:pt idx="27">
                  <c:v>0.6669</c:v>
                </c:pt>
                <c:pt idx="28">
                  <c:v>0.6285</c:v>
                </c:pt>
                <c:pt idx="29">
                  <c:v>0.6115</c:v>
                </c:pt>
                <c:pt idx="30">
                  <c:v>0.6014</c:v>
                </c:pt>
                <c:pt idx="31">
                  <c:v>0.6085</c:v>
                </c:pt>
                <c:pt idx="32">
                  <c:v>0.6569</c:v>
                </c:pt>
                <c:pt idx="33">
                  <c:v>0.6906</c:v>
                </c:pt>
                <c:pt idx="34">
                  <c:v>0.6993</c:v>
                </c:pt>
                <c:pt idx="35">
                  <c:v>0.712</c:v>
                </c:pt>
                <c:pt idx="36">
                  <c:v>0.7257</c:v>
                </c:pt>
                <c:pt idx="37">
                  <c:v>0.7175</c:v>
                </c:pt>
                <c:pt idx="38">
                  <c:v>0.7584</c:v>
                </c:pt>
                <c:pt idx="39">
                  <c:v>0.7653</c:v>
                </c:pt>
                <c:pt idx="40">
                  <c:v>0.8017</c:v>
                </c:pt>
                <c:pt idx="41">
                  <c:v>0.8147</c:v>
                </c:pt>
                <c:pt idx="42">
                  <c:v>0.8259</c:v>
                </c:pt>
                <c:pt idx="43">
                  <c:v>0.8132</c:v>
                </c:pt>
                <c:pt idx="44">
                  <c:v>0.802</c:v>
                </c:pt>
                <c:pt idx="45">
                  <c:v>0.8122</c:v>
                </c:pt>
                <c:pt idx="46">
                  <c:v>0.8259</c:v>
                </c:pt>
                <c:pt idx="47">
                  <c:v>0.7979</c:v>
                </c:pt>
                <c:pt idx="48">
                  <c:v>0.801</c:v>
                </c:pt>
                <c:pt idx="49">
                  <c:v>0.8096</c:v>
                </c:pt>
                <c:pt idx="50">
                  <c:v>0.82</c:v>
                </c:pt>
                <c:pt idx="51">
                  <c:v>0.8522</c:v>
                </c:pt>
                <c:pt idx="52">
                  <c:v>0.8806</c:v>
                </c:pt>
                <c:pt idx="53">
                  <c:v>0.8598</c:v>
                </c:pt>
                <c:pt idx="54">
                  <c:v>0.8773</c:v>
                </c:pt>
                <c:pt idx="55">
                  <c:v>0.8624</c:v>
                </c:pt>
                <c:pt idx="56">
                  <c:v>0.8475</c:v>
                </c:pt>
                <c:pt idx="57">
                  <c:v>0.8762</c:v>
                </c:pt>
                <c:pt idx="58">
                  <c:v>0.8773</c:v>
                </c:pt>
                <c:pt idx="59">
                  <c:v>0.9107</c:v>
                </c:pt>
                <c:pt idx="60">
                  <c:v>0.9032</c:v>
                </c:pt>
                <c:pt idx="61">
                  <c:v>0.9106</c:v>
                </c:pt>
                <c:pt idx="62">
                  <c:v>0.897</c:v>
                </c:pt>
                <c:pt idx="63">
                  <c:v>0.931</c:v>
                </c:pt>
                <c:pt idx="64">
                  <c:v>0.9303</c:v>
                </c:pt>
                <c:pt idx="65">
                  <c:v>0.9533</c:v>
                </c:pt>
                <c:pt idx="66">
                  <c:v>0.9546</c:v>
                </c:pt>
                <c:pt idx="67">
                  <c:v>0.967</c:v>
                </c:pt>
                <c:pt idx="68">
                  <c:v>0.9775</c:v>
                </c:pt>
                <c:pt idx="69">
                  <c:v>0.9496</c:v>
                </c:pt>
                <c:pt idx="70">
                  <c:v>0.9502</c:v>
                </c:pt>
                <c:pt idx="71">
                  <c:v>0.9555</c:v>
                </c:pt>
                <c:pt idx="72">
                  <c:v>0.9789</c:v>
                </c:pt>
                <c:pt idx="73">
                  <c:v>1.0022</c:v>
                </c:pt>
              </c:numCache>
            </c:numRef>
          </c:val>
          <c:smooth val="0"/>
        </c:ser>
        <c:ser>
          <c:idx val="2"/>
          <c:order val="2"/>
          <c:tx>
            <c:strRef>
              <c:f>Sheet1!$D$1</c:f>
              <c:strCache>
                <c:ptCount val="1"/>
                <c:pt idx="0">
                  <c:v>Minimum risk</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Sheet1!$D$2:$D$75</c:f>
              <c:numCache>
                <c:formatCode>General</c:formatCode>
                <c:ptCount val="74"/>
                <c:pt idx="0">
                  <c:v>1</c:v>
                </c:pt>
                <c:pt idx="1">
                  <c:v>1.1103</c:v>
                </c:pt>
                <c:pt idx="2">
                  <c:v>1.084</c:v>
                </c:pt>
                <c:pt idx="3">
                  <c:v>1.1413</c:v>
                </c:pt>
                <c:pt idx="4">
                  <c:v>1.2022</c:v>
                </c:pt>
                <c:pt idx="5">
                  <c:v>1.0762</c:v>
                </c:pt>
                <c:pt idx="6">
                  <c:v>1.1426</c:v>
                </c:pt>
                <c:pt idx="7">
                  <c:v>1.1596</c:v>
                </c:pt>
                <c:pt idx="8">
                  <c:v>1.2013</c:v>
                </c:pt>
                <c:pt idx="9">
                  <c:v>1.2366</c:v>
                </c:pt>
                <c:pt idx="10">
                  <c:v>1.193</c:v>
                </c:pt>
                <c:pt idx="11">
                  <c:v>1.1505</c:v>
                </c:pt>
                <c:pt idx="12">
                  <c:v>1.1792</c:v>
                </c:pt>
                <c:pt idx="13">
                  <c:v>1.1357</c:v>
                </c:pt>
                <c:pt idx="14">
                  <c:v>1.1328</c:v>
                </c:pt>
                <c:pt idx="15">
                  <c:v>1.1374</c:v>
                </c:pt>
                <c:pt idx="16">
                  <c:v>1.1826</c:v>
                </c:pt>
                <c:pt idx="17">
                  <c:v>1.1773</c:v>
                </c:pt>
                <c:pt idx="18">
                  <c:v>1.1873</c:v>
                </c:pt>
                <c:pt idx="19">
                  <c:v>1.2634</c:v>
                </c:pt>
                <c:pt idx="20">
                  <c:v>1.273</c:v>
                </c:pt>
                <c:pt idx="21">
                  <c:v>1.2555</c:v>
                </c:pt>
                <c:pt idx="22">
                  <c:v>1.2099</c:v>
                </c:pt>
                <c:pt idx="23">
                  <c:v>1.1337</c:v>
                </c:pt>
                <c:pt idx="24">
                  <c:v>1.152</c:v>
                </c:pt>
                <c:pt idx="25">
                  <c:v>1.0673</c:v>
                </c:pt>
                <c:pt idx="26">
                  <c:v>1.0608</c:v>
                </c:pt>
                <c:pt idx="27">
                  <c:v>1.064</c:v>
                </c:pt>
                <c:pt idx="28">
                  <c:v>1.1031</c:v>
                </c:pt>
                <c:pt idx="29">
                  <c:v>1.0555</c:v>
                </c:pt>
                <c:pt idx="30">
                  <c:v>1.0272</c:v>
                </c:pt>
                <c:pt idx="31">
                  <c:v>1.0509</c:v>
                </c:pt>
                <c:pt idx="32">
                  <c:v>1.0929</c:v>
                </c:pt>
                <c:pt idx="33">
                  <c:v>1.1859</c:v>
                </c:pt>
                <c:pt idx="34">
                  <c:v>1.1831</c:v>
                </c:pt>
                <c:pt idx="35">
                  <c:v>1.1544</c:v>
                </c:pt>
                <c:pt idx="36">
                  <c:v>1.1646</c:v>
                </c:pt>
                <c:pt idx="37">
                  <c:v>1.1837</c:v>
                </c:pt>
                <c:pt idx="38">
                  <c:v>1.2217</c:v>
                </c:pt>
                <c:pt idx="39">
                  <c:v>1.244</c:v>
                </c:pt>
                <c:pt idx="40">
                  <c:v>1.2881</c:v>
                </c:pt>
                <c:pt idx="41">
                  <c:v>1.2975</c:v>
                </c:pt>
                <c:pt idx="42">
                  <c:v>1.3396</c:v>
                </c:pt>
                <c:pt idx="43">
                  <c:v>1.3396</c:v>
                </c:pt>
                <c:pt idx="44">
                  <c:v>1.3461</c:v>
                </c:pt>
                <c:pt idx="45">
                  <c:v>1.3632</c:v>
                </c:pt>
                <c:pt idx="46">
                  <c:v>1.3949</c:v>
                </c:pt>
                <c:pt idx="47">
                  <c:v>1.3664</c:v>
                </c:pt>
                <c:pt idx="48">
                  <c:v>1.3946</c:v>
                </c:pt>
                <c:pt idx="49">
                  <c:v>1.4003</c:v>
                </c:pt>
                <c:pt idx="50">
                  <c:v>1.422</c:v>
                </c:pt>
                <c:pt idx="51">
                  <c:v>1.4859</c:v>
                </c:pt>
                <c:pt idx="52">
                  <c:v>1.5312</c:v>
                </c:pt>
                <c:pt idx="53">
                  <c:v>1.5334</c:v>
                </c:pt>
                <c:pt idx="54">
                  <c:v>1.5422</c:v>
                </c:pt>
                <c:pt idx="55">
                  <c:v>1.5311</c:v>
                </c:pt>
                <c:pt idx="56">
                  <c:v>1.5535</c:v>
                </c:pt>
                <c:pt idx="57">
                  <c:v>1.5771</c:v>
                </c:pt>
                <c:pt idx="58">
                  <c:v>1.5832</c:v>
                </c:pt>
                <c:pt idx="59">
                  <c:v>1.5999</c:v>
                </c:pt>
                <c:pt idx="60">
                  <c:v>1.582</c:v>
                </c:pt>
                <c:pt idx="61">
                  <c:v>1.5937</c:v>
                </c:pt>
                <c:pt idx="62">
                  <c:v>1.5516</c:v>
                </c:pt>
                <c:pt idx="63">
                  <c:v>1.5819</c:v>
                </c:pt>
                <c:pt idx="64">
                  <c:v>1.5852</c:v>
                </c:pt>
                <c:pt idx="65">
                  <c:v>1.5976</c:v>
                </c:pt>
                <c:pt idx="66">
                  <c:v>1.6155</c:v>
                </c:pt>
                <c:pt idx="67">
                  <c:v>1.6145</c:v>
                </c:pt>
                <c:pt idx="68">
                  <c:v>1.6011</c:v>
                </c:pt>
                <c:pt idx="69">
                  <c:v>1.5833</c:v>
                </c:pt>
                <c:pt idx="70">
                  <c:v>1.5806</c:v>
                </c:pt>
                <c:pt idx="71">
                  <c:v>1.6338</c:v>
                </c:pt>
                <c:pt idx="72">
                  <c:v>1.6731</c:v>
                </c:pt>
                <c:pt idx="73">
                  <c:v>1.6786</c:v>
                </c:pt>
              </c:numCache>
            </c:numRef>
          </c:val>
          <c:smooth val="0"/>
        </c:ser>
        <c:ser>
          <c:idx val="3"/>
          <c:order val="3"/>
          <c:tx>
            <c:strRef>
              <c:f>Sheet1!$E$1</c:f>
              <c:strCache>
                <c:ptCount val="1"/>
                <c:pt idx="0">
                  <c:v>Risk parity</c:v>
                </c:pt>
              </c:strCache>
            </c:strRef>
          </c:tx>
          <c:spPr>
            <a:solidFill>
              <a:srgbClr val="1BAF7A"/>
            </a:solidFill>
            <a:ln w="19050" cap="flat">
              <a:solidFill>
                <a:srgbClr val="1BAF7A"/>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Sheet1!$E$2:$E$75</c:f>
              <c:numCache>
                <c:formatCode>General</c:formatCode>
                <c:ptCount val="74"/>
                <c:pt idx="0">
                  <c:v>1</c:v>
                </c:pt>
                <c:pt idx="1">
                  <c:v>1.017</c:v>
                </c:pt>
                <c:pt idx="2">
                  <c:v>1.032</c:v>
                </c:pt>
                <c:pt idx="3">
                  <c:v>1.0006</c:v>
                </c:pt>
                <c:pt idx="4">
                  <c:v>1.068</c:v>
                </c:pt>
                <c:pt idx="5">
                  <c:v>1.0618</c:v>
                </c:pt>
                <c:pt idx="6">
                  <c:v>1.046</c:v>
                </c:pt>
                <c:pt idx="7">
                  <c:v>1.0092</c:v>
                </c:pt>
                <c:pt idx="8">
                  <c:v>1.071</c:v>
                </c:pt>
                <c:pt idx="9">
                  <c:v>1.0994</c:v>
                </c:pt>
                <c:pt idx="10">
                  <c:v>1.0827</c:v>
                </c:pt>
                <c:pt idx="11">
                  <c:v>1.0746</c:v>
                </c:pt>
                <c:pt idx="12">
                  <c:v>1.0462</c:v>
                </c:pt>
                <c:pt idx="13">
                  <c:v>0.9611</c:v>
                </c:pt>
                <c:pt idx="14">
                  <c:v>0.9706</c:v>
                </c:pt>
                <c:pt idx="15">
                  <c:v>1.0301</c:v>
                </c:pt>
                <c:pt idx="16">
                  <c:v>1.0621</c:v>
                </c:pt>
                <c:pt idx="17">
                  <c:v>1.0624</c:v>
                </c:pt>
                <c:pt idx="18">
                  <c:v>1.0633</c:v>
                </c:pt>
                <c:pt idx="19">
                  <c:v>1.118</c:v>
                </c:pt>
                <c:pt idx="20">
                  <c:v>1.1017</c:v>
                </c:pt>
                <c:pt idx="21">
                  <c:v>1.0964</c:v>
                </c:pt>
                <c:pt idx="22">
                  <c:v>1.0333</c:v>
                </c:pt>
                <c:pt idx="23">
                  <c:v>0.9522</c:v>
                </c:pt>
                <c:pt idx="24">
                  <c:v>0.9606</c:v>
                </c:pt>
                <c:pt idx="25">
                  <c:v>0.8766</c:v>
                </c:pt>
                <c:pt idx="26">
                  <c:v>0.9122</c:v>
                </c:pt>
                <c:pt idx="27">
                  <c:v>0.9502</c:v>
                </c:pt>
                <c:pt idx="28">
                  <c:v>0.9293</c:v>
                </c:pt>
                <c:pt idx="29">
                  <c:v>0.9073</c:v>
                </c:pt>
                <c:pt idx="30">
                  <c:v>0.8865</c:v>
                </c:pt>
                <c:pt idx="31">
                  <c:v>0.8943</c:v>
                </c:pt>
                <c:pt idx="32">
                  <c:v>0.9538</c:v>
                </c:pt>
                <c:pt idx="33">
                  <c:v>1.0241</c:v>
                </c:pt>
                <c:pt idx="34">
                  <c:v>1.0312</c:v>
                </c:pt>
                <c:pt idx="35">
                  <c:v>1.0483</c:v>
                </c:pt>
                <c:pt idx="36">
                  <c:v>1.0765</c:v>
                </c:pt>
                <c:pt idx="37">
                  <c:v>1.0679</c:v>
                </c:pt>
                <c:pt idx="38">
                  <c:v>1.133</c:v>
                </c:pt>
                <c:pt idx="39">
                  <c:v>1.1578</c:v>
                </c:pt>
                <c:pt idx="40">
                  <c:v>1.201</c:v>
                </c:pt>
                <c:pt idx="41">
                  <c:v>1.2171</c:v>
                </c:pt>
                <c:pt idx="42">
                  <c:v>1.2485</c:v>
                </c:pt>
                <c:pt idx="43">
                  <c:v>1.2436</c:v>
                </c:pt>
                <c:pt idx="44">
                  <c:v>1.2361</c:v>
                </c:pt>
                <c:pt idx="45">
                  <c:v>1.2563</c:v>
                </c:pt>
                <c:pt idx="46">
                  <c:v>1.2843</c:v>
                </c:pt>
                <c:pt idx="47">
                  <c:v>1.2418</c:v>
                </c:pt>
                <c:pt idx="48">
                  <c:v>1.2508</c:v>
                </c:pt>
                <c:pt idx="49">
                  <c:v>1.2801</c:v>
                </c:pt>
                <c:pt idx="50">
                  <c:v>1.2981</c:v>
                </c:pt>
                <c:pt idx="51">
                  <c:v>1.3629</c:v>
                </c:pt>
                <c:pt idx="52">
                  <c:v>1.4118</c:v>
                </c:pt>
                <c:pt idx="53">
                  <c:v>1.3896</c:v>
                </c:pt>
                <c:pt idx="54">
                  <c:v>1.4186</c:v>
                </c:pt>
                <c:pt idx="55">
                  <c:v>1.4088</c:v>
                </c:pt>
                <c:pt idx="56">
                  <c:v>1.3876</c:v>
                </c:pt>
                <c:pt idx="57">
                  <c:v>1.4357</c:v>
                </c:pt>
                <c:pt idx="58">
                  <c:v>1.4587</c:v>
                </c:pt>
                <c:pt idx="59">
                  <c:v>1.5137</c:v>
                </c:pt>
                <c:pt idx="60">
                  <c:v>1.5006</c:v>
                </c:pt>
                <c:pt idx="61">
                  <c:v>1.5101</c:v>
                </c:pt>
                <c:pt idx="62">
                  <c:v>1.4775</c:v>
                </c:pt>
                <c:pt idx="63">
                  <c:v>1.5305</c:v>
                </c:pt>
                <c:pt idx="64">
                  <c:v>1.5424</c:v>
                </c:pt>
                <c:pt idx="65">
                  <c:v>1.5896</c:v>
                </c:pt>
                <c:pt idx="66">
                  <c:v>1.5926</c:v>
                </c:pt>
                <c:pt idx="67">
                  <c:v>1.616</c:v>
                </c:pt>
                <c:pt idx="68">
                  <c:v>1.6306</c:v>
                </c:pt>
                <c:pt idx="69">
                  <c:v>1.5899</c:v>
                </c:pt>
                <c:pt idx="70">
                  <c:v>1.5944</c:v>
                </c:pt>
                <c:pt idx="71">
                  <c:v>1.5927</c:v>
                </c:pt>
                <c:pt idx="72">
                  <c:v>1.6223</c:v>
                </c:pt>
                <c:pt idx="73">
                  <c:v>1.6479</c:v>
                </c:pt>
              </c:numCache>
            </c:numRef>
          </c:val>
          <c:smooth val="0"/>
        </c:ser>
        <c:ser>
          <c:idx val="4"/>
          <c:order val="4"/>
          <c:tx>
            <c:strRef>
              <c:f>Sheet1!$F$1</c:f>
              <c:strCache>
                <c:ptCount val="1"/>
                <c:pt idx="0">
                  <c:v>Maximum diversification</c:v>
                </c:pt>
              </c:strCache>
            </c:strRef>
          </c:tx>
          <c:spPr>
            <a:solidFill>
              <a:srgbClr val="EB6834"/>
            </a:solidFill>
            <a:ln w="19050" cap="flat">
              <a:solidFill>
                <a:srgbClr val="EB683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Sheet1!$F$2:$F$75</c:f>
              <c:numCache>
                <c:formatCode>General</c:formatCode>
                <c:ptCount val="74"/>
                <c:pt idx="0">
                  <c:v>1</c:v>
                </c:pt>
                <c:pt idx="1">
                  <c:v>1.0993</c:v>
                </c:pt>
                <c:pt idx="2">
                  <c:v>1.0765</c:v>
                </c:pt>
                <c:pt idx="3">
                  <c:v>1.0957</c:v>
                </c:pt>
                <c:pt idx="4">
                  <c:v>1.1461</c:v>
                </c:pt>
                <c:pt idx="5">
                  <c:v>1.0549</c:v>
                </c:pt>
                <c:pt idx="6">
                  <c:v>1.107</c:v>
                </c:pt>
                <c:pt idx="7">
                  <c:v>1.0922</c:v>
                </c:pt>
                <c:pt idx="8">
                  <c:v>1.1398</c:v>
                </c:pt>
                <c:pt idx="9">
                  <c:v>1.1777</c:v>
                </c:pt>
                <c:pt idx="10">
                  <c:v>1.1538</c:v>
                </c:pt>
                <c:pt idx="11">
                  <c:v>1.1304</c:v>
                </c:pt>
                <c:pt idx="12">
                  <c:v>1.1436</c:v>
                </c:pt>
                <c:pt idx="13">
                  <c:v>1.0869</c:v>
                </c:pt>
                <c:pt idx="14">
                  <c:v>1.0849</c:v>
                </c:pt>
                <c:pt idx="15">
                  <c:v>1.0999</c:v>
                </c:pt>
                <c:pt idx="16">
                  <c:v>1.1355</c:v>
                </c:pt>
                <c:pt idx="17">
                  <c:v>1.1341</c:v>
                </c:pt>
                <c:pt idx="18">
                  <c:v>1.1383</c:v>
                </c:pt>
                <c:pt idx="19">
                  <c:v>1.2104</c:v>
                </c:pt>
                <c:pt idx="20">
                  <c:v>1.2371</c:v>
                </c:pt>
                <c:pt idx="21">
                  <c:v>1.2195</c:v>
                </c:pt>
                <c:pt idx="22">
                  <c:v>1.169</c:v>
                </c:pt>
                <c:pt idx="23">
                  <c:v>1.0851</c:v>
                </c:pt>
                <c:pt idx="24">
                  <c:v>1.1024</c:v>
                </c:pt>
                <c:pt idx="25">
                  <c:v>1.0319</c:v>
                </c:pt>
                <c:pt idx="26">
                  <c:v>1.0244</c:v>
                </c:pt>
                <c:pt idx="27">
                  <c:v>1.0257</c:v>
                </c:pt>
                <c:pt idx="28">
                  <c:v>1.0542</c:v>
                </c:pt>
                <c:pt idx="29">
                  <c:v>1.0265</c:v>
                </c:pt>
                <c:pt idx="30">
                  <c:v>0.9972</c:v>
                </c:pt>
                <c:pt idx="31">
                  <c:v>1.0221</c:v>
                </c:pt>
                <c:pt idx="32">
                  <c:v>1.0578</c:v>
                </c:pt>
                <c:pt idx="33">
                  <c:v>1.1442</c:v>
                </c:pt>
                <c:pt idx="34">
                  <c:v>1.1535</c:v>
                </c:pt>
                <c:pt idx="35">
                  <c:v>1.1533</c:v>
                </c:pt>
                <c:pt idx="36">
                  <c:v>1.1677</c:v>
                </c:pt>
                <c:pt idx="37">
                  <c:v>1.1752</c:v>
                </c:pt>
                <c:pt idx="38">
                  <c:v>1.2211</c:v>
                </c:pt>
                <c:pt idx="39">
                  <c:v>1.2606</c:v>
                </c:pt>
                <c:pt idx="40">
                  <c:v>1.3024</c:v>
                </c:pt>
                <c:pt idx="41">
                  <c:v>1.3206</c:v>
                </c:pt>
                <c:pt idx="42">
                  <c:v>1.3624</c:v>
                </c:pt>
                <c:pt idx="43">
                  <c:v>1.3603</c:v>
                </c:pt>
                <c:pt idx="44">
                  <c:v>1.3776</c:v>
                </c:pt>
                <c:pt idx="45">
                  <c:v>1.3942</c:v>
                </c:pt>
                <c:pt idx="46">
                  <c:v>1.4317</c:v>
                </c:pt>
                <c:pt idx="47">
                  <c:v>1.3786</c:v>
                </c:pt>
                <c:pt idx="48">
                  <c:v>1.3931</c:v>
                </c:pt>
                <c:pt idx="49">
                  <c:v>1.4209</c:v>
                </c:pt>
                <c:pt idx="50">
                  <c:v>1.4348</c:v>
                </c:pt>
                <c:pt idx="51">
                  <c:v>1.517</c:v>
                </c:pt>
                <c:pt idx="52">
                  <c:v>1.572</c:v>
                </c:pt>
                <c:pt idx="53">
                  <c:v>1.5651</c:v>
                </c:pt>
                <c:pt idx="54">
                  <c:v>1.5967</c:v>
                </c:pt>
                <c:pt idx="55">
                  <c:v>1.5995</c:v>
                </c:pt>
                <c:pt idx="56">
                  <c:v>1.6144</c:v>
                </c:pt>
                <c:pt idx="57">
                  <c:v>1.6531</c:v>
                </c:pt>
                <c:pt idx="58">
                  <c:v>1.6811</c:v>
                </c:pt>
                <c:pt idx="59">
                  <c:v>1.6982</c:v>
                </c:pt>
                <c:pt idx="60">
                  <c:v>1.6899</c:v>
                </c:pt>
                <c:pt idx="61">
                  <c:v>1.6961</c:v>
                </c:pt>
                <c:pt idx="62">
                  <c:v>1.6553</c:v>
                </c:pt>
                <c:pt idx="63">
                  <c:v>1.713</c:v>
                </c:pt>
                <c:pt idx="64">
                  <c:v>1.7271</c:v>
                </c:pt>
                <c:pt idx="65">
                  <c:v>1.7749</c:v>
                </c:pt>
                <c:pt idx="66">
                  <c:v>1.7846</c:v>
                </c:pt>
                <c:pt idx="67">
                  <c:v>1.7921</c:v>
                </c:pt>
                <c:pt idx="68">
                  <c:v>1.7653</c:v>
                </c:pt>
                <c:pt idx="69">
                  <c:v>1.7232</c:v>
                </c:pt>
                <c:pt idx="70">
                  <c:v>1.7208</c:v>
                </c:pt>
                <c:pt idx="71">
                  <c:v>1.7598</c:v>
                </c:pt>
                <c:pt idx="72">
                  <c:v>1.7788</c:v>
                </c:pt>
                <c:pt idx="73">
                  <c:v>1.7744</c:v>
                </c:pt>
              </c:numCache>
            </c:numRef>
          </c:val>
          <c:smooth val="0"/>
        </c:ser>
        <c:ser>
          <c:idx val="5"/>
          <c:order val="5"/>
          <c:tx>
            <c:strRef>
              <c:f>Sheet1!$G$1</c:f>
              <c:strCache>
                <c:ptCount val="1"/>
                <c:pt idx="0">
                  <c:v>Min. risk (shrunk sample)</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Sheet1!$A$2:$A$75</c:f>
              <c:multiLvlStrCache>
                <c:ptCount val="74"/>
                <c:lvl>
                  <c:pt idx="0">
                    <c:v/>
                  </c:pt>
                  <c:pt idx="1">
                    <c:v/>
                  </c:pt>
                  <c:pt idx="2">
                    <c:v/>
                  </c:pt>
                  <c:pt idx="3">
                    <c:v/>
                  </c:pt>
                  <c:pt idx="4">
                    <c:v/>
                  </c:pt>
                  <c:pt idx="5">
                    <c:v>2001</c:v>
                  </c:pt>
                  <c:pt idx="6">
                    <c:v/>
                  </c:pt>
                  <c:pt idx="7">
                    <c:v/>
                  </c:pt>
                  <c:pt idx="8">
                    <c:v/>
                  </c:pt>
                  <c:pt idx="9">
                    <c:v/>
                  </c:pt>
                  <c:pt idx="10">
                    <c:v/>
                  </c:pt>
                  <c:pt idx="11">
                    <c:v/>
                  </c:pt>
                  <c:pt idx="12">
                    <c:v/>
                  </c:pt>
                  <c:pt idx="13">
                    <c:v/>
                  </c:pt>
                  <c:pt idx="14">
                    <c:v/>
                  </c:pt>
                  <c:pt idx="15">
                    <c:v/>
                  </c:pt>
                  <c:pt idx="16">
                    <c:v/>
                  </c:pt>
                  <c:pt idx="17">
                    <c:v>2002</c:v>
                  </c:pt>
                  <c:pt idx="18">
                    <c:v/>
                  </c:pt>
                  <c:pt idx="19">
                    <c:v/>
                  </c:pt>
                  <c:pt idx="20">
                    <c:v/>
                  </c:pt>
                  <c:pt idx="21">
                    <c:v/>
                  </c:pt>
                  <c:pt idx="22">
                    <c:v/>
                  </c:pt>
                  <c:pt idx="23">
                    <c:v/>
                  </c:pt>
                  <c:pt idx="24">
                    <c:v/>
                  </c:pt>
                  <c:pt idx="25">
                    <c:v/>
                  </c:pt>
                  <c:pt idx="26">
                    <c:v/>
                  </c:pt>
                  <c:pt idx="27">
                    <c:v/>
                  </c:pt>
                  <c:pt idx="28">
                    <c:v/>
                  </c:pt>
                  <c:pt idx="29">
                    <c:v>2003</c:v>
                  </c:pt>
                  <c:pt idx="30">
                    <c:v/>
                  </c:pt>
                  <c:pt idx="31">
                    <c:v/>
                  </c:pt>
                  <c:pt idx="32">
                    <c:v/>
                  </c:pt>
                  <c:pt idx="33">
                    <c:v/>
                  </c:pt>
                  <c:pt idx="34">
                    <c:v/>
                  </c:pt>
                  <c:pt idx="35">
                    <c:v/>
                  </c:pt>
                  <c:pt idx="36">
                    <c:v/>
                  </c:pt>
                  <c:pt idx="37">
                    <c:v/>
                  </c:pt>
                  <c:pt idx="38">
                    <c:v/>
                  </c:pt>
                  <c:pt idx="39">
                    <c:v/>
                  </c:pt>
                  <c:pt idx="40">
                    <c:v/>
                  </c:pt>
                  <c:pt idx="41">
                    <c:v>2004</c:v>
                  </c:pt>
                  <c:pt idx="42">
                    <c:v/>
                  </c:pt>
                  <c:pt idx="43">
                    <c:v/>
                  </c:pt>
                  <c:pt idx="44">
                    <c:v/>
                  </c:pt>
                  <c:pt idx="45">
                    <c:v/>
                  </c:pt>
                  <c:pt idx="46">
                    <c:v/>
                  </c:pt>
                  <c:pt idx="47">
                    <c:v/>
                  </c:pt>
                  <c:pt idx="48">
                    <c:v/>
                  </c:pt>
                  <c:pt idx="49">
                    <c:v/>
                  </c:pt>
                  <c:pt idx="50">
                    <c:v/>
                  </c:pt>
                  <c:pt idx="51">
                    <c:v/>
                  </c:pt>
                  <c:pt idx="52">
                    <c:v/>
                  </c:pt>
                  <c:pt idx="53">
                    <c:v>2005</c:v>
                  </c:pt>
                  <c:pt idx="54">
                    <c:v/>
                  </c:pt>
                  <c:pt idx="55">
                    <c:v/>
                  </c:pt>
                  <c:pt idx="56">
                    <c:v/>
                  </c:pt>
                  <c:pt idx="57">
                    <c:v/>
                  </c:pt>
                  <c:pt idx="58">
                    <c:v/>
                  </c:pt>
                  <c:pt idx="59">
                    <c:v/>
                  </c:pt>
                  <c:pt idx="60">
                    <c:v/>
                  </c:pt>
                  <c:pt idx="61">
                    <c:v/>
                  </c:pt>
                  <c:pt idx="62">
                    <c:v/>
                  </c:pt>
                  <c:pt idx="63">
                    <c:v/>
                  </c:pt>
                  <c:pt idx="64">
                    <c:v/>
                  </c:pt>
                  <c:pt idx="65">
                    <c:v>2006</c:v>
                  </c:pt>
                  <c:pt idx="66">
                    <c:v/>
                  </c:pt>
                  <c:pt idx="67">
                    <c:v/>
                  </c:pt>
                  <c:pt idx="68">
                    <c:v/>
                  </c:pt>
                  <c:pt idx="69">
                    <c:v/>
                  </c:pt>
                  <c:pt idx="70">
                    <c:v/>
                  </c:pt>
                  <c:pt idx="71">
                    <c:v/>
                  </c:pt>
                  <c:pt idx="72">
                    <c:v/>
                  </c:pt>
                  <c:pt idx="73">
                    <c:v/>
                  </c:pt>
                </c:lvl>
              </c:multiLvlStrCache>
            </c:multiLvlStrRef>
          </c:cat>
          <c:val>
            <c:numRef>
              <c:f>Sheet1!$G$2:$G$75</c:f>
              <c:numCache>
                <c:formatCode>General</c:formatCode>
                <c:ptCount val="74"/>
                <c:pt idx="0">
                  <c:v>1</c:v>
                </c:pt>
                <c:pt idx="1">
                  <c:v>1.0204</c:v>
                </c:pt>
                <c:pt idx="2">
                  <c:v>1.0544</c:v>
                </c:pt>
                <c:pt idx="3">
                  <c:v>1.0442</c:v>
                </c:pt>
                <c:pt idx="4">
                  <c:v>1.0805</c:v>
                </c:pt>
                <c:pt idx="5">
                  <c:v>1.0707</c:v>
                </c:pt>
                <c:pt idx="6">
                  <c:v>1.0773</c:v>
                </c:pt>
                <c:pt idx="7">
                  <c:v>1.0394</c:v>
                </c:pt>
                <c:pt idx="8">
                  <c:v>1.088</c:v>
                </c:pt>
                <c:pt idx="9">
                  <c:v>1.1317</c:v>
                </c:pt>
                <c:pt idx="10">
                  <c:v>1.1259</c:v>
                </c:pt>
                <c:pt idx="11">
                  <c:v>1.1183</c:v>
                </c:pt>
                <c:pt idx="12">
                  <c:v>1.1136</c:v>
                </c:pt>
                <c:pt idx="13">
                  <c:v>1.0232</c:v>
                </c:pt>
                <c:pt idx="14">
                  <c:v>1.0229</c:v>
                </c:pt>
                <c:pt idx="15">
                  <c:v>1.0857</c:v>
                </c:pt>
                <c:pt idx="16">
                  <c:v>1.1036</c:v>
                </c:pt>
                <c:pt idx="17">
                  <c:v>1.0839</c:v>
                </c:pt>
                <c:pt idx="18">
                  <c:v>1.0844</c:v>
                </c:pt>
                <c:pt idx="19">
                  <c:v>1.1362</c:v>
                </c:pt>
                <c:pt idx="20">
                  <c:v>1.128</c:v>
                </c:pt>
                <c:pt idx="21">
                  <c:v>1.1367</c:v>
                </c:pt>
                <c:pt idx="22">
                  <c:v>1.0472</c:v>
                </c:pt>
                <c:pt idx="23">
                  <c:v>0.9814</c:v>
                </c:pt>
                <c:pt idx="24">
                  <c:v>0.9905</c:v>
                </c:pt>
                <c:pt idx="25">
                  <c:v>0.9113</c:v>
                </c:pt>
                <c:pt idx="26">
                  <c:v>0.9457</c:v>
                </c:pt>
                <c:pt idx="27">
                  <c:v>0.9822</c:v>
                </c:pt>
                <c:pt idx="28">
                  <c:v>0.9803</c:v>
                </c:pt>
                <c:pt idx="29">
                  <c:v>0.9503</c:v>
                </c:pt>
                <c:pt idx="30">
                  <c:v>0.9374</c:v>
                </c:pt>
                <c:pt idx="31">
                  <c:v>0.9478</c:v>
                </c:pt>
                <c:pt idx="32">
                  <c:v>0.9847</c:v>
                </c:pt>
                <c:pt idx="33">
                  <c:v>1.0635</c:v>
                </c:pt>
                <c:pt idx="34">
                  <c:v>1.0767</c:v>
                </c:pt>
                <c:pt idx="35">
                  <c:v>1.075</c:v>
                </c:pt>
                <c:pt idx="36">
                  <c:v>1.1023</c:v>
                </c:pt>
                <c:pt idx="37">
                  <c:v>1.1039</c:v>
                </c:pt>
                <c:pt idx="38">
                  <c:v>1.148</c:v>
                </c:pt>
                <c:pt idx="39">
                  <c:v>1.1747</c:v>
                </c:pt>
                <c:pt idx="40">
                  <c:v>1.2225</c:v>
                </c:pt>
                <c:pt idx="41">
                  <c:v>1.2348</c:v>
                </c:pt>
                <c:pt idx="42">
                  <c:v>1.2746</c:v>
                </c:pt>
                <c:pt idx="43">
                  <c:v>1.2627</c:v>
                </c:pt>
                <c:pt idx="44">
                  <c:v>1.2873</c:v>
                </c:pt>
                <c:pt idx="45">
                  <c:v>1.3017</c:v>
                </c:pt>
                <c:pt idx="46">
                  <c:v>1.3211</c:v>
                </c:pt>
                <c:pt idx="47">
                  <c:v>1.2746</c:v>
                </c:pt>
                <c:pt idx="48">
                  <c:v>1.3035</c:v>
                </c:pt>
                <c:pt idx="49">
                  <c:v>1.3091</c:v>
                </c:pt>
                <c:pt idx="50">
                  <c:v>1.3423</c:v>
                </c:pt>
                <c:pt idx="51">
                  <c:v>1.3868</c:v>
                </c:pt>
                <c:pt idx="52">
                  <c:v>1.4413</c:v>
                </c:pt>
                <c:pt idx="53">
                  <c:v>1.4249</c:v>
                </c:pt>
                <c:pt idx="54">
                  <c:v>1.4421</c:v>
                </c:pt>
                <c:pt idx="55">
                  <c:v>1.4218</c:v>
                </c:pt>
                <c:pt idx="56">
                  <c:v>1.4177</c:v>
                </c:pt>
                <c:pt idx="57">
                  <c:v>1.4523</c:v>
                </c:pt>
                <c:pt idx="58">
                  <c:v>1.4551</c:v>
                </c:pt>
                <c:pt idx="59">
                  <c:v>1.4957</c:v>
                </c:pt>
                <c:pt idx="60">
                  <c:v>1.4776</c:v>
                </c:pt>
                <c:pt idx="61">
                  <c:v>1.4739</c:v>
                </c:pt>
                <c:pt idx="62">
                  <c:v>1.4469</c:v>
                </c:pt>
                <c:pt idx="63">
                  <c:v>1.5007</c:v>
                </c:pt>
                <c:pt idx="64">
                  <c:v>1.5037</c:v>
                </c:pt>
                <c:pt idx="65">
                  <c:v>1.5104</c:v>
                </c:pt>
                <c:pt idx="66">
                  <c:v>1.5271</c:v>
                </c:pt>
                <c:pt idx="67">
                  <c:v>1.5379</c:v>
                </c:pt>
                <c:pt idx="68">
                  <c:v>1.5363</c:v>
                </c:pt>
                <c:pt idx="69">
                  <c:v>1.5213</c:v>
                </c:pt>
                <c:pt idx="70">
                  <c:v>1.5151</c:v>
                </c:pt>
                <c:pt idx="71">
                  <c:v>1.5641</c:v>
                </c:pt>
                <c:pt idx="72">
                  <c:v>1.5892</c:v>
                </c:pt>
                <c:pt idx="73">
                  <c:v>1.6176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orientation val="minMax"/>
          <c:min val="0.5"/>
        </c:scaling>
        <c:delete val="0"/>
        <c:axPos val="l"/>
        <c:majorGridlines>
          <c:spPr>
            <a:ln w="6350" cap="flat">
              <a:solidFill>
                <a:srgbClr val="E3E7ED"/>
              </a:solidFill>
              <a:prstDash val="solid"/>
              <a:round/>
            </a:ln>
          </c:spPr>
        </c:majorGridlines>
        <c:title>
          <c:tx>
            <c:rich>
              <a:bodyPr/>
              <a:lstStyle/>
              <a:p>
                <a:pPr>
                  <a:defRPr sz="1000" b="0" i="0" u="none" strike="noStrike">
                    <a:solidFill>
                      <a:srgbClr val="5B6577"/>
                    </a:solidFill>
                    <a:latin typeface="+mn-lt"/>
                  </a:defRPr>
                </a:pPr>
                <a:r>
                  <a:rPr sz="1000" b="0" i="0" u="none" strike="noStrike">
                    <a:solidFill>
                      <a:srgbClr val="5B6577"/>
                    </a:solidFill>
                    <a:latin typeface="+mn-lt"/>
                  </a:rPr>
                  <a:t>Wealth, 1 at the market high</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Global financial crisis</a:t>
            </a:r>
          </a:p>
        </c:rich>
      </c:tx>
      <c:layout/>
      <c:overlay val="0"/>
    </c:title>
    <c:autoTitleDeleted val="0"/>
    <c:plotArea>
      <c:layout/>
      <c:lineChart>
        <c:varyColors val="0"/>
        <c:ser>
          <c:idx val="0"/>
          <c:order val="0"/>
          <c:tx>
            <c:strRef>
              <c:f>Sheet1!$B$1</c:f>
              <c:strCache>
                <c:ptCount val="1"/>
                <c:pt idx="0">
                  <c:v>Equally weighted</c:v>
                </c:pt>
              </c:strCache>
            </c:strRef>
          </c:tx>
          <c:spPr>
            <a:solidFill>
              <a:srgbClr val="EDA100"/>
            </a:solidFill>
            <a:ln w="19050" cap="flat">
              <a:solidFill>
                <a:srgbClr val="EDA100"/>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Sheet1!$B$2:$B$54</c:f>
              <c:numCache>
                <c:formatCode>General</c:formatCode>
                <c:ptCount val="53"/>
                <c:pt idx="0">
                  <c:v>1</c:v>
                </c:pt>
                <c:pt idx="1">
                  <c:v>0.9554</c:v>
                </c:pt>
                <c:pt idx="2">
                  <c:v>0.9437</c:v>
                </c:pt>
                <c:pt idx="3">
                  <c:v>0.8904</c:v>
                </c:pt>
                <c:pt idx="4">
                  <c:v>0.8709</c:v>
                </c:pt>
                <c:pt idx="5">
                  <c:v>0.8565</c:v>
                </c:pt>
                <c:pt idx="6">
                  <c:v>0.9051</c:v>
                </c:pt>
                <c:pt idx="7">
                  <c:v>0.9373</c:v>
                </c:pt>
                <c:pt idx="8">
                  <c:v>0.8606</c:v>
                </c:pt>
                <c:pt idx="9">
                  <c:v>0.8478</c:v>
                </c:pt>
                <c:pt idx="10">
                  <c:v>0.8597</c:v>
                </c:pt>
                <c:pt idx="11">
                  <c:v>0.7593</c:v>
                </c:pt>
                <c:pt idx="12">
                  <c:v>0.6111</c:v>
                </c:pt>
                <c:pt idx="13">
                  <c:v>0.5606</c:v>
                </c:pt>
                <c:pt idx="14">
                  <c:v>0.5775</c:v>
                </c:pt>
                <c:pt idx="15">
                  <c:v>0.5367</c:v>
                </c:pt>
                <c:pt idx="16">
                  <c:v>0.483</c:v>
                </c:pt>
                <c:pt idx="17">
                  <c:v>0.5261</c:v>
                </c:pt>
                <c:pt idx="18">
                  <c:v>0.5916</c:v>
                </c:pt>
                <c:pt idx="19">
                  <c:v>0.6176</c:v>
                </c:pt>
                <c:pt idx="20">
                  <c:v>0.6184</c:v>
                </c:pt>
                <c:pt idx="21">
                  <c:v>0.669</c:v>
                </c:pt>
                <c:pt idx="22">
                  <c:v>0.6949</c:v>
                </c:pt>
                <c:pt idx="23">
                  <c:v>0.7283</c:v>
                </c:pt>
                <c:pt idx="24">
                  <c:v>0.7054</c:v>
                </c:pt>
                <c:pt idx="25">
                  <c:v>0.7435</c:v>
                </c:pt>
                <c:pt idx="26">
                  <c:v>0.7757</c:v>
                </c:pt>
                <c:pt idx="27">
                  <c:v>0.7507</c:v>
                </c:pt>
                <c:pt idx="28">
                  <c:v>0.7847</c:v>
                </c:pt>
                <c:pt idx="29">
                  <c:v>0.8348</c:v>
                </c:pt>
                <c:pt idx="30">
                  <c:v>0.8575</c:v>
                </c:pt>
                <c:pt idx="31">
                  <c:v>0.7941</c:v>
                </c:pt>
                <c:pt idx="32">
                  <c:v>0.7478</c:v>
                </c:pt>
                <c:pt idx="33">
                  <c:v>0.8016</c:v>
                </c:pt>
                <c:pt idx="34">
                  <c:v>0.7664</c:v>
                </c:pt>
                <c:pt idx="35">
                  <c:v>0.8446</c:v>
                </c:pt>
                <c:pt idx="36">
                  <c:v>0.8781</c:v>
                </c:pt>
                <c:pt idx="37">
                  <c:v>0.8911</c:v>
                </c:pt>
                <c:pt idx="38">
                  <c:v>0.9518</c:v>
                </c:pt>
                <c:pt idx="39">
                  <c:v>0.9717</c:v>
                </c:pt>
                <c:pt idx="40">
                  <c:v>1.008</c:v>
                </c:pt>
                <c:pt idx="41">
                  <c:v>1.0202</c:v>
                </c:pt>
                <c:pt idx="42">
                  <c:v>1.051</c:v>
                </c:pt>
                <c:pt idx="43">
                  <c:v>1.045</c:v>
                </c:pt>
                <c:pt idx="44">
                  <c:v>1.0266</c:v>
                </c:pt>
                <c:pt idx="45">
                  <c:v>0.9933</c:v>
                </c:pt>
                <c:pt idx="46">
                  <c:v>0.9299</c:v>
                </c:pt>
                <c:pt idx="47">
                  <c:v>0.8498</c:v>
                </c:pt>
                <c:pt idx="48">
                  <c:v>0.956</c:v>
                </c:pt>
                <c:pt idx="49">
                  <c:v>0.951</c:v>
                </c:pt>
                <c:pt idx="50">
                  <c:v>0.946</c:v>
                </c:pt>
                <c:pt idx="51">
                  <c:v>0.9994</c:v>
                </c:pt>
                <c:pt idx="52">
                  <c:v>1.0428</c:v>
                </c:pt>
              </c:numCache>
            </c:numRef>
          </c:val>
          <c:smooth val="0"/>
        </c:ser>
        <c:ser>
          <c:idx val="1"/>
          <c:order val="1"/>
          <c:tx>
            <c:strRef>
              <c:f>Sheet1!$C$1</c:f>
              <c:strCache>
                <c:ptCount val="1"/>
                <c:pt idx="0">
                  <c:v>Value weighted</c:v>
                </c:pt>
              </c:strCache>
            </c:strRef>
          </c:tx>
          <c:spPr>
            <a:solidFill>
              <a:srgbClr val="E87BA4"/>
            </a:solidFill>
            <a:ln w="19050" cap="flat">
              <a:solidFill>
                <a:srgbClr val="E87BA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Sheet1!$C$2:$C$54</c:f>
              <c:numCache>
                <c:formatCode>General</c:formatCode>
                <c:ptCount val="53"/>
                <c:pt idx="0">
                  <c:v>1</c:v>
                </c:pt>
                <c:pt idx="1">
                  <c:v>0.9603</c:v>
                </c:pt>
                <c:pt idx="2">
                  <c:v>0.9542</c:v>
                </c:pt>
                <c:pt idx="3">
                  <c:v>0.8982</c:v>
                </c:pt>
                <c:pt idx="4">
                  <c:v>0.8727</c:v>
                </c:pt>
                <c:pt idx="5">
                  <c:v>0.868</c:v>
                </c:pt>
                <c:pt idx="6">
                  <c:v>0.9067</c:v>
                </c:pt>
                <c:pt idx="7">
                  <c:v>0.9205</c:v>
                </c:pt>
                <c:pt idx="8">
                  <c:v>0.8456</c:v>
                </c:pt>
                <c:pt idx="9">
                  <c:v>0.8396</c:v>
                </c:pt>
                <c:pt idx="10">
                  <c:v>0.8517</c:v>
                </c:pt>
                <c:pt idx="11">
                  <c:v>0.7794</c:v>
                </c:pt>
                <c:pt idx="12">
                  <c:v>0.6538</c:v>
                </c:pt>
                <c:pt idx="13">
                  <c:v>0.6097</c:v>
                </c:pt>
                <c:pt idx="14">
                  <c:v>0.6157</c:v>
                </c:pt>
                <c:pt idx="15">
                  <c:v>0.5661</c:v>
                </c:pt>
                <c:pt idx="16">
                  <c:v>0.5087</c:v>
                </c:pt>
                <c:pt idx="17">
                  <c:v>0.5535</c:v>
                </c:pt>
                <c:pt idx="18">
                  <c:v>0.5999</c:v>
                </c:pt>
                <c:pt idx="19">
                  <c:v>0.6292</c:v>
                </c:pt>
                <c:pt idx="20">
                  <c:v>0.6317</c:v>
                </c:pt>
                <c:pt idx="21">
                  <c:v>0.6784</c:v>
                </c:pt>
                <c:pt idx="22">
                  <c:v>0.7005</c:v>
                </c:pt>
                <c:pt idx="23">
                  <c:v>0.7247</c:v>
                </c:pt>
                <c:pt idx="24">
                  <c:v>0.7116</c:v>
                </c:pt>
                <c:pt idx="25">
                  <c:v>0.754</c:v>
                </c:pt>
                <c:pt idx="26">
                  <c:v>0.7674</c:v>
                </c:pt>
                <c:pt idx="27">
                  <c:v>0.7418</c:v>
                </c:pt>
                <c:pt idx="28">
                  <c:v>0.7653</c:v>
                </c:pt>
                <c:pt idx="29">
                  <c:v>0.8102</c:v>
                </c:pt>
                <c:pt idx="30">
                  <c:v>0.8214</c:v>
                </c:pt>
                <c:pt idx="31">
                  <c:v>0.757</c:v>
                </c:pt>
                <c:pt idx="32">
                  <c:v>0.717</c:v>
                </c:pt>
                <c:pt idx="33">
                  <c:v>0.7664</c:v>
                </c:pt>
                <c:pt idx="34">
                  <c:v>0.7325</c:v>
                </c:pt>
                <c:pt idx="35">
                  <c:v>0.7984</c:v>
                </c:pt>
                <c:pt idx="36">
                  <c:v>0.8294</c:v>
                </c:pt>
                <c:pt idx="37">
                  <c:v>0.8305</c:v>
                </c:pt>
                <c:pt idx="38">
                  <c:v>0.8864</c:v>
                </c:pt>
                <c:pt idx="39">
                  <c:v>0.9062</c:v>
                </c:pt>
                <c:pt idx="40">
                  <c:v>0.9347</c:v>
                </c:pt>
                <c:pt idx="41">
                  <c:v>0.9346</c:v>
                </c:pt>
                <c:pt idx="42">
                  <c:v>0.961</c:v>
                </c:pt>
                <c:pt idx="43">
                  <c:v>0.9489</c:v>
                </c:pt>
                <c:pt idx="44">
                  <c:v>0.9334</c:v>
                </c:pt>
                <c:pt idx="45">
                  <c:v>0.9142</c:v>
                </c:pt>
                <c:pt idx="46">
                  <c:v>0.8647</c:v>
                </c:pt>
                <c:pt idx="47">
                  <c:v>0.8059</c:v>
                </c:pt>
                <c:pt idx="48">
                  <c:v>0.8912</c:v>
                </c:pt>
                <c:pt idx="49">
                  <c:v>0.8882</c:v>
                </c:pt>
                <c:pt idx="50">
                  <c:v>0.8954</c:v>
                </c:pt>
                <c:pt idx="51">
                  <c:v>0.9368</c:v>
                </c:pt>
                <c:pt idx="52">
                  <c:v>0.977</c:v>
                </c:pt>
              </c:numCache>
            </c:numRef>
          </c:val>
          <c:smooth val="0"/>
        </c:ser>
        <c:ser>
          <c:idx val="2"/>
          <c:order val="2"/>
          <c:tx>
            <c:strRef>
              <c:f>Sheet1!$D$1</c:f>
              <c:strCache>
                <c:ptCount val="1"/>
                <c:pt idx="0">
                  <c:v>Minimum risk</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Sheet1!$D$2:$D$54</c:f>
              <c:numCache>
                <c:formatCode>General</c:formatCode>
                <c:ptCount val="53"/>
                <c:pt idx="0">
                  <c:v>1</c:v>
                </c:pt>
                <c:pt idx="1">
                  <c:v>1.0073</c:v>
                </c:pt>
                <c:pt idx="2">
                  <c:v>1.001</c:v>
                </c:pt>
                <c:pt idx="3">
                  <c:v>0.9416</c:v>
                </c:pt>
                <c:pt idx="4">
                  <c:v>0.9021</c:v>
                </c:pt>
                <c:pt idx="5">
                  <c:v>0.9133</c:v>
                </c:pt>
                <c:pt idx="6">
                  <c:v>0.9362</c:v>
                </c:pt>
                <c:pt idx="7">
                  <c:v>0.9456</c:v>
                </c:pt>
                <c:pt idx="8">
                  <c:v>0.8818</c:v>
                </c:pt>
                <c:pt idx="9">
                  <c:v>0.909</c:v>
                </c:pt>
                <c:pt idx="10">
                  <c:v>0.924</c:v>
                </c:pt>
                <c:pt idx="11">
                  <c:v>0.9059</c:v>
                </c:pt>
                <c:pt idx="12">
                  <c:v>0.8248</c:v>
                </c:pt>
                <c:pt idx="13">
                  <c:v>0.778</c:v>
                </c:pt>
                <c:pt idx="14">
                  <c:v>0.7636</c:v>
                </c:pt>
                <c:pt idx="15">
                  <c:v>0.6847</c:v>
                </c:pt>
                <c:pt idx="16">
                  <c:v>0.6291</c:v>
                </c:pt>
                <c:pt idx="17">
                  <c:v>0.652</c:v>
                </c:pt>
                <c:pt idx="18">
                  <c:v>0.6453</c:v>
                </c:pt>
                <c:pt idx="19">
                  <c:v>0.6524</c:v>
                </c:pt>
                <c:pt idx="20">
                  <c:v>0.6782</c:v>
                </c:pt>
                <c:pt idx="21">
                  <c:v>0.7042</c:v>
                </c:pt>
                <c:pt idx="22">
                  <c:v>0.7143</c:v>
                </c:pt>
                <c:pt idx="23">
                  <c:v>0.7219</c:v>
                </c:pt>
                <c:pt idx="24">
                  <c:v>0.7181</c:v>
                </c:pt>
                <c:pt idx="25">
                  <c:v>0.755</c:v>
                </c:pt>
                <c:pt idx="26">
                  <c:v>0.7739</c:v>
                </c:pt>
                <c:pt idx="27">
                  <c:v>0.7721</c:v>
                </c:pt>
                <c:pt idx="28">
                  <c:v>0.7884</c:v>
                </c:pt>
                <c:pt idx="29">
                  <c:v>0.8044</c:v>
                </c:pt>
                <c:pt idx="30">
                  <c:v>0.8131</c:v>
                </c:pt>
                <c:pt idx="31">
                  <c:v>0.7711</c:v>
                </c:pt>
                <c:pt idx="32">
                  <c:v>0.7607</c:v>
                </c:pt>
                <c:pt idx="33">
                  <c:v>0.8001</c:v>
                </c:pt>
                <c:pt idx="34">
                  <c:v>0.8064</c:v>
                </c:pt>
                <c:pt idx="35">
                  <c:v>0.8349</c:v>
                </c:pt>
                <c:pt idx="36">
                  <c:v>0.8546</c:v>
                </c:pt>
                <c:pt idx="37">
                  <c:v>0.8386</c:v>
                </c:pt>
                <c:pt idx="38">
                  <c:v>0.8667</c:v>
                </c:pt>
                <c:pt idx="39">
                  <c:v>0.8616</c:v>
                </c:pt>
                <c:pt idx="40">
                  <c:v>0.8999</c:v>
                </c:pt>
                <c:pt idx="41">
                  <c:v>0.9046</c:v>
                </c:pt>
                <c:pt idx="42">
                  <c:v>0.9444</c:v>
                </c:pt>
                <c:pt idx="43">
                  <c:v>0.9469</c:v>
                </c:pt>
                <c:pt idx="44">
                  <c:v>0.9357</c:v>
                </c:pt>
                <c:pt idx="45">
                  <c:v>0.9165</c:v>
                </c:pt>
                <c:pt idx="46">
                  <c:v>0.9244</c:v>
                </c:pt>
                <c:pt idx="47">
                  <c:v>0.9058</c:v>
                </c:pt>
                <c:pt idx="48">
                  <c:v>0.9416</c:v>
                </c:pt>
                <c:pt idx="49">
                  <c:v>0.954</c:v>
                </c:pt>
                <c:pt idx="50">
                  <c:v>0.9851</c:v>
                </c:pt>
                <c:pt idx="51">
                  <c:v>0.971</c:v>
                </c:pt>
                <c:pt idx="52">
                  <c:v>0.9766</c:v>
                </c:pt>
              </c:numCache>
            </c:numRef>
          </c:val>
          <c:smooth val="0"/>
        </c:ser>
        <c:ser>
          <c:idx val="3"/>
          <c:order val="3"/>
          <c:tx>
            <c:strRef>
              <c:f>Sheet1!$E$1</c:f>
              <c:strCache>
                <c:ptCount val="1"/>
                <c:pt idx="0">
                  <c:v>Risk parity</c:v>
                </c:pt>
              </c:strCache>
            </c:strRef>
          </c:tx>
          <c:spPr>
            <a:solidFill>
              <a:srgbClr val="1BAF7A"/>
            </a:solidFill>
            <a:ln w="19050" cap="flat">
              <a:solidFill>
                <a:srgbClr val="1BAF7A"/>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Sheet1!$E$2:$E$54</c:f>
              <c:numCache>
                <c:formatCode>General</c:formatCode>
                <c:ptCount val="53"/>
                <c:pt idx="0">
                  <c:v>1</c:v>
                </c:pt>
                <c:pt idx="1">
                  <c:v>0.964</c:v>
                </c:pt>
                <c:pt idx="2">
                  <c:v>0.9535</c:v>
                </c:pt>
                <c:pt idx="3">
                  <c:v>0.9031</c:v>
                </c:pt>
                <c:pt idx="4">
                  <c:v>0.8805</c:v>
                </c:pt>
                <c:pt idx="5">
                  <c:v>0.868</c:v>
                </c:pt>
                <c:pt idx="6">
                  <c:v>0.9116</c:v>
                </c:pt>
                <c:pt idx="7">
                  <c:v>0.9384</c:v>
                </c:pt>
                <c:pt idx="8">
                  <c:v>0.863</c:v>
                </c:pt>
                <c:pt idx="9">
                  <c:v>0.8561</c:v>
                </c:pt>
                <c:pt idx="10">
                  <c:v>0.8686</c:v>
                </c:pt>
                <c:pt idx="11">
                  <c:v>0.7832</c:v>
                </c:pt>
                <c:pt idx="12">
                  <c:v>0.6472</c:v>
                </c:pt>
                <c:pt idx="13">
                  <c:v>0.5992</c:v>
                </c:pt>
                <c:pt idx="14">
                  <c:v>0.611</c:v>
                </c:pt>
                <c:pt idx="15">
                  <c:v>0.566</c:v>
                </c:pt>
                <c:pt idx="16">
                  <c:v>0.511</c:v>
                </c:pt>
                <c:pt idx="17">
                  <c:v>0.5527</c:v>
                </c:pt>
                <c:pt idx="18">
                  <c:v>0.6074</c:v>
                </c:pt>
                <c:pt idx="19">
                  <c:v>0.6301</c:v>
                </c:pt>
                <c:pt idx="20">
                  <c:v>0.6354</c:v>
                </c:pt>
                <c:pt idx="21">
                  <c:v>0.6807</c:v>
                </c:pt>
                <c:pt idx="22">
                  <c:v>0.7026</c:v>
                </c:pt>
                <c:pt idx="23">
                  <c:v>0.7323</c:v>
                </c:pt>
                <c:pt idx="24">
                  <c:v>0.7123</c:v>
                </c:pt>
                <c:pt idx="25">
                  <c:v>0.7493</c:v>
                </c:pt>
                <c:pt idx="26">
                  <c:v>0.7793</c:v>
                </c:pt>
                <c:pt idx="27">
                  <c:v>0.7583</c:v>
                </c:pt>
                <c:pt idx="28">
                  <c:v>0.7886</c:v>
                </c:pt>
                <c:pt idx="29">
                  <c:v>0.8325</c:v>
                </c:pt>
                <c:pt idx="30">
                  <c:v>0.8512</c:v>
                </c:pt>
                <c:pt idx="31">
                  <c:v>0.7924</c:v>
                </c:pt>
                <c:pt idx="32">
                  <c:v>0.7543</c:v>
                </c:pt>
                <c:pt idx="33">
                  <c:v>0.8028</c:v>
                </c:pt>
                <c:pt idx="34">
                  <c:v>0.7732</c:v>
                </c:pt>
                <c:pt idx="35">
                  <c:v>0.8453</c:v>
                </c:pt>
                <c:pt idx="36">
                  <c:v>0.8762</c:v>
                </c:pt>
                <c:pt idx="37">
                  <c:v>0.8852</c:v>
                </c:pt>
                <c:pt idx="38">
                  <c:v>0.9404</c:v>
                </c:pt>
                <c:pt idx="39">
                  <c:v>0.9566</c:v>
                </c:pt>
                <c:pt idx="40">
                  <c:v>0.9928</c:v>
                </c:pt>
                <c:pt idx="41">
                  <c:v>1.0052</c:v>
                </c:pt>
                <c:pt idx="42">
                  <c:v>1.037</c:v>
                </c:pt>
                <c:pt idx="43">
                  <c:v>1.035</c:v>
                </c:pt>
                <c:pt idx="44">
                  <c:v>1.0189</c:v>
                </c:pt>
                <c:pt idx="45">
                  <c:v>0.9882</c:v>
                </c:pt>
                <c:pt idx="46">
                  <c:v>0.9384</c:v>
                </c:pt>
                <c:pt idx="47">
                  <c:v>0.8686</c:v>
                </c:pt>
                <c:pt idx="48">
                  <c:v>0.964</c:v>
                </c:pt>
                <c:pt idx="49">
                  <c:v>0.9615</c:v>
                </c:pt>
                <c:pt idx="50">
                  <c:v>0.9623</c:v>
                </c:pt>
                <c:pt idx="51">
                  <c:v>1.0065</c:v>
                </c:pt>
                <c:pt idx="52">
                  <c:v>1.044</c:v>
                </c:pt>
              </c:numCache>
            </c:numRef>
          </c:val>
          <c:smooth val="0"/>
        </c:ser>
        <c:ser>
          <c:idx val="4"/>
          <c:order val="4"/>
          <c:tx>
            <c:strRef>
              <c:f>Sheet1!$F$1</c:f>
              <c:strCache>
                <c:ptCount val="1"/>
                <c:pt idx="0">
                  <c:v>Maximum diversification</c:v>
                </c:pt>
              </c:strCache>
            </c:strRef>
          </c:tx>
          <c:spPr>
            <a:solidFill>
              <a:srgbClr val="EB6834"/>
            </a:solidFill>
            <a:ln w="19050" cap="flat">
              <a:solidFill>
                <a:srgbClr val="EB683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Sheet1!$F$2:$F$54</c:f>
              <c:numCache>
                <c:formatCode>General</c:formatCode>
                <c:ptCount val="53"/>
                <c:pt idx="0">
                  <c:v>1</c:v>
                </c:pt>
                <c:pt idx="1">
                  <c:v>0.9654</c:v>
                </c:pt>
                <c:pt idx="2">
                  <c:v>0.9496</c:v>
                </c:pt>
                <c:pt idx="3">
                  <c:v>0.8954</c:v>
                </c:pt>
                <c:pt idx="4">
                  <c:v>0.8492</c:v>
                </c:pt>
                <c:pt idx="5">
                  <c:v>0.8267</c:v>
                </c:pt>
                <c:pt idx="6">
                  <c:v>0.8631</c:v>
                </c:pt>
                <c:pt idx="7">
                  <c:v>0.8761</c:v>
                </c:pt>
                <c:pt idx="8">
                  <c:v>0.8173</c:v>
                </c:pt>
                <c:pt idx="9">
                  <c:v>0.8006</c:v>
                </c:pt>
                <c:pt idx="10">
                  <c:v>0.7872</c:v>
                </c:pt>
                <c:pt idx="11">
                  <c:v>0.7006</c:v>
                </c:pt>
                <c:pt idx="12">
                  <c:v>0.6217</c:v>
                </c:pt>
                <c:pt idx="13">
                  <c:v>0.5761</c:v>
                </c:pt>
                <c:pt idx="14">
                  <c:v>0.5651</c:v>
                </c:pt>
                <c:pt idx="15">
                  <c:v>0.5068</c:v>
                </c:pt>
                <c:pt idx="16">
                  <c:v>0.4638</c:v>
                </c:pt>
                <c:pt idx="17">
                  <c:v>0.5101</c:v>
                </c:pt>
                <c:pt idx="18">
                  <c:v>0.5207</c:v>
                </c:pt>
                <c:pt idx="19">
                  <c:v>0.527</c:v>
                </c:pt>
                <c:pt idx="20">
                  <c:v>0.5326</c:v>
                </c:pt>
                <c:pt idx="21">
                  <c:v>0.5533</c:v>
                </c:pt>
                <c:pt idx="22">
                  <c:v>0.5646</c:v>
                </c:pt>
                <c:pt idx="23">
                  <c:v>0.588</c:v>
                </c:pt>
                <c:pt idx="24">
                  <c:v>0.5499</c:v>
                </c:pt>
                <c:pt idx="25">
                  <c:v>0.5764</c:v>
                </c:pt>
                <c:pt idx="26">
                  <c:v>0.5972</c:v>
                </c:pt>
                <c:pt idx="27">
                  <c:v>0.6026</c:v>
                </c:pt>
                <c:pt idx="28">
                  <c:v>0.6305</c:v>
                </c:pt>
                <c:pt idx="29">
                  <c:v>0.6571</c:v>
                </c:pt>
                <c:pt idx="30">
                  <c:v>0.6704</c:v>
                </c:pt>
                <c:pt idx="31">
                  <c:v>0.6192</c:v>
                </c:pt>
                <c:pt idx="32">
                  <c:v>0.5862</c:v>
                </c:pt>
                <c:pt idx="33">
                  <c:v>0.6167</c:v>
                </c:pt>
                <c:pt idx="34">
                  <c:v>0.6021</c:v>
                </c:pt>
                <c:pt idx="35">
                  <c:v>0.6562</c:v>
                </c:pt>
                <c:pt idx="36">
                  <c:v>0.6741</c:v>
                </c:pt>
                <c:pt idx="37">
                  <c:v>0.6758</c:v>
                </c:pt>
                <c:pt idx="38">
                  <c:v>0.709</c:v>
                </c:pt>
                <c:pt idx="39">
                  <c:v>0.735</c:v>
                </c:pt>
                <c:pt idx="40">
                  <c:v>0.7681</c:v>
                </c:pt>
                <c:pt idx="41">
                  <c:v>0.7891</c:v>
                </c:pt>
                <c:pt idx="42">
                  <c:v>0.8081</c:v>
                </c:pt>
                <c:pt idx="43">
                  <c:v>0.8162</c:v>
                </c:pt>
                <c:pt idx="44">
                  <c:v>0.7998</c:v>
                </c:pt>
                <c:pt idx="45">
                  <c:v>0.8085</c:v>
                </c:pt>
                <c:pt idx="46">
                  <c:v>0.7761</c:v>
                </c:pt>
                <c:pt idx="47">
                  <c:v>0.6906</c:v>
                </c:pt>
                <c:pt idx="48">
                  <c:v>0.748</c:v>
                </c:pt>
                <c:pt idx="49">
                  <c:v>0.7228</c:v>
                </c:pt>
                <c:pt idx="50">
                  <c:v>0.708</c:v>
                </c:pt>
                <c:pt idx="51">
                  <c:v>0.7558</c:v>
                </c:pt>
                <c:pt idx="52">
                  <c:v>0.7701</c:v>
                </c:pt>
              </c:numCache>
            </c:numRef>
          </c:val>
          <c:smooth val="0"/>
        </c:ser>
        <c:ser>
          <c:idx val="5"/>
          <c:order val="5"/>
          <c:tx>
            <c:strRef>
              <c:f>Sheet1!$G$1</c:f>
              <c:strCache>
                <c:ptCount val="1"/>
                <c:pt idx="0">
                  <c:v>Min. risk (shrunk sample)</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Sheet1!$A$2:$A$54</c:f>
              <c:multiLvlStrCache>
                <c:ptCount val="53"/>
                <c:lvl>
                  <c:pt idx="0">
                    <c:v/>
                  </c:pt>
                  <c:pt idx="1">
                    <c:v/>
                  </c:pt>
                  <c:pt idx="2">
                    <c:v/>
                  </c:pt>
                  <c:pt idx="3">
                    <c:v>2008</c:v>
                  </c:pt>
                  <c:pt idx="4">
                    <c:v/>
                  </c:pt>
                  <c:pt idx="5">
                    <c:v/>
                  </c:pt>
                  <c:pt idx="6">
                    <c:v/>
                  </c:pt>
                  <c:pt idx="7">
                    <c:v/>
                  </c:pt>
                  <c:pt idx="8">
                    <c:v/>
                  </c:pt>
                  <c:pt idx="9">
                    <c:v/>
                  </c:pt>
                  <c:pt idx="10">
                    <c:v/>
                  </c:pt>
                  <c:pt idx="11">
                    <c:v/>
                  </c:pt>
                  <c:pt idx="12">
                    <c:v/>
                  </c:pt>
                  <c:pt idx="13">
                    <c:v/>
                  </c:pt>
                  <c:pt idx="14">
                    <c:v/>
                  </c:pt>
                  <c:pt idx="15">
                    <c:v>2009</c:v>
                  </c:pt>
                  <c:pt idx="16">
                    <c:v/>
                  </c:pt>
                  <c:pt idx="17">
                    <c:v/>
                  </c:pt>
                  <c:pt idx="18">
                    <c:v/>
                  </c:pt>
                  <c:pt idx="19">
                    <c:v/>
                  </c:pt>
                  <c:pt idx="20">
                    <c:v/>
                  </c:pt>
                  <c:pt idx="21">
                    <c:v/>
                  </c:pt>
                  <c:pt idx="22">
                    <c:v/>
                  </c:pt>
                  <c:pt idx="23">
                    <c:v/>
                  </c:pt>
                  <c:pt idx="24">
                    <c:v/>
                  </c:pt>
                  <c:pt idx="25">
                    <c:v/>
                  </c:pt>
                  <c:pt idx="26">
                    <c:v/>
                  </c:pt>
                  <c:pt idx="27">
                    <c:v>2010</c:v>
                  </c:pt>
                  <c:pt idx="28">
                    <c:v/>
                  </c:pt>
                  <c:pt idx="29">
                    <c:v/>
                  </c:pt>
                  <c:pt idx="30">
                    <c:v/>
                  </c:pt>
                  <c:pt idx="31">
                    <c:v/>
                  </c:pt>
                  <c:pt idx="32">
                    <c:v/>
                  </c:pt>
                  <c:pt idx="33">
                    <c:v/>
                  </c:pt>
                  <c:pt idx="34">
                    <c:v/>
                  </c:pt>
                  <c:pt idx="35">
                    <c:v/>
                  </c:pt>
                  <c:pt idx="36">
                    <c:v/>
                  </c:pt>
                  <c:pt idx="37">
                    <c:v/>
                  </c:pt>
                  <c:pt idx="38">
                    <c:v/>
                  </c:pt>
                  <c:pt idx="39">
                    <c:v>2011</c:v>
                  </c:pt>
                  <c:pt idx="40">
                    <c:v/>
                  </c:pt>
                  <c:pt idx="41">
                    <c:v/>
                  </c:pt>
                  <c:pt idx="42">
                    <c:v/>
                  </c:pt>
                  <c:pt idx="43">
                    <c:v/>
                  </c:pt>
                  <c:pt idx="44">
                    <c:v/>
                  </c:pt>
                  <c:pt idx="45">
                    <c:v/>
                  </c:pt>
                  <c:pt idx="46">
                    <c:v/>
                  </c:pt>
                  <c:pt idx="47">
                    <c:v/>
                  </c:pt>
                  <c:pt idx="48">
                    <c:v/>
                  </c:pt>
                  <c:pt idx="49">
                    <c:v/>
                  </c:pt>
                  <c:pt idx="50">
                    <c:v/>
                  </c:pt>
                  <c:pt idx="51">
                    <c:v>2012</c:v>
                  </c:pt>
                  <c:pt idx="52">
                    <c:v/>
                  </c:pt>
                </c:lvl>
              </c:multiLvlStrCache>
            </c:multiLvlStrRef>
          </c:cat>
          <c:val>
            <c:numRef>
              <c:f>Sheet1!$G$2:$G$54</c:f>
              <c:numCache>
                <c:formatCode>General</c:formatCode>
                <c:ptCount val="53"/>
                <c:pt idx="0">
                  <c:v>1</c:v>
                </c:pt>
                <c:pt idx="1">
                  <c:v>0.98</c:v>
                </c:pt>
                <c:pt idx="2">
                  <c:v>0.9556</c:v>
                </c:pt>
                <c:pt idx="3">
                  <c:v>0.9213</c:v>
                </c:pt>
                <c:pt idx="4">
                  <c:v>0.888</c:v>
                </c:pt>
                <c:pt idx="5">
                  <c:v>0.8818</c:v>
                </c:pt>
                <c:pt idx="6">
                  <c:v>0.9145</c:v>
                </c:pt>
                <c:pt idx="7">
                  <c:v>0.9295</c:v>
                </c:pt>
                <c:pt idx="8">
                  <c:v>0.8598</c:v>
                </c:pt>
                <c:pt idx="9">
                  <c:v>0.8961</c:v>
                </c:pt>
                <c:pt idx="10">
                  <c:v>0.9155</c:v>
                </c:pt>
                <c:pt idx="11">
                  <c:v>0.8628</c:v>
                </c:pt>
                <c:pt idx="12">
                  <c:v>0.7409</c:v>
                </c:pt>
                <c:pt idx="13">
                  <c:v>0.7003</c:v>
                </c:pt>
                <c:pt idx="14">
                  <c:v>0.6894</c:v>
                </c:pt>
                <c:pt idx="15">
                  <c:v>0.6476</c:v>
                </c:pt>
                <c:pt idx="16">
                  <c:v>0.5902</c:v>
                </c:pt>
                <c:pt idx="17">
                  <c:v>0.6247</c:v>
                </c:pt>
                <c:pt idx="18">
                  <c:v>0.636</c:v>
                </c:pt>
                <c:pt idx="19">
                  <c:v>0.6508</c:v>
                </c:pt>
                <c:pt idx="20">
                  <c:v>0.667</c:v>
                </c:pt>
                <c:pt idx="21">
                  <c:v>0.7024</c:v>
                </c:pt>
                <c:pt idx="22">
                  <c:v>0.7102</c:v>
                </c:pt>
                <c:pt idx="23">
                  <c:v>0.7257</c:v>
                </c:pt>
                <c:pt idx="24">
                  <c:v>0.719</c:v>
                </c:pt>
                <c:pt idx="25">
                  <c:v>0.7574</c:v>
                </c:pt>
                <c:pt idx="26">
                  <c:v>0.7746</c:v>
                </c:pt>
                <c:pt idx="27">
                  <c:v>0.7695</c:v>
                </c:pt>
                <c:pt idx="28">
                  <c:v>0.7881</c:v>
                </c:pt>
                <c:pt idx="29">
                  <c:v>0.8115</c:v>
                </c:pt>
                <c:pt idx="30">
                  <c:v>0.824</c:v>
                </c:pt>
                <c:pt idx="31">
                  <c:v>0.7834</c:v>
                </c:pt>
                <c:pt idx="32">
                  <c:v>0.7664</c:v>
                </c:pt>
                <c:pt idx="33">
                  <c:v>0.8019</c:v>
                </c:pt>
                <c:pt idx="34">
                  <c:v>0.7959</c:v>
                </c:pt>
                <c:pt idx="35">
                  <c:v>0.8458</c:v>
                </c:pt>
                <c:pt idx="36">
                  <c:v>0.8625</c:v>
                </c:pt>
                <c:pt idx="37">
                  <c:v>0.8596</c:v>
                </c:pt>
                <c:pt idx="38">
                  <c:v>0.8977</c:v>
                </c:pt>
                <c:pt idx="39">
                  <c:v>0.9001</c:v>
                </c:pt>
                <c:pt idx="40">
                  <c:v>0.9384</c:v>
                </c:pt>
                <c:pt idx="41">
                  <c:v>0.9509</c:v>
                </c:pt>
                <c:pt idx="42">
                  <c:v>0.9857</c:v>
                </c:pt>
                <c:pt idx="43">
                  <c:v>0.9906</c:v>
                </c:pt>
                <c:pt idx="44">
                  <c:v>0.9776</c:v>
                </c:pt>
                <c:pt idx="45">
                  <c:v>0.9581</c:v>
                </c:pt>
                <c:pt idx="46">
                  <c:v>0.948</c:v>
                </c:pt>
                <c:pt idx="47">
                  <c:v>0.9155</c:v>
                </c:pt>
                <c:pt idx="48">
                  <c:v>0.974</c:v>
                </c:pt>
                <c:pt idx="49">
                  <c:v>0.9811</c:v>
                </c:pt>
                <c:pt idx="50">
                  <c:v>0.9936</c:v>
                </c:pt>
                <c:pt idx="51">
                  <c:v>0.9943</c:v>
                </c:pt>
                <c:pt idx="52">
                  <c:v>1.0082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orientation val="minMax"/>
          <c:min val="0.4"/>
        </c:scaling>
        <c:delete val="0"/>
        <c:axPos val="l"/>
        <c:majorGridlines>
          <c:spPr>
            <a:ln w="6350" cap="flat">
              <a:solidFill>
                <a:srgbClr val="E3E7ED"/>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1F2A"/>
                </a:solidFill>
                <a:latin typeface="+mn-lt"/>
              </a:defRPr>
            </a:pPr>
            <a:r>
              <a:rPr sz="1100" b="0" i="0" u="none" strike="noStrike">
                <a:solidFill>
                  <a:srgbClr val="1B1F2A"/>
                </a:solidFill>
                <a:latin typeface="+mn-lt"/>
              </a:rPr>
              <a:t>COVID-19 crash</a:t>
            </a:r>
          </a:p>
        </c:rich>
      </c:tx>
      <c:layout/>
      <c:overlay val="0"/>
    </c:title>
    <c:autoTitleDeleted val="0"/>
    <c:plotArea>
      <c:layout/>
      <c:lineChart>
        <c:varyColors val="0"/>
        <c:ser>
          <c:idx val="0"/>
          <c:order val="0"/>
          <c:tx>
            <c:strRef>
              <c:f>Sheet1!$B$1</c:f>
              <c:strCache>
                <c:ptCount val="1"/>
                <c:pt idx="0">
                  <c:v>Equally weighted</c:v>
                </c:pt>
              </c:strCache>
            </c:strRef>
          </c:tx>
          <c:spPr>
            <a:solidFill>
              <a:srgbClr val="EDA100"/>
            </a:solidFill>
            <a:ln w="19050" cap="flat">
              <a:solidFill>
                <a:srgbClr val="EDA100"/>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1</c:v>
                </c:pt>
                <c:pt idx="1">
                  <c:v>0.9166</c:v>
                </c:pt>
                <c:pt idx="2">
                  <c:v>0.7632</c:v>
                </c:pt>
                <c:pt idx="3">
                  <c:v>0.8656</c:v>
                </c:pt>
                <c:pt idx="4">
                  <c:v>0.9244</c:v>
                </c:pt>
                <c:pt idx="5">
                  <c:v>0.933</c:v>
                </c:pt>
                <c:pt idx="6">
                  <c:v>0.985</c:v>
                </c:pt>
              </c:numCache>
            </c:numRef>
          </c:val>
          <c:smooth val="0"/>
        </c:ser>
        <c:ser>
          <c:idx val="1"/>
          <c:order val="1"/>
          <c:tx>
            <c:strRef>
              <c:f>Sheet1!$C$1</c:f>
              <c:strCache>
                <c:ptCount val="1"/>
                <c:pt idx="0">
                  <c:v>Value weighted</c:v>
                </c:pt>
              </c:strCache>
            </c:strRef>
          </c:tx>
          <c:spPr>
            <a:solidFill>
              <a:srgbClr val="E87BA4"/>
            </a:solidFill>
            <a:ln w="19050" cap="flat">
              <a:solidFill>
                <a:srgbClr val="E87BA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1</c:v>
                </c:pt>
                <c:pt idx="1">
                  <c:v>0.9201</c:v>
                </c:pt>
                <c:pt idx="2">
                  <c:v>0.8107</c:v>
                </c:pt>
                <c:pt idx="3">
                  <c:v>0.916</c:v>
                </c:pt>
                <c:pt idx="4">
                  <c:v>0.9617</c:v>
                </c:pt>
                <c:pt idx="5">
                  <c:v>0.9818</c:v>
                </c:pt>
                <c:pt idx="6">
                  <c:v>1.0415</c:v>
                </c:pt>
              </c:numCache>
            </c:numRef>
          </c:val>
          <c:smooth val="0"/>
        </c:ser>
        <c:ser>
          <c:idx val="2"/>
          <c:order val="2"/>
          <c:tx>
            <c:strRef>
              <c:f>Sheet1!$D$1</c:f>
              <c:strCache>
                <c:ptCount val="1"/>
                <c:pt idx="0">
                  <c:v>Minimum risk</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1</c:v>
                </c:pt>
                <c:pt idx="1">
                  <c:v>0.9049</c:v>
                </c:pt>
                <c:pt idx="2">
                  <c:v>0.844</c:v>
                </c:pt>
                <c:pt idx="3">
                  <c:v>0.8904</c:v>
                </c:pt>
                <c:pt idx="4">
                  <c:v>0.9241</c:v>
                </c:pt>
                <c:pt idx="5">
                  <c:v>0.9008</c:v>
                </c:pt>
                <c:pt idx="6">
                  <c:v>0.9835</c:v>
                </c:pt>
              </c:numCache>
            </c:numRef>
          </c:val>
          <c:smooth val="0"/>
        </c:ser>
        <c:ser>
          <c:idx val="3"/>
          <c:order val="3"/>
          <c:tx>
            <c:strRef>
              <c:f>Sheet1!$E$1</c:f>
              <c:strCache>
                <c:ptCount val="1"/>
                <c:pt idx="0">
                  <c:v>Risk parity</c:v>
                </c:pt>
              </c:strCache>
            </c:strRef>
          </c:tx>
          <c:spPr>
            <a:solidFill>
              <a:srgbClr val="1BAF7A"/>
            </a:solidFill>
            <a:ln w="19050" cap="flat">
              <a:solidFill>
                <a:srgbClr val="1BAF7A"/>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1</c:v>
                </c:pt>
                <c:pt idx="1">
                  <c:v>0.9182</c:v>
                </c:pt>
                <c:pt idx="2">
                  <c:v>0.78</c:v>
                </c:pt>
                <c:pt idx="3">
                  <c:v>0.8749</c:v>
                </c:pt>
                <c:pt idx="4">
                  <c:v>0.9306</c:v>
                </c:pt>
                <c:pt idx="5">
                  <c:v>0.9338</c:v>
                </c:pt>
                <c:pt idx="6">
                  <c:v>0.9885</c:v>
                </c:pt>
              </c:numCache>
            </c:numRef>
          </c:val>
          <c:smooth val="0"/>
        </c:ser>
        <c:ser>
          <c:idx val="4"/>
          <c:order val="4"/>
          <c:tx>
            <c:strRef>
              <c:f>Sheet1!$F$1</c:f>
              <c:strCache>
                <c:ptCount val="1"/>
                <c:pt idx="0">
                  <c:v>Maximum diversification</c:v>
                </c:pt>
              </c:strCache>
            </c:strRef>
          </c:tx>
          <c:spPr>
            <a:solidFill>
              <a:srgbClr val="EB6834"/>
            </a:solidFill>
            <a:ln w="19050" cap="flat">
              <a:solidFill>
                <a:srgbClr val="EB6834"/>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1</c:v>
                </c:pt>
                <c:pt idx="1">
                  <c:v>0.9551</c:v>
                </c:pt>
                <c:pt idx="2">
                  <c:v>0.8644</c:v>
                </c:pt>
                <c:pt idx="3">
                  <c:v>0.9949</c:v>
                </c:pt>
                <c:pt idx="4">
                  <c:v>1.064</c:v>
                </c:pt>
                <c:pt idx="5">
                  <c:v>1.0569</c:v>
                </c:pt>
                <c:pt idx="6">
                  <c:v>1.141</c:v>
                </c:pt>
              </c:numCache>
            </c:numRef>
          </c:val>
          <c:smooth val="0"/>
        </c:ser>
        <c:ser>
          <c:idx val="5"/>
          <c:order val="5"/>
          <c:tx>
            <c:strRef>
              <c:f>Sheet1!$G$1</c:f>
              <c:strCache>
                <c:ptCount val="1"/>
                <c:pt idx="0">
                  <c:v>Min. risk (shrunk sample)</c:v>
                </c:pt>
              </c:strCache>
            </c:strRef>
          </c:tx>
          <c:spPr>
            <a:solidFill>
              <a:srgbClr val="2A78D6"/>
            </a:solidFill>
            <a:ln w="19050" cap="flat">
              <a:solidFill>
                <a:srgbClr val="2A78D6"/>
              </a:solidFill>
              <a:prstDash val="solid,solid,solid,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1</c:v>
                </c:pt>
                <c:pt idx="1">
                  <c:v>0.9353</c:v>
                </c:pt>
                <c:pt idx="2">
                  <c:v>0.8362</c:v>
                </c:pt>
                <c:pt idx="3">
                  <c:v>0.9091</c:v>
                </c:pt>
                <c:pt idx="4">
                  <c:v>0.9537</c:v>
                </c:pt>
                <c:pt idx="5">
                  <c:v>0.9388</c:v>
                </c:pt>
                <c:pt idx="6">
                  <c:v>0.9898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orientation val="minMax"/>
          <c:min val="0.7"/>
        </c:scaling>
        <c:delete val="0"/>
        <c:axPos val="l"/>
        <c:majorGridlines>
          <c:spPr>
            <a:ln w="6350" cap="flat">
              <a:solidFill>
                <a:srgbClr val="E3E7ED"/>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Minimum risk: growth of $1 (log scale)</a:t>
            </a:r>
          </a:p>
        </c:rich>
      </c:tx>
      <c:layout/>
      <c:overlay val="0"/>
    </c:title>
    <c:autoTitleDeleted val="0"/>
    <c:plotArea>
      <c:layout/>
      <c:lineChart>
        <c:varyColors val="0"/>
        <c:ser>
          <c:idx val="0"/>
          <c:order val="0"/>
          <c:tx>
            <c:strRef>
              <c:f>Sheet1!$B$1</c:f>
              <c:strCache>
                <c:ptCount val="1"/>
                <c:pt idx="0">
                  <c:v>Min. risk, single factor</c:v>
                </c:pt>
              </c:strCache>
            </c:strRef>
          </c:tx>
          <c:spPr>
            <a:solidFill>
              <a:srgbClr val="1F2D5C"/>
            </a:solidFill>
            <a:ln w="19050" cap="flat">
              <a:solidFill>
                <a:srgbClr val="1F2D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2D5C"/>
              </a:solidFill>
              <a:ln w="9525" cap="flat">
                <a:solidFill>
                  <a:srgbClr val="1F2D5C"/>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1.0417</c:v>
                </c:pt>
                <c:pt idx="1">
                  <c:v>1.0689</c:v>
                </c:pt>
                <c:pt idx="2">
                  <c:v>1.0794</c:v>
                </c:pt>
                <c:pt idx="3">
                  <c:v>1.0934</c:v>
                </c:pt>
                <c:pt idx="4">
                  <c:v>1.1578</c:v>
                </c:pt>
                <c:pt idx="5">
                  <c:v>1.1351</c:v>
                </c:pt>
                <c:pt idx="6">
                  <c:v>1.1548</c:v>
                </c:pt>
                <c:pt idx="7">
                  <c:v>1.1664</c:v>
                </c:pt>
                <c:pt idx="8">
                  <c:v>1.223</c:v>
                </c:pt>
                <c:pt idx="9">
                  <c:v>1.239</c:v>
                </c:pt>
                <c:pt idx="10">
                  <c:v>1.2827</c:v>
                </c:pt>
                <c:pt idx="11">
                  <c:v>1.3384</c:v>
                </c:pt>
                <c:pt idx="12">
                  <c:v>1.3874</c:v>
                </c:pt>
                <c:pt idx="13">
                  <c:v>1.3543</c:v>
                </c:pt>
                <c:pt idx="14">
                  <c:v>1.3605</c:v>
                </c:pt>
                <c:pt idx="15">
                  <c:v>1.3119</c:v>
                </c:pt>
                <c:pt idx="16">
                  <c:v>1.3288</c:v>
                </c:pt>
                <c:pt idx="17">
                  <c:v>1.3834</c:v>
                </c:pt>
                <c:pt idx="18">
                  <c:v>1.3099</c:v>
                </c:pt>
                <c:pt idx="19">
                  <c:v>1.3319</c:v>
                </c:pt>
                <c:pt idx="20">
                  <c:v>1.3393</c:v>
                </c:pt>
                <c:pt idx="21">
                  <c:v>1.3775</c:v>
                </c:pt>
                <c:pt idx="22">
                  <c:v>1.4132</c:v>
                </c:pt>
                <c:pt idx="23">
                  <c:v>1.4214</c:v>
                </c:pt>
                <c:pt idx="24">
                  <c:v>1.4334</c:v>
                </c:pt>
                <c:pt idx="25">
                  <c:v>1.4516</c:v>
                </c:pt>
                <c:pt idx="26">
                  <c:v>1.3964</c:v>
                </c:pt>
                <c:pt idx="27">
                  <c:v>1.3986</c:v>
                </c:pt>
                <c:pt idx="28">
                  <c:v>1.4476</c:v>
                </c:pt>
                <c:pt idx="29">
                  <c:v>1.5069</c:v>
                </c:pt>
                <c:pt idx="30">
                  <c:v>1.5714</c:v>
                </c:pt>
                <c:pt idx="31">
                  <c:v>1.5378</c:v>
                </c:pt>
                <c:pt idx="32">
                  <c:v>1.6103</c:v>
                </c:pt>
                <c:pt idx="33">
                  <c:v>1.5881</c:v>
                </c:pt>
                <c:pt idx="34">
                  <c:v>1.673</c:v>
                </c:pt>
                <c:pt idx="35">
                  <c:v>1.7925</c:v>
                </c:pt>
                <c:pt idx="36">
                  <c:v>1.7416</c:v>
                </c:pt>
                <c:pt idx="37">
                  <c:v>1.8121</c:v>
                </c:pt>
                <c:pt idx="38">
                  <c:v>1.931</c:v>
                </c:pt>
                <c:pt idx="39">
                  <c:v>1.8639</c:v>
                </c:pt>
                <c:pt idx="40">
                  <c:v>1.8397</c:v>
                </c:pt>
                <c:pt idx="41">
                  <c:v>1.8911</c:v>
                </c:pt>
                <c:pt idx="42">
                  <c:v>1.7867</c:v>
                </c:pt>
                <c:pt idx="43">
                  <c:v>1.7486</c:v>
                </c:pt>
                <c:pt idx="44">
                  <c:v>1.8824</c:v>
                </c:pt>
                <c:pt idx="45">
                  <c:v>1.8392</c:v>
                </c:pt>
                <c:pt idx="46">
                  <c:v>1.8581</c:v>
                </c:pt>
                <c:pt idx="47">
                  <c:v>1.9216</c:v>
                </c:pt>
                <c:pt idx="48">
                  <c:v>1.7789</c:v>
                </c:pt>
                <c:pt idx="49">
                  <c:v>1.6734</c:v>
                </c:pt>
                <c:pt idx="50">
                  <c:v>1.6464</c:v>
                </c:pt>
                <c:pt idx="51">
                  <c:v>1.728</c:v>
                </c:pt>
                <c:pt idx="52">
                  <c:v>1.8405</c:v>
                </c:pt>
                <c:pt idx="53">
                  <c:v>1.7456</c:v>
                </c:pt>
                <c:pt idx="54">
                  <c:v>1.7031</c:v>
                </c:pt>
                <c:pt idx="55">
                  <c:v>1.7288</c:v>
                </c:pt>
                <c:pt idx="56">
                  <c:v>1.6377</c:v>
                </c:pt>
                <c:pt idx="57">
                  <c:v>1.6522</c:v>
                </c:pt>
                <c:pt idx="58">
                  <c:v>1.5275</c:v>
                </c:pt>
                <c:pt idx="59">
                  <c:v>1.5025</c:v>
                </c:pt>
                <c:pt idx="60">
                  <c:v>1.5379</c:v>
                </c:pt>
                <c:pt idx="61">
                  <c:v>1.4135</c:v>
                </c:pt>
                <c:pt idx="62">
                  <c:v>1.5021</c:v>
                </c:pt>
                <c:pt idx="63">
                  <c:v>1.6716</c:v>
                </c:pt>
                <c:pt idx="64">
                  <c:v>1.7192</c:v>
                </c:pt>
                <c:pt idx="65">
                  <c:v>1.6085</c:v>
                </c:pt>
                <c:pt idx="66">
                  <c:v>1.6949</c:v>
                </c:pt>
                <c:pt idx="67">
                  <c:v>1.8819</c:v>
                </c:pt>
                <c:pt idx="68">
                  <c:v>2.0895</c:v>
                </c:pt>
                <c:pt idx="69">
                  <c:v>2.04</c:v>
                </c:pt>
                <c:pt idx="70">
                  <c:v>2.1478</c:v>
                </c:pt>
                <c:pt idx="71">
                  <c:v>2.2624</c:v>
                </c:pt>
                <c:pt idx="72">
                  <c:v>2.0253</c:v>
                </c:pt>
                <c:pt idx="73">
                  <c:v>2.1502</c:v>
                </c:pt>
                <c:pt idx="74">
                  <c:v>2.1823</c:v>
                </c:pt>
                <c:pt idx="75">
                  <c:v>2.2607</c:v>
                </c:pt>
                <c:pt idx="76">
                  <c:v>2.3272</c:v>
                </c:pt>
                <c:pt idx="77">
                  <c:v>2.2451</c:v>
                </c:pt>
                <c:pt idx="78">
                  <c:v>2.1651</c:v>
                </c:pt>
                <c:pt idx="79">
                  <c:v>2.2191</c:v>
                </c:pt>
                <c:pt idx="80">
                  <c:v>2.1373</c:v>
                </c:pt>
                <c:pt idx="81">
                  <c:v>2.1319</c:v>
                </c:pt>
                <c:pt idx="82">
                  <c:v>2.1406</c:v>
                </c:pt>
                <c:pt idx="83">
                  <c:v>2.2256</c:v>
                </c:pt>
                <c:pt idx="84">
                  <c:v>2.2155</c:v>
                </c:pt>
                <c:pt idx="85">
                  <c:v>2.2343</c:v>
                </c:pt>
                <c:pt idx="86">
                  <c:v>2.3777</c:v>
                </c:pt>
                <c:pt idx="87">
                  <c:v>2.3956</c:v>
                </c:pt>
                <c:pt idx="88">
                  <c:v>2.3628</c:v>
                </c:pt>
                <c:pt idx="89">
                  <c:v>2.2769</c:v>
                </c:pt>
                <c:pt idx="90">
                  <c:v>2.1335</c:v>
                </c:pt>
                <c:pt idx="91">
                  <c:v>2.1679</c:v>
                </c:pt>
                <c:pt idx="92">
                  <c:v>2.0086</c:v>
                </c:pt>
                <c:pt idx="93">
                  <c:v>1.9963</c:v>
                </c:pt>
                <c:pt idx="94">
                  <c:v>2.0023</c:v>
                </c:pt>
                <c:pt idx="95">
                  <c:v>2.0759</c:v>
                </c:pt>
                <c:pt idx="96">
                  <c:v>1.9864</c:v>
                </c:pt>
                <c:pt idx="97">
                  <c:v>1.9331</c:v>
                </c:pt>
                <c:pt idx="98">
                  <c:v>1.9777</c:v>
                </c:pt>
                <c:pt idx="99">
                  <c:v>2.0567</c:v>
                </c:pt>
                <c:pt idx="100">
                  <c:v>2.2318</c:v>
                </c:pt>
                <c:pt idx="101">
                  <c:v>2.2264</c:v>
                </c:pt>
                <c:pt idx="102">
                  <c:v>2.1724</c:v>
                </c:pt>
                <c:pt idx="103">
                  <c:v>2.1916</c:v>
                </c:pt>
                <c:pt idx="104">
                  <c:v>2.2276</c:v>
                </c:pt>
                <c:pt idx="105">
                  <c:v>2.2991</c:v>
                </c:pt>
                <c:pt idx="106">
                  <c:v>2.3412</c:v>
                </c:pt>
                <c:pt idx="107">
                  <c:v>2.4241</c:v>
                </c:pt>
                <c:pt idx="108">
                  <c:v>2.4417</c:v>
                </c:pt>
                <c:pt idx="109">
                  <c:v>2.521</c:v>
                </c:pt>
                <c:pt idx="110">
                  <c:v>2.5211</c:v>
                </c:pt>
                <c:pt idx="111">
                  <c:v>2.5332</c:v>
                </c:pt>
                <c:pt idx="112">
                  <c:v>2.5655</c:v>
                </c:pt>
                <c:pt idx="113">
                  <c:v>2.625</c:v>
                </c:pt>
                <c:pt idx="114">
                  <c:v>2.5715</c:v>
                </c:pt>
                <c:pt idx="115">
                  <c:v>2.6246</c:v>
                </c:pt>
                <c:pt idx="116">
                  <c:v>2.6353</c:v>
                </c:pt>
                <c:pt idx="117">
                  <c:v>2.6761</c:v>
                </c:pt>
                <c:pt idx="118">
                  <c:v>2.7963</c:v>
                </c:pt>
                <c:pt idx="119">
                  <c:v>2.8816</c:v>
                </c:pt>
                <c:pt idx="120">
                  <c:v>2.8858</c:v>
                </c:pt>
                <c:pt idx="121">
                  <c:v>2.9023</c:v>
                </c:pt>
                <c:pt idx="122">
                  <c:v>2.8814</c:v>
                </c:pt>
                <c:pt idx="123">
                  <c:v>2.9235</c:v>
                </c:pt>
                <c:pt idx="124">
                  <c:v>2.968</c:v>
                </c:pt>
                <c:pt idx="125">
                  <c:v>2.9794</c:v>
                </c:pt>
                <c:pt idx="126">
                  <c:v>3.0108</c:v>
                </c:pt>
                <c:pt idx="127">
                  <c:v>2.9772</c:v>
                </c:pt>
                <c:pt idx="128">
                  <c:v>2.9993</c:v>
                </c:pt>
                <c:pt idx="129">
                  <c:v>2.92</c:v>
                </c:pt>
                <c:pt idx="130">
                  <c:v>2.9769</c:v>
                </c:pt>
                <c:pt idx="131">
                  <c:v>2.9832</c:v>
                </c:pt>
                <c:pt idx="132">
                  <c:v>3.0066</c:v>
                </c:pt>
                <c:pt idx="133">
                  <c:v>3.0402</c:v>
                </c:pt>
                <c:pt idx="134">
                  <c:v>3.0384</c:v>
                </c:pt>
                <c:pt idx="135">
                  <c:v>3.0132</c:v>
                </c:pt>
                <c:pt idx="136">
                  <c:v>2.9796</c:v>
                </c:pt>
                <c:pt idx="137">
                  <c:v>2.9746</c:v>
                </c:pt>
                <c:pt idx="138">
                  <c:v>3.0747</c:v>
                </c:pt>
                <c:pt idx="139">
                  <c:v>3.1487</c:v>
                </c:pt>
                <c:pt idx="140">
                  <c:v>3.1589</c:v>
                </c:pt>
                <c:pt idx="141">
                  <c:v>3.2547</c:v>
                </c:pt>
                <c:pt idx="142">
                  <c:v>3.3166</c:v>
                </c:pt>
                <c:pt idx="143">
                  <c:v>3.3394</c:v>
                </c:pt>
                <c:pt idx="144">
                  <c:v>3.4034</c:v>
                </c:pt>
                <c:pt idx="145">
                  <c:v>3.4032</c:v>
                </c:pt>
                <c:pt idx="146">
                  <c:v>3.4762</c:v>
                </c:pt>
                <c:pt idx="147">
                  <c:v>3.6041</c:v>
                </c:pt>
                <c:pt idx="148">
                  <c:v>3.6569</c:v>
                </c:pt>
                <c:pt idx="149">
                  <c:v>3.5564</c:v>
                </c:pt>
                <c:pt idx="150">
                  <c:v>3.4778</c:v>
                </c:pt>
                <c:pt idx="151">
                  <c:v>3.5955</c:v>
                </c:pt>
                <c:pt idx="152">
                  <c:v>3.7484</c:v>
                </c:pt>
                <c:pt idx="153">
                  <c:v>3.8277</c:v>
                </c:pt>
                <c:pt idx="154">
                  <c:v>3.8558</c:v>
                </c:pt>
                <c:pt idx="155">
                  <c:v>3.8313</c:v>
                </c:pt>
                <c:pt idx="156">
                  <c:v>3.604</c:v>
                </c:pt>
                <c:pt idx="157">
                  <c:v>3.453</c:v>
                </c:pt>
                <c:pt idx="158">
                  <c:v>3.4958</c:v>
                </c:pt>
                <c:pt idx="159">
                  <c:v>3.5834</c:v>
                </c:pt>
                <c:pt idx="160">
                  <c:v>3.6194</c:v>
                </c:pt>
                <c:pt idx="161">
                  <c:v>3.3751</c:v>
                </c:pt>
                <c:pt idx="162">
                  <c:v>3.4794</c:v>
                </c:pt>
                <c:pt idx="163">
                  <c:v>3.5367</c:v>
                </c:pt>
                <c:pt idx="164">
                  <c:v>3.4675</c:v>
                </c:pt>
                <c:pt idx="165">
                  <c:v>3.157</c:v>
                </c:pt>
                <c:pt idx="166">
                  <c:v>2.9781</c:v>
                </c:pt>
                <c:pt idx="167">
                  <c:v>2.9227</c:v>
                </c:pt>
                <c:pt idx="168">
                  <c:v>2.6209</c:v>
                </c:pt>
                <c:pt idx="169">
                  <c:v>2.408</c:v>
                </c:pt>
                <c:pt idx="170">
                  <c:v>2.4958</c:v>
                </c:pt>
                <c:pt idx="171">
                  <c:v>2.47</c:v>
                </c:pt>
                <c:pt idx="172">
                  <c:v>2.4973</c:v>
                </c:pt>
                <c:pt idx="173">
                  <c:v>2.5961</c:v>
                </c:pt>
                <c:pt idx="174">
                  <c:v>2.6955</c:v>
                </c:pt>
                <c:pt idx="175">
                  <c:v>2.734</c:v>
                </c:pt>
                <c:pt idx="176">
                  <c:v>2.7631</c:v>
                </c:pt>
                <c:pt idx="177">
                  <c:v>2.7488</c:v>
                </c:pt>
                <c:pt idx="178">
                  <c:v>2.89</c:v>
                </c:pt>
                <c:pt idx="179">
                  <c:v>2.9621</c:v>
                </c:pt>
                <c:pt idx="180">
                  <c:v>2.9553</c:v>
                </c:pt>
                <c:pt idx="181">
                  <c:v>3.0179</c:v>
                </c:pt>
                <c:pt idx="182">
                  <c:v>3.0791</c:v>
                </c:pt>
                <c:pt idx="183">
                  <c:v>3.1123</c:v>
                </c:pt>
                <c:pt idx="184">
                  <c:v>2.9516</c:v>
                </c:pt>
                <c:pt idx="185">
                  <c:v>2.9117</c:v>
                </c:pt>
                <c:pt idx="186">
                  <c:v>3.0627</c:v>
                </c:pt>
                <c:pt idx="187">
                  <c:v>3.0868</c:v>
                </c:pt>
                <c:pt idx="188">
                  <c:v>3.1957</c:v>
                </c:pt>
                <c:pt idx="189">
                  <c:v>3.2713</c:v>
                </c:pt>
                <c:pt idx="190">
                  <c:v>3.2099</c:v>
                </c:pt>
                <c:pt idx="191">
                  <c:v>3.3176</c:v>
                </c:pt>
                <c:pt idx="192">
                  <c:v>3.298</c:v>
                </c:pt>
                <c:pt idx="193">
                  <c:v>3.4446</c:v>
                </c:pt>
                <c:pt idx="194">
                  <c:v>3.4625</c:v>
                </c:pt>
                <c:pt idx="195">
                  <c:v>3.6148</c:v>
                </c:pt>
                <c:pt idx="196">
                  <c:v>3.6246</c:v>
                </c:pt>
                <c:pt idx="197">
                  <c:v>3.5816</c:v>
                </c:pt>
                <c:pt idx="198">
                  <c:v>3.5083</c:v>
                </c:pt>
                <c:pt idx="199">
                  <c:v>3.5383</c:v>
                </c:pt>
                <c:pt idx="200">
                  <c:v>3.467</c:v>
                </c:pt>
                <c:pt idx="201">
                  <c:v>3.6043</c:v>
                </c:pt>
                <c:pt idx="202">
                  <c:v>3.6517</c:v>
                </c:pt>
                <c:pt idx="203">
                  <c:v>3.7708</c:v>
                </c:pt>
                <c:pt idx="204">
                  <c:v>3.7168</c:v>
                </c:pt>
                <c:pt idx="205">
                  <c:v>3.738</c:v>
                </c:pt>
                <c:pt idx="206">
                  <c:v>3.8352</c:v>
                </c:pt>
                <c:pt idx="207">
                  <c:v>3.8906</c:v>
                </c:pt>
                <c:pt idx="208">
                  <c:v>3.9223</c:v>
                </c:pt>
                <c:pt idx="209">
                  <c:v>4.091</c:v>
                </c:pt>
                <c:pt idx="210">
                  <c:v>4.161</c:v>
                </c:pt>
                <c:pt idx="211">
                  <c:v>4.075</c:v>
                </c:pt>
                <c:pt idx="212">
                  <c:v>4.1084</c:v>
                </c:pt>
                <c:pt idx="213">
                  <c:v>4.1201</c:v>
                </c:pt>
                <c:pt idx="214">
                  <c:v>4.0764</c:v>
                </c:pt>
                <c:pt idx="215">
                  <c:v>4.0192</c:v>
                </c:pt>
                <c:pt idx="216">
                  <c:v>4.2016</c:v>
                </c:pt>
                <c:pt idx="217">
                  <c:v>4.399</c:v>
                </c:pt>
                <c:pt idx="218">
                  <c:v>4.638</c:v>
                </c:pt>
                <c:pt idx="219">
                  <c:v>4.8385</c:v>
                </c:pt>
                <c:pt idx="220">
                  <c:v>4.535</c:v>
                </c:pt>
                <c:pt idx="221">
                  <c:v>4.6118</c:v>
                </c:pt>
                <c:pt idx="222">
                  <c:v>4.8221</c:v>
                </c:pt>
                <c:pt idx="223">
                  <c:v>4.5785</c:v>
                </c:pt>
                <c:pt idx="224">
                  <c:v>4.5734</c:v>
                </c:pt>
                <c:pt idx="225">
                  <c:v>4.7448</c:v>
                </c:pt>
                <c:pt idx="226">
                  <c:v>4.6496</c:v>
                </c:pt>
                <c:pt idx="227">
                  <c:v>4.6576</c:v>
                </c:pt>
                <c:pt idx="228">
                  <c:v>4.6833</c:v>
                </c:pt>
                <c:pt idx="229">
                  <c:v>4.8581</c:v>
                </c:pt>
                <c:pt idx="230">
                  <c:v>4.9477</c:v>
                </c:pt>
                <c:pt idx="231">
                  <c:v>5.1063</c:v>
                </c:pt>
                <c:pt idx="232">
                  <c:v>5.06</c:v>
                </c:pt>
                <c:pt idx="233">
                  <c:v>5.2</c:v>
                </c:pt>
                <c:pt idx="234">
                  <c:v>4.9355</c:v>
                </c:pt>
                <c:pt idx="235">
                  <c:v>5.183</c:v>
                </c:pt>
                <c:pt idx="236">
                  <c:v>5.099</c:v>
                </c:pt>
                <c:pt idx="237">
                  <c:v>5.4531</c:v>
                </c:pt>
                <c:pt idx="238">
                  <c:v>5.5937</c:v>
                </c:pt>
                <c:pt idx="239">
                  <c:v>5.7175</c:v>
                </c:pt>
                <c:pt idx="240">
                  <c:v>5.8782</c:v>
                </c:pt>
                <c:pt idx="241">
                  <c:v>5.6792</c:v>
                </c:pt>
                <c:pt idx="242">
                  <c:v>5.6246</c:v>
                </c:pt>
                <c:pt idx="243">
                  <c:v>5.5938</c:v>
                </c:pt>
                <c:pt idx="244">
                  <c:v>5.6278</c:v>
                </c:pt>
                <c:pt idx="245">
                  <c:v>5.3374</c:v>
                </c:pt>
                <c:pt idx="246">
                  <c:v>5.6638</c:v>
                </c:pt>
                <c:pt idx="247">
                  <c:v>5.4663</c:v>
                </c:pt>
                <c:pt idx="248">
                  <c:v>5.6386</c:v>
                </c:pt>
                <c:pt idx="249">
                  <c:v>5.7654</c:v>
                </c:pt>
                <c:pt idx="250">
                  <c:v>5.68</c:v>
                </c:pt>
                <c:pt idx="251">
                  <c:v>5.8338</c:v>
                </c:pt>
                <c:pt idx="252">
                  <c:v>6.0916</c:v>
                </c:pt>
                <c:pt idx="253">
                  <c:v>6.1823</c:v>
                </c:pt>
                <c:pt idx="254">
                  <c:v>6.6486</c:v>
                </c:pt>
                <c:pt idx="255">
                  <c:v>6.5176</c:v>
                </c:pt>
                <c:pt idx="256">
                  <c:v>6.6178</c:v>
                </c:pt>
                <c:pt idx="257">
                  <c:v>7.1747</c:v>
                </c:pt>
                <c:pt idx="258">
                  <c:v>7.1282</c:v>
                </c:pt>
                <c:pt idx="259">
                  <c:v>6.7599</c:v>
                </c:pt>
                <c:pt idx="260">
                  <c:v>6.7627</c:v>
                </c:pt>
                <c:pt idx="261">
                  <c:v>6.7475</c:v>
                </c:pt>
                <c:pt idx="262">
                  <c:v>6.4739</c:v>
                </c:pt>
                <c:pt idx="263">
                  <c:v>6.786</c:v>
                </c:pt>
                <c:pt idx="264">
                  <c:v>6.8349</c:v>
                </c:pt>
                <c:pt idx="265">
                  <c:v>7.1882</c:v>
                </c:pt>
                <c:pt idx="266">
                  <c:v>7.1867</c:v>
                </c:pt>
                <c:pt idx="267">
                  <c:v>7.2545</c:v>
                </c:pt>
                <c:pt idx="268">
                  <c:v>7.503</c:v>
                </c:pt>
                <c:pt idx="269">
                  <c:v>7.3163</c:v>
                </c:pt>
                <c:pt idx="270">
                  <c:v>7.4468</c:v>
                </c:pt>
                <c:pt idx="271">
                  <c:v>7.5842</c:v>
                </c:pt>
                <c:pt idx="272">
                  <c:v>7.4117</c:v>
                </c:pt>
                <c:pt idx="273">
                  <c:v>7.6799</c:v>
                </c:pt>
                <c:pt idx="274">
                  <c:v>7.9892</c:v>
                </c:pt>
                <c:pt idx="275">
                  <c:v>7.6618</c:v>
                </c:pt>
                <c:pt idx="276">
                  <c:v>7.4616</c:v>
                </c:pt>
                <c:pt idx="277">
                  <c:v>7.1338</c:v>
                </c:pt>
                <c:pt idx="278">
                  <c:v>7.3681</c:v>
                </c:pt>
                <c:pt idx="279">
                  <c:v>7.497</c:v>
                </c:pt>
                <c:pt idx="280">
                  <c:v>7.4097</c:v>
                </c:pt>
                <c:pt idx="281">
                  <c:v>7.6298</c:v>
                </c:pt>
                <c:pt idx="282">
                  <c:v>7.7838</c:v>
                </c:pt>
                <c:pt idx="283">
                  <c:v>7.9449</c:v>
                </c:pt>
                <c:pt idx="284">
                  <c:v>7.8884</c:v>
                </c:pt>
                <c:pt idx="285">
                  <c:v>7.9732</c:v>
                </c:pt>
                <c:pt idx="286">
                  <c:v>8.2203</c:v>
                </c:pt>
                <c:pt idx="287">
                  <c:v>7.7252</c:v>
                </c:pt>
                <c:pt idx="288">
                  <c:v>7.991</c:v>
                </c:pt>
                <c:pt idx="289">
                  <c:v>8.3483</c:v>
                </c:pt>
                <c:pt idx="290">
                  <c:v>8.6235</c:v>
                </c:pt>
                <c:pt idx="291">
                  <c:v>8.7736</c:v>
                </c:pt>
                <c:pt idx="292">
                  <c:v>8.7226</c:v>
                </c:pt>
                <c:pt idx="293">
                  <c:v>9.0507</c:v>
                </c:pt>
                <c:pt idx="294">
                  <c:v>9.1525</c:v>
                </c:pt>
                <c:pt idx="295">
                  <c:v>9.6617</c:v>
                </c:pt>
                <c:pt idx="296">
                  <c:v>9.8342</c:v>
                </c:pt>
                <c:pt idx="297">
                  <c:v>9.6861</c:v>
                </c:pt>
                <c:pt idx="298">
                  <c:v>9.5243</c:v>
                </c:pt>
                <c:pt idx="299">
                  <c:v>9.8311</c:v>
                </c:pt>
                <c:pt idx="300">
                  <c:v>10.5082</c:v>
                </c:pt>
                <c:pt idx="301">
                  <c:v>9.5084</c:v>
                </c:pt>
                <c:pt idx="302">
                  <c:v>8.8685</c:v>
                </c:pt>
                <c:pt idx="303">
                  <c:v>9.3561</c:v>
                </c:pt>
                <c:pt idx="304">
                  <c:v>9.7106</c:v>
                </c:pt>
                <c:pt idx="305">
                  <c:v>9.4661</c:v>
                </c:pt>
                <c:pt idx="306">
                  <c:v>10.3351</c:v>
                </c:pt>
                <c:pt idx="307">
                  <c:v>10.2262</c:v>
                </c:pt>
                <c:pt idx="308">
                  <c:v>10.2432</c:v>
                </c:pt>
                <c:pt idx="309">
                  <c:v>10.3621</c:v>
                </c:pt>
                <c:pt idx="310">
                  <c:v>10.3873</c:v>
                </c:pt>
                <c:pt idx="311">
                  <c:v>10.394</c:v>
                </c:pt>
                <c:pt idx="312">
                  <c:v>10.2361</c:v>
                </c:pt>
                <c:pt idx="313">
                  <c:v>9.7001</c:v>
                </c:pt>
                <c:pt idx="314">
                  <c:v>10.6484</c:v>
                </c:pt>
                <c:pt idx="315">
                  <c:v>10.9303</c:v>
                </c:pt>
                <c:pt idx="316">
                  <c:v>10.9117</c:v>
                </c:pt>
                <c:pt idx="317">
                  <c:v>10.7167</c:v>
                </c:pt>
                <c:pt idx="318">
                  <c:v>11.0554</c:v>
                </c:pt>
                <c:pt idx="319">
                  <c:v>11.3012</c:v>
                </c:pt>
                <c:pt idx="320">
                  <c:v>10.5294</c:v>
                </c:pt>
                <c:pt idx="321">
                  <c:v>10.8837</c:v>
                </c:pt>
                <c:pt idx="322">
                  <c:v>10.68</c:v>
                </c:pt>
                <c:pt idx="323">
                  <c:v>11.6772</c:v>
                </c:pt>
                <c:pt idx="324">
                  <c:v>11.4927</c:v>
                </c:pt>
                <c:pt idx="325">
                  <c:v>11.3167</c:v>
                </c:pt>
                <c:pt idx="326">
                  <c:v>12.1698</c:v>
                </c:pt>
                <c:pt idx="327">
                  <c:v>11.9336</c:v>
                </c:pt>
                <c:pt idx="328">
                  <c:v>12.1829</c:v>
                </c:pt>
                <c:pt idx="329">
                  <c:v>11.6502</c:v>
                </c:pt>
                <c:pt idx="330">
                  <c:v>11.9676</c:v>
                </c:pt>
                <c:pt idx="331">
                  <c:v>11.9261</c:v>
                </c:pt>
                <c:pt idx="332">
                  <c:v>10.8847</c:v>
                </c:pt>
                <c:pt idx="333">
                  <c:v>11.645</c:v>
                </c:pt>
                <c:pt idx="334">
                  <c:v>12.3266</c:v>
                </c:pt>
                <c:pt idx="335">
                  <c:v>12.1781</c:v>
                </c:pt>
                <c:pt idx="336">
                  <c:v>12.1268</c:v>
                </c:pt>
                <c:pt idx="337">
                  <c:v>11.7352</c:v>
                </c:pt>
                <c:pt idx="338">
                  <c:v>12.1347</c:v>
                </c:pt>
                <c:pt idx="339">
                  <c:v>12.5005</c:v>
                </c:pt>
                <c:pt idx="340">
                  <c:v>11.75</c:v>
                </c:pt>
                <c:pt idx="341">
                  <c:v>11.731</c:v>
                </c:pt>
                <c:pt idx="342">
                  <c:v>11.6926</c:v>
                </c:pt>
                <c:pt idx="343">
                  <c:v>11.2163</c:v>
                </c:pt>
                <c:pt idx="344">
                  <c:v>10.4726</c:v>
                </c:pt>
                <c:pt idx="345">
                  <c:v>10.2931</c:v>
                </c:pt>
                <c:pt idx="346">
                  <c:v>10.5126</c:v>
                </c:pt>
                <c:pt idx="347">
                  <c:v>10.9146</c:v>
                </c:pt>
                <c:pt idx="348">
                  <c:v>11.0767</c:v>
                </c:pt>
                <c:pt idx="349">
                  <c:v>11.0266</c:v>
                </c:pt>
                <c:pt idx="350">
                  <c:v>11.5043</c:v>
                </c:pt>
                <c:pt idx="351">
                  <c:v>11.335</c:v>
                </c:pt>
                <c:pt idx="352">
                  <c:v>11.3158</c:v>
                </c:pt>
                <c:pt idx="353">
                  <c:v>11.2158</c:v>
                </c:pt>
                <c:pt idx="354">
                  <c:v>11.7118</c:v>
                </c:pt>
                <c:pt idx="355">
                  <c:v>12.4681</c:v>
                </c:pt>
                <c:pt idx="356">
                  <c:v>12.5336</c:v>
                </c:pt>
                <c:pt idx="357">
                  <c:v>11.9462</c:v>
                </c:pt>
                <c:pt idx="358">
                  <c:v>12.1519</c:v>
                </c:pt>
                <c:pt idx="359">
                  <c:v>11.5493</c:v>
                </c:pt>
                <c:pt idx="360">
                  <c:v>11.3975</c:v>
                </c:pt>
                <c:pt idx="361">
                  <c:v>11.7708</c:v>
                </c:pt>
                <c:pt idx="362">
                  <c:v>11.9676</c:v>
                </c:pt>
                <c:pt idx="363">
                  <c:v>11.5728</c:v>
                </c:pt>
                <c:pt idx="364">
                  <c:v>11.3522</c:v>
                </c:pt>
                <c:pt idx="365">
                  <c:v>11.1286</c:v>
                </c:pt>
                <c:pt idx="366">
                  <c:v>11.2413</c:v>
                </c:pt>
                <c:pt idx="367">
                  <c:v>11.4534</c:v>
                </c:pt>
                <c:pt idx="368">
                  <c:v>11.5773</c:v>
                </c:pt>
                <c:pt idx="369">
                  <c:v>11.1921</c:v>
                </c:pt>
                <c:pt idx="370">
                  <c:v>11.6687</c:v>
                </c:pt>
                <c:pt idx="371">
                  <c:v>11.5178</c:v>
                </c:pt>
              </c:numCache>
            </c:numRef>
          </c:val>
          <c:smooth val="0"/>
        </c:ser>
        <c:ser>
          <c:idx val="1"/>
          <c:order val="1"/>
          <c:tx>
            <c:strRef>
              <c:f>Sheet1!$C$1</c:f>
              <c:strCache>
                <c:ptCount val="1"/>
                <c:pt idx="0">
                  <c:v>Min. risk, constant correlation</c:v>
                </c:pt>
              </c:strCache>
            </c:strRef>
          </c:tx>
          <c:spPr>
            <a:solidFill>
              <a:srgbClr val="8E44AD"/>
            </a:solidFill>
            <a:ln w="19050" cap="flat">
              <a:solidFill>
                <a:srgbClr val="8E44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44AD"/>
              </a:solidFill>
              <a:ln w="9525" cap="flat">
                <a:solidFill>
                  <a:srgbClr val="8E44AD"/>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Sheet1!$C$2:$C$373</c:f>
              <c:numCache>
                <c:formatCode>General</c:formatCode>
                <c:ptCount val="372"/>
                <c:pt idx="0">
                  <c:v>1.0668</c:v>
                </c:pt>
                <c:pt idx="1">
                  <c:v>1.0796</c:v>
                </c:pt>
                <c:pt idx="2">
                  <c:v>1.0639</c:v>
                </c:pt>
                <c:pt idx="3">
                  <c:v>1.0824</c:v>
                </c:pt>
                <c:pt idx="4">
                  <c:v>1.1516</c:v>
                </c:pt>
                <c:pt idx="5">
                  <c:v>1.1355</c:v>
                </c:pt>
                <c:pt idx="6">
                  <c:v>1.1295</c:v>
                </c:pt>
                <c:pt idx="7">
                  <c:v>1.14</c:v>
                </c:pt>
                <c:pt idx="8">
                  <c:v>1.2076</c:v>
                </c:pt>
                <c:pt idx="9">
                  <c:v>1.2467</c:v>
                </c:pt>
                <c:pt idx="10">
                  <c:v>1.2772</c:v>
                </c:pt>
                <c:pt idx="11">
                  <c:v>1.3429</c:v>
                </c:pt>
                <c:pt idx="12">
                  <c:v>1.3671</c:v>
                </c:pt>
                <c:pt idx="13">
                  <c:v>1.3283</c:v>
                </c:pt>
                <c:pt idx="14">
                  <c:v>1.3296</c:v>
                </c:pt>
                <c:pt idx="15">
                  <c:v>1.2842</c:v>
                </c:pt>
                <c:pt idx="16">
                  <c:v>1.3038</c:v>
                </c:pt>
                <c:pt idx="17">
                  <c:v>1.3716</c:v>
                </c:pt>
                <c:pt idx="18">
                  <c:v>1.2921</c:v>
                </c:pt>
                <c:pt idx="19">
                  <c:v>1.3148</c:v>
                </c:pt>
                <c:pt idx="20">
                  <c:v>1.3264</c:v>
                </c:pt>
                <c:pt idx="21">
                  <c:v>1.3764</c:v>
                </c:pt>
                <c:pt idx="22">
                  <c:v>1.417</c:v>
                </c:pt>
                <c:pt idx="23">
                  <c:v>1.4162</c:v>
                </c:pt>
                <c:pt idx="24">
                  <c:v>1.4392</c:v>
                </c:pt>
                <c:pt idx="25">
                  <c:v>1.4561</c:v>
                </c:pt>
                <c:pt idx="26">
                  <c:v>1.4258</c:v>
                </c:pt>
                <c:pt idx="27">
                  <c:v>1.4271</c:v>
                </c:pt>
                <c:pt idx="28">
                  <c:v>1.4868</c:v>
                </c:pt>
                <c:pt idx="29">
                  <c:v>1.5306</c:v>
                </c:pt>
                <c:pt idx="30">
                  <c:v>1.5793</c:v>
                </c:pt>
                <c:pt idx="31">
                  <c:v>1.5345</c:v>
                </c:pt>
                <c:pt idx="32">
                  <c:v>1.604</c:v>
                </c:pt>
                <c:pt idx="33">
                  <c:v>1.5838</c:v>
                </c:pt>
                <c:pt idx="34">
                  <c:v>1.6841</c:v>
                </c:pt>
                <c:pt idx="35">
                  <c:v>1.795</c:v>
                </c:pt>
                <c:pt idx="36">
                  <c:v>1.7314</c:v>
                </c:pt>
                <c:pt idx="37">
                  <c:v>1.798</c:v>
                </c:pt>
                <c:pt idx="38">
                  <c:v>1.9246</c:v>
                </c:pt>
                <c:pt idx="39">
                  <c:v>1.8873</c:v>
                </c:pt>
                <c:pt idx="40">
                  <c:v>1.8556</c:v>
                </c:pt>
                <c:pt idx="41">
                  <c:v>1.9089</c:v>
                </c:pt>
                <c:pt idx="42">
                  <c:v>1.8351</c:v>
                </c:pt>
                <c:pt idx="43">
                  <c:v>1.8473</c:v>
                </c:pt>
                <c:pt idx="44">
                  <c:v>1.9908</c:v>
                </c:pt>
                <c:pt idx="45">
                  <c:v>1.9657</c:v>
                </c:pt>
                <c:pt idx="46">
                  <c:v>2.0128</c:v>
                </c:pt>
                <c:pt idx="47">
                  <c:v>2.0756</c:v>
                </c:pt>
                <c:pt idx="48">
                  <c:v>1.9334</c:v>
                </c:pt>
                <c:pt idx="49">
                  <c:v>1.8318</c:v>
                </c:pt>
                <c:pt idx="50">
                  <c:v>1.7961</c:v>
                </c:pt>
                <c:pt idx="51">
                  <c:v>1.9222</c:v>
                </c:pt>
                <c:pt idx="52">
                  <c:v>2.0206</c:v>
                </c:pt>
                <c:pt idx="53">
                  <c:v>1.9299</c:v>
                </c:pt>
                <c:pt idx="54">
                  <c:v>1.8934</c:v>
                </c:pt>
                <c:pt idx="55">
                  <c:v>1.9098</c:v>
                </c:pt>
                <c:pt idx="56">
                  <c:v>1.8089</c:v>
                </c:pt>
                <c:pt idx="57">
                  <c:v>1.8448</c:v>
                </c:pt>
                <c:pt idx="58">
                  <c:v>1.7552</c:v>
                </c:pt>
                <c:pt idx="59">
                  <c:v>1.7086</c:v>
                </c:pt>
                <c:pt idx="60">
                  <c:v>1.7255</c:v>
                </c:pt>
                <c:pt idx="61">
                  <c:v>1.5712</c:v>
                </c:pt>
                <c:pt idx="62">
                  <c:v>1.6847</c:v>
                </c:pt>
                <c:pt idx="63">
                  <c:v>1.8299</c:v>
                </c:pt>
                <c:pt idx="64">
                  <c:v>1.8971</c:v>
                </c:pt>
                <c:pt idx="65">
                  <c:v>1.7888</c:v>
                </c:pt>
                <c:pt idx="66">
                  <c:v>1.8573</c:v>
                </c:pt>
                <c:pt idx="67">
                  <c:v>2.0229</c:v>
                </c:pt>
                <c:pt idx="68">
                  <c:v>2.1913</c:v>
                </c:pt>
                <c:pt idx="69">
                  <c:v>2.2154</c:v>
                </c:pt>
                <c:pt idx="70">
                  <c:v>2.2912</c:v>
                </c:pt>
                <c:pt idx="71">
                  <c:v>2.4336</c:v>
                </c:pt>
                <c:pt idx="72">
                  <c:v>2.258</c:v>
                </c:pt>
                <c:pt idx="73">
                  <c:v>2.3278</c:v>
                </c:pt>
                <c:pt idx="74">
                  <c:v>2.3276</c:v>
                </c:pt>
                <c:pt idx="75">
                  <c:v>2.4155</c:v>
                </c:pt>
                <c:pt idx="76">
                  <c:v>2.489</c:v>
                </c:pt>
                <c:pt idx="77">
                  <c:v>2.4281</c:v>
                </c:pt>
                <c:pt idx="78">
                  <c:v>2.3779</c:v>
                </c:pt>
                <c:pt idx="79">
                  <c:v>2.3881</c:v>
                </c:pt>
                <c:pt idx="80">
                  <c:v>2.3238</c:v>
                </c:pt>
                <c:pt idx="81">
                  <c:v>2.3031</c:v>
                </c:pt>
                <c:pt idx="82">
                  <c:v>2.3281</c:v>
                </c:pt>
                <c:pt idx="83">
                  <c:v>2.4265</c:v>
                </c:pt>
                <c:pt idx="84">
                  <c:v>2.428</c:v>
                </c:pt>
                <c:pt idx="85">
                  <c:v>2.4612</c:v>
                </c:pt>
                <c:pt idx="86">
                  <c:v>2.588</c:v>
                </c:pt>
                <c:pt idx="87">
                  <c:v>2.5471</c:v>
                </c:pt>
                <c:pt idx="88">
                  <c:v>2.5267</c:v>
                </c:pt>
                <c:pt idx="89">
                  <c:v>2.4184</c:v>
                </c:pt>
                <c:pt idx="90">
                  <c:v>2.3041</c:v>
                </c:pt>
                <c:pt idx="91">
                  <c:v>2.3045</c:v>
                </c:pt>
                <c:pt idx="92">
                  <c:v>2.1636</c:v>
                </c:pt>
                <c:pt idx="93">
                  <c:v>2.2353</c:v>
                </c:pt>
                <c:pt idx="94">
                  <c:v>2.2618</c:v>
                </c:pt>
                <c:pt idx="95">
                  <c:v>2.2936</c:v>
                </c:pt>
                <c:pt idx="96">
                  <c:v>2.2426</c:v>
                </c:pt>
                <c:pt idx="97">
                  <c:v>2.1943</c:v>
                </c:pt>
                <c:pt idx="98">
                  <c:v>2.196</c:v>
                </c:pt>
                <c:pt idx="99">
                  <c:v>2.2973</c:v>
                </c:pt>
                <c:pt idx="100">
                  <c:v>2.4491</c:v>
                </c:pt>
                <c:pt idx="101">
                  <c:v>2.4343</c:v>
                </c:pt>
                <c:pt idx="102">
                  <c:v>2.3796</c:v>
                </c:pt>
                <c:pt idx="103">
                  <c:v>2.4164</c:v>
                </c:pt>
                <c:pt idx="104">
                  <c:v>2.4391</c:v>
                </c:pt>
                <c:pt idx="105">
                  <c:v>2.5402</c:v>
                </c:pt>
                <c:pt idx="106">
                  <c:v>2.5891</c:v>
                </c:pt>
                <c:pt idx="107">
                  <c:v>2.6783</c:v>
                </c:pt>
                <c:pt idx="108">
                  <c:v>2.6929</c:v>
                </c:pt>
                <c:pt idx="109">
                  <c:v>2.7575</c:v>
                </c:pt>
                <c:pt idx="110">
                  <c:v>2.7827</c:v>
                </c:pt>
                <c:pt idx="111">
                  <c:v>2.7915</c:v>
                </c:pt>
                <c:pt idx="112">
                  <c:v>2.8302</c:v>
                </c:pt>
                <c:pt idx="113">
                  <c:v>2.842</c:v>
                </c:pt>
                <c:pt idx="114">
                  <c:v>2.8003</c:v>
                </c:pt>
                <c:pt idx="115">
                  <c:v>2.8416</c:v>
                </c:pt>
                <c:pt idx="116">
                  <c:v>2.8366</c:v>
                </c:pt>
                <c:pt idx="117">
                  <c:v>2.8871</c:v>
                </c:pt>
                <c:pt idx="118">
                  <c:v>2.9759</c:v>
                </c:pt>
                <c:pt idx="119">
                  <c:v>3.0798</c:v>
                </c:pt>
                <c:pt idx="120">
                  <c:v>3.0487</c:v>
                </c:pt>
                <c:pt idx="121">
                  <c:v>3.0988</c:v>
                </c:pt>
                <c:pt idx="122">
                  <c:v>3.0636</c:v>
                </c:pt>
                <c:pt idx="123">
                  <c:v>3.0756</c:v>
                </c:pt>
                <c:pt idx="124">
                  <c:v>3.1311</c:v>
                </c:pt>
                <c:pt idx="125">
                  <c:v>3.1177</c:v>
                </c:pt>
                <c:pt idx="126">
                  <c:v>3.1834</c:v>
                </c:pt>
                <c:pt idx="127">
                  <c:v>3.1544</c:v>
                </c:pt>
                <c:pt idx="128">
                  <c:v>3.1601</c:v>
                </c:pt>
                <c:pt idx="129">
                  <c:v>3.1457</c:v>
                </c:pt>
                <c:pt idx="130">
                  <c:v>3.2227</c:v>
                </c:pt>
                <c:pt idx="131">
                  <c:v>3.2209</c:v>
                </c:pt>
                <c:pt idx="132">
                  <c:v>3.2114</c:v>
                </c:pt>
                <c:pt idx="133">
                  <c:v>3.247</c:v>
                </c:pt>
                <c:pt idx="134">
                  <c:v>3.2446</c:v>
                </c:pt>
                <c:pt idx="135">
                  <c:v>3.2661</c:v>
                </c:pt>
                <c:pt idx="136">
                  <c:v>3.2476</c:v>
                </c:pt>
                <c:pt idx="137">
                  <c:v>3.2699</c:v>
                </c:pt>
                <c:pt idx="138">
                  <c:v>3.364</c:v>
                </c:pt>
                <c:pt idx="139">
                  <c:v>3.4579</c:v>
                </c:pt>
                <c:pt idx="140">
                  <c:v>3.4653</c:v>
                </c:pt>
                <c:pt idx="141">
                  <c:v>3.6314</c:v>
                </c:pt>
                <c:pt idx="142">
                  <c:v>3.6621</c:v>
                </c:pt>
                <c:pt idx="143">
                  <c:v>3.7116</c:v>
                </c:pt>
                <c:pt idx="144">
                  <c:v>3.7112</c:v>
                </c:pt>
                <c:pt idx="145">
                  <c:v>3.6941</c:v>
                </c:pt>
                <c:pt idx="146">
                  <c:v>3.7179</c:v>
                </c:pt>
                <c:pt idx="147">
                  <c:v>3.8252</c:v>
                </c:pt>
                <c:pt idx="148">
                  <c:v>3.8677</c:v>
                </c:pt>
                <c:pt idx="149">
                  <c:v>3.7064</c:v>
                </c:pt>
                <c:pt idx="150">
                  <c:v>3.5673</c:v>
                </c:pt>
                <c:pt idx="151">
                  <c:v>3.6961</c:v>
                </c:pt>
                <c:pt idx="152">
                  <c:v>3.7979</c:v>
                </c:pt>
                <c:pt idx="153">
                  <c:v>3.8174</c:v>
                </c:pt>
                <c:pt idx="154">
                  <c:v>3.8289</c:v>
                </c:pt>
                <c:pt idx="155">
                  <c:v>3.7673</c:v>
                </c:pt>
                <c:pt idx="156">
                  <c:v>3.561</c:v>
                </c:pt>
                <c:pt idx="157">
                  <c:v>3.4853</c:v>
                </c:pt>
                <c:pt idx="158">
                  <c:v>3.5103</c:v>
                </c:pt>
                <c:pt idx="159">
                  <c:v>3.5762</c:v>
                </c:pt>
                <c:pt idx="160">
                  <c:v>3.626</c:v>
                </c:pt>
                <c:pt idx="161">
                  <c:v>3.3655</c:v>
                </c:pt>
                <c:pt idx="162">
                  <c:v>3.4011</c:v>
                </c:pt>
                <c:pt idx="163">
                  <c:v>3.5201</c:v>
                </c:pt>
                <c:pt idx="164">
                  <c:v>3.5025</c:v>
                </c:pt>
                <c:pt idx="165">
                  <c:v>3.1317</c:v>
                </c:pt>
                <c:pt idx="166">
                  <c:v>3.0701</c:v>
                </c:pt>
                <c:pt idx="167">
                  <c:v>3.0341</c:v>
                </c:pt>
                <c:pt idx="168">
                  <c:v>2.8727</c:v>
                </c:pt>
                <c:pt idx="169">
                  <c:v>2.5233</c:v>
                </c:pt>
                <c:pt idx="170">
                  <c:v>2.583</c:v>
                </c:pt>
                <c:pt idx="171">
                  <c:v>2.5546</c:v>
                </c:pt>
                <c:pt idx="172">
                  <c:v>2.5777</c:v>
                </c:pt>
                <c:pt idx="173">
                  <c:v>2.7181</c:v>
                </c:pt>
                <c:pt idx="174">
                  <c:v>2.8752</c:v>
                </c:pt>
                <c:pt idx="175">
                  <c:v>2.9234</c:v>
                </c:pt>
                <c:pt idx="176">
                  <c:v>2.9551</c:v>
                </c:pt>
                <c:pt idx="177">
                  <c:v>2.9413</c:v>
                </c:pt>
                <c:pt idx="178">
                  <c:v>3.1045</c:v>
                </c:pt>
                <c:pt idx="179">
                  <c:v>3.2291</c:v>
                </c:pt>
                <c:pt idx="180">
                  <c:v>3.1432</c:v>
                </c:pt>
                <c:pt idx="181">
                  <c:v>3.1575</c:v>
                </c:pt>
                <c:pt idx="182">
                  <c:v>3.2477</c:v>
                </c:pt>
                <c:pt idx="183">
                  <c:v>3.3163</c:v>
                </c:pt>
                <c:pt idx="184">
                  <c:v>3.1772</c:v>
                </c:pt>
                <c:pt idx="185">
                  <c:v>3.1942</c:v>
                </c:pt>
                <c:pt idx="186">
                  <c:v>3.3607</c:v>
                </c:pt>
                <c:pt idx="187">
                  <c:v>3.4321</c:v>
                </c:pt>
                <c:pt idx="188">
                  <c:v>3.5318</c:v>
                </c:pt>
                <c:pt idx="189">
                  <c:v>3.6285</c:v>
                </c:pt>
                <c:pt idx="190">
                  <c:v>3.5528</c:v>
                </c:pt>
                <c:pt idx="191">
                  <c:v>3.6036</c:v>
                </c:pt>
                <c:pt idx="192">
                  <c:v>3.6162</c:v>
                </c:pt>
                <c:pt idx="193">
                  <c:v>3.7029</c:v>
                </c:pt>
                <c:pt idx="194">
                  <c:v>3.7135</c:v>
                </c:pt>
                <c:pt idx="195">
                  <c:v>3.8569</c:v>
                </c:pt>
                <c:pt idx="196">
                  <c:v>3.93</c:v>
                </c:pt>
                <c:pt idx="197">
                  <c:v>3.8959</c:v>
                </c:pt>
                <c:pt idx="198">
                  <c:v>3.8464</c:v>
                </c:pt>
                <c:pt idx="199">
                  <c:v>3.9819</c:v>
                </c:pt>
                <c:pt idx="200">
                  <c:v>4.039</c:v>
                </c:pt>
                <c:pt idx="201">
                  <c:v>4.1324</c:v>
                </c:pt>
                <c:pt idx="202">
                  <c:v>4.2151</c:v>
                </c:pt>
                <c:pt idx="203">
                  <c:v>4.3891</c:v>
                </c:pt>
                <c:pt idx="204">
                  <c:v>4.2876</c:v>
                </c:pt>
                <c:pt idx="205">
                  <c:v>4.2881</c:v>
                </c:pt>
                <c:pt idx="206">
                  <c:v>4.3668</c:v>
                </c:pt>
                <c:pt idx="207">
                  <c:v>4.4206</c:v>
                </c:pt>
                <c:pt idx="208">
                  <c:v>4.4704</c:v>
                </c:pt>
                <c:pt idx="209">
                  <c:v>4.6722</c:v>
                </c:pt>
                <c:pt idx="210">
                  <c:v>4.7606</c:v>
                </c:pt>
                <c:pt idx="211">
                  <c:v>4.6287</c:v>
                </c:pt>
                <c:pt idx="212">
                  <c:v>4.6688</c:v>
                </c:pt>
                <c:pt idx="213">
                  <c:v>4.7045</c:v>
                </c:pt>
                <c:pt idx="214">
                  <c:v>4.6347</c:v>
                </c:pt>
                <c:pt idx="215">
                  <c:v>4.6048</c:v>
                </c:pt>
                <c:pt idx="216">
                  <c:v>4.8618</c:v>
                </c:pt>
                <c:pt idx="217">
                  <c:v>5.0894</c:v>
                </c:pt>
                <c:pt idx="218">
                  <c:v>5.3348</c:v>
                </c:pt>
                <c:pt idx="219">
                  <c:v>5.565</c:v>
                </c:pt>
                <c:pt idx="220">
                  <c:v>5.151</c:v>
                </c:pt>
                <c:pt idx="221">
                  <c:v>5.2144</c:v>
                </c:pt>
                <c:pt idx="222">
                  <c:v>5.423</c:v>
                </c:pt>
                <c:pt idx="223">
                  <c:v>5.1265</c:v>
                </c:pt>
                <c:pt idx="224">
                  <c:v>5.1328</c:v>
                </c:pt>
                <c:pt idx="225">
                  <c:v>5.4181</c:v>
                </c:pt>
                <c:pt idx="226">
                  <c:v>5.3907</c:v>
                </c:pt>
                <c:pt idx="227">
                  <c:v>5.4045</c:v>
                </c:pt>
                <c:pt idx="228">
                  <c:v>5.3708</c:v>
                </c:pt>
                <c:pt idx="229">
                  <c:v>5.5003</c:v>
                </c:pt>
                <c:pt idx="230">
                  <c:v>5.6592</c:v>
                </c:pt>
                <c:pt idx="231">
                  <c:v>5.865</c:v>
                </c:pt>
                <c:pt idx="232">
                  <c:v>5.8059</c:v>
                </c:pt>
                <c:pt idx="233">
                  <c:v>5.9292</c:v>
                </c:pt>
                <c:pt idx="234">
                  <c:v>5.6483</c:v>
                </c:pt>
                <c:pt idx="235">
                  <c:v>5.8731</c:v>
                </c:pt>
                <c:pt idx="236">
                  <c:v>5.82</c:v>
                </c:pt>
                <c:pt idx="237">
                  <c:v>6.1717</c:v>
                </c:pt>
                <c:pt idx="238">
                  <c:v>6.3416</c:v>
                </c:pt>
                <c:pt idx="239">
                  <c:v>6.4177</c:v>
                </c:pt>
                <c:pt idx="240">
                  <c:v>6.4591</c:v>
                </c:pt>
                <c:pt idx="241">
                  <c:v>6.3329</c:v>
                </c:pt>
                <c:pt idx="242">
                  <c:v>6.2752</c:v>
                </c:pt>
                <c:pt idx="243">
                  <c:v>6.2232</c:v>
                </c:pt>
                <c:pt idx="244">
                  <c:v>6.2608</c:v>
                </c:pt>
                <c:pt idx="245">
                  <c:v>6.0231</c:v>
                </c:pt>
                <c:pt idx="246">
                  <c:v>6.3521</c:v>
                </c:pt>
                <c:pt idx="247">
                  <c:v>6.0968</c:v>
                </c:pt>
                <c:pt idx="248">
                  <c:v>6.2064</c:v>
                </c:pt>
                <c:pt idx="249">
                  <c:v>6.5183</c:v>
                </c:pt>
                <c:pt idx="250">
                  <c:v>6.4894</c:v>
                </c:pt>
                <c:pt idx="251">
                  <c:v>6.5413</c:v>
                </c:pt>
                <c:pt idx="252">
                  <c:v>6.6415</c:v>
                </c:pt>
                <c:pt idx="253">
                  <c:v>6.6307</c:v>
                </c:pt>
                <c:pt idx="254">
                  <c:v>7.0583</c:v>
                </c:pt>
                <c:pt idx="255">
                  <c:v>7.0236</c:v>
                </c:pt>
                <c:pt idx="256">
                  <c:v>7.0828</c:v>
                </c:pt>
                <c:pt idx="257">
                  <c:v>7.5159</c:v>
                </c:pt>
                <c:pt idx="258">
                  <c:v>7.5512</c:v>
                </c:pt>
                <c:pt idx="259">
                  <c:v>7.4333</c:v>
                </c:pt>
                <c:pt idx="260">
                  <c:v>7.3327</c:v>
                </c:pt>
                <c:pt idx="261">
                  <c:v>7.2422</c:v>
                </c:pt>
                <c:pt idx="262">
                  <c:v>7.4773</c:v>
                </c:pt>
                <c:pt idx="263">
                  <c:v>7.7063</c:v>
                </c:pt>
                <c:pt idx="264">
                  <c:v>7.7216</c:v>
                </c:pt>
                <c:pt idx="265">
                  <c:v>8.1459</c:v>
                </c:pt>
                <c:pt idx="266">
                  <c:v>8.1541</c:v>
                </c:pt>
                <c:pt idx="267">
                  <c:v>8.244</c:v>
                </c:pt>
                <c:pt idx="268">
                  <c:v>8.4766</c:v>
                </c:pt>
                <c:pt idx="269">
                  <c:v>8.4518</c:v>
                </c:pt>
                <c:pt idx="270">
                  <c:v>8.6564</c:v>
                </c:pt>
                <c:pt idx="271">
                  <c:v>8.669</c:v>
                </c:pt>
                <c:pt idx="272">
                  <c:v>8.7874</c:v>
                </c:pt>
                <c:pt idx="273">
                  <c:v>8.9724</c:v>
                </c:pt>
                <c:pt idx="274">
                  <c:v>9.2938</c:v>
                </c:pt>
                <c:pt idx="275">
                  <c:v>9.3004</c:v>
                </c:pt>
                <c:pt idx="276">
                  <c:v>9.5863</c:v>
                </c:pt>
                <c:pt idx="277">
                  <c:v>9.1709</c:v>
                </c:pt>
                <c:pt idx="278">
                  <c:v>9.0845</c:v>
                </c:pt>
                <c:pt idx="279">
                  <c:v>8.9972</c:v>
                </c:pt>
                <c:pt idx="280">
                  <c:v>8.9898</c:v>
                </c:pt>
                <c:pt idx="281">
                  <c:v>9.0623</c:v>
                </c:pt>
                <c:pt idx="282">
                  <c:v>9.5945</c:v>
                </c:pt>
                <c:pt idx="283">
                  <c:v>9.7721</c:v>
                </c:pt>
                <c:pt idx="284">
                  <c:v>9.8593</c:v>
                </c:pt>
                <c:pt idx="285">
                  <c:v>9.6</c:v>
                </c:pt>
                <c:pt idx="286">
                  <c:v>10.0689</c:v>
                </c:pt>
                <c:pt idx="287">
                  <c:v>9.3296</c:v>
                </c:pt>
                <c:pt idx="288">
                  <c:v>9.8488</c:v>
                </c:pt>
                <c:pt idx="289">
                  <c:v>10.151</c:v>
                </c:pt>
                <c:pt idx="290">
                  <c:v>10.3586</c:v>
                </c:pt>
                <c:pt idx="291">
                  <c:v>10.7863</c:v>
                </c:pt>
                <c:pt idx="292">
                  <c:v>10.6351</c:v>
                </c:pt>
                <c:pt idx="293">
                  <c:v>11.1994</c:v>
                </c:pt>
                <c:pt idx="294">
                  <c:v>11.2801</c:v>
                </c:pt>
                <c:pt idx="295">
                  <c:v>11.5287</c:v>
                </c:pt>
                <c:pt idx="296">
                  <c:v>11.6499</c:v>
                </c:pt>
                <c:pt idx="297">
                  <c:v>11.5939</c:v>
                </c:pt>
                <c:pt idx="298">
                  <c:v>11.5676</c:v>
                </c:pt>
                <c:pt idx="299">
                  <c:v>11.8651</c:v>
                </c:pt>
                <c:pt idx="300">
                  <c:v>12.4322</c:v>
                </c:pt>
                <c:pt idx="301">
                  <c:v>11.3367</c:v>
                </c:pt>
                <c:pt idx="302">
                  <c:v>9.8336</c:v>
                </c:pt>
                <c:pt idx="303">
                  <c:v>10.4042</c:v>
                </c:pt>
                <c:pt idx="304">
                  <c:v>10.8016</c:v>
                </c:pt>
                <c:pt idx="305">
                  <c:v>10.495</c:v>
                </c:pt>
                <c:pt idx="306">
                  <c:v>11.3278</c:v>
                </c:pt>
                <c:pt idx="307">
                  <c:v>11.4838</c:v>
                </c:pt>
                <c:pt idx="308">
                  <c:v>11.4606</c:v>
                </c:pt>
                <c:pt idx="309">
                  <c:v>11.3903</c:v>
                </c:pt>
                <c:pt idx="310">
                  <c:v>11.8028</c:v>
                </c:pt>
                <c:pt idx="311">
                  <c:v>11.8332</c:v>
                </c:pt>
                <c:pt idx="312">
                  <c:v>11.2893</c:v>
                </c:pt>
                <c:pt idx="313">
                  <c:v>10.7743</c:v>
                </c:pt>
                <c:pt idx="314">
                  <c:v>12.0253</c:v>
                </c:pt>
                <c:pt idx="315">
                  <c:v>12.467</c:v>
                </c:pt>
                <c:pt idx="316">
                  <c:v>12.4458</c:v>
                </c:pt>
                <c:pt idx="317">
                  <c:v>12.2955</c:v>
                </c:pt>
                <c:pt idx="318">
                  <c:v>12.8398</c:v>
                </c:pt>
                <c:pt idx="319">
                  <c:v>13.1213</c:v>
                </c:pt>
                <c:pt idx="320">
                  <c:v>12.4166</c:v>
                </c:pt>
                <c:pt idx="321">
                  <c:v>13.0413</c:v>
                </c:pt>
                <c:pt idx="322">
                  <c:v>12.7824</c:v>
                </c:pt>
                <c:pt idx="323">
                  <c:v>14.0567</c:v>
                </c:pt>
                <c:pt idx="324">
                  <c:v>13.8128</c:v>
                </c:pt>
                <c:pt idx="325">
                  <c:v>13.5262</c:v>
                </c:pt>
                <c:pt idx="326">
                  <c:v>14.2192</c:v>
                </c:pt>
                <c:pt idx="327">
                  <c:v>14.1658</c:v>
                </c:pt>
                <c:pt idx="328">
                  <c:v>14.3877</c:v>
                </c:pt>
                <c:pt idx="329">
                  <c:v>13.9738</c:v>
                </c:pt>
                <c:pt idx="330">
                  <c:v>14.2682</c:v>
                </c:pt>
                <c:pt idx="331">
                  <c:v>13.9886</c:v>
                </c:pt>
                <c:pt idx="332">
                  <c:v>12.6654</c:v>
                </c:pt>
                <c:pt idx="333">
                  <c:v>13.3486</c:v>
                </c:pt>
                <c:pt idx="334">
                  <c:v>13.9964</c:v>
                </c:pt>
                <c:pt idx="335">
                  <c:v>13.9452</c:v>
                </c:pt>
                <c:pt idx="336">
                  <c:v>13.6777</c:v>
                </c:pt>
                <c:pt idx="337">
                  <c:v>13.2293</c:v>
                </c:pt>
                <c:pt idx="338">
                  <c:v>13.7843</c:v>
                </c:pt>
                <c:pt idx="339">
                  <c:v>14.3044</c:v>
                </c:pt>
                <c:pt idx="340">
                  <c:v>13.4527</c:v>
                </c:pt>
                <c:pt idx="341">
                  <c:v>13.6854</c:v>
                </c:pt>
                <c:pt idx="342">
                  <c:v>13.673</c:v>
                </c:pt>
                <c:pt idx="343">
                  <c:v>13.0778</c:v>
                </c:pt>
                <c:pt idx="344">
                  <c:v>12.3645</c:v>
                </c:pt>
                <c:pt idx="345">
                  <c:v>12.3759</c:v>
                </c:pt>
                <c:pt idx="346">
                  <c:v>12.8041</c:v>
                </c:pt>
                <c:pt idx="347">
                  <c:v>13.0133</c:v>
                </c:pt>
                <c:pt idx="348">
                  <c:v>13.2953</c:v>
                </c:pt>
                <c:pt idx="349">
                  <c:v>13.2855</c:v>
                </c:pt>
                <c:pt idx="350">
                  <c:v>13.7958</c:v>
                </c:pt>
                <c:pt idx="351">
                  <c:v>13.8175</c:v>
                </c:pt>
                <c:pt idx="352">
                  <c:v>13.9725</c:v>
                </c:pt>
                <c:pt idx="353">
                  <c:v>13.7707</c:v>
                </c:pt>
                <c:pt idx="354">
                  <c:v>14.3788</c:v>
                </c:pt>
                <c:pt idx="355">
                  <c:v>15.602</c:v>
                </c:pt>
                <c:pt idx="356">
                  <c:v>15.7335</c:v>
                </c:pt>
                <c:pt idx="357">
                  <c:v>15.0699</c:v>
                </c:pt>
                <c:pt idx="358">
                  <c:v>15.3849</c:v>
                </c:pt>
                <c:pt idx="359">
                  <c:v>14.4795</c:v>
                </c:pt>
                <c:pt idx="360">
                  <c:v>14.3605</c:v>
                </c:pt>
                <c:pt idx="361">
                  <c:v>15.3239</c:v>
                </c:pt>
                <c:pt idx="362">
                  <c:v>15.4983</c:v>
                </c:pt>
                <c:pt idx="363">
                  <c:v>15.1071</c:v>
                </c:pt>
                <c:pt idx="364">
                  <c:v>14.9175</c:v>
                </c:pt>
                <c:pt idx="365">
                  <c:v>14.5886</c:v>
                </c:pt>
                <c:pt idx="366">
                  <c:v>14.7364</c:v>
                </c:pt>
                <c:pt idx="367">
                  <c:v>14.9472</c:v>
                </c:pt>
                <c:pt idx="368">
                  <c:v>14.9872</c:v>
                </c:pt>
                <c:pt idx="369">
                  <c:v>14.7558</c:v>
                </c:pt>
                <c:pt idx="370">
                  <c:v>15.2387</c:v>
                </c:pt>
                <c:pt idx="371">
                  <c:v>14.7633</c:v>
                </c:pt>
              </c:numCache>
            </c:numRef>
          </c:val>
          <c:smooth val="0"/>
        </c:ser>
        <c:ser>
          <c:idx val="2"/>
          <c:order val="2"/>
          <c:tx>
            <c:strRef>
              <c:f>Sheet1!$D$1</c:f>
              <c:strCache>
                <c:ptCount val="1"/>
                <c:pt idx="0">
                  <c:v>Min. risk, shrunk sample</c:v>
                </c:pt>
              </c:strCache>
            </c:strRef>
          </c:tx>
          <c:spPr>
            <a:solidFill>
              <a:srgbClr val="16A3B8"/>
            </a:solidFill>
            <a:ln w="19050" cap="flat">
              <a:solidFill>
                <a:srgbClr val="16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A3B8"/>
              </a:solidFill>
              <a:ln w="9525" cap="flat">
                <a:solidFill>
                  <a:srgbClr val="16A3B8"/>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Sheet1!$D$2:$D$373</c:f>
              <c:numCache>
                <c:formatCode>General</c:formatCode>
                <c:ptCount val="372"/>
                <c:pt idx="0">
                  <c:v>1.0372</c:v>
                </c:pt>
                <c:pt idx="1">
                  <c:v>1.0732</c:v>
                </c:pt>
                <c:pt idx="2">
                  <c:v>1.1039</c:v>
                </c:pt>
                <c:pt idx="3">
                  <c:v>1.1194</c:v>
                </c:pt>
                <c:pt idx="4">
                  <c:v>1.1674</c:v>
                </c:pt>
                <c:pt idx="5">
                  <c:v>1.1712</c:v>
                </c:pt>
                <c:pt idx="6">
                  <c:v>1.2109</c:v>
                </c:pt>
                <c:pt idx="7">
                  <c:v>1.2196</c:v>
                </c:pt>
                <c:pt idx="8">
                  <c:v>1.2547</c:v>
                </c:pt>
                <c:pt idx="9">
                  <c:v>1.2413</c:v>
                </c:pt>
                <c:pt idx="10">
                  <c:v>1.3004</c:v>
                </c:pt>
                <c:pt idx="11">
                  <c:v>1.3396</c:v>
                </c:pt>
                <c:pt idx="12">
                  <c:v>1.3915</c:v>
                </c:pt>
                <c:pt idx="13">
                  <c:v>1.3917</c:v>
                </c:pt>
                <c:pt idx="14">
                  <c:v>1.4141</c:v>
                </c:pt>
                <c:pt idx="15">
                  <c:v>1.4171</c:v>
                </c:pt>
                <c:pt idx="16">
                  <c:v>1.4362</c:v>
                </c:pt>
                <c:pt idx="17">
                  <c:v>1.4418</c:v>
                </c:pt>
                <c:pt idx="18">
                  <c:v>1.3732</c:v>
                </c:pt>
                <c:pt idx="19">
                  <c:v>1.4081</c:v>
                </c:pt>
                <c:pt idx="20">
                  <c:v>1.4518</c:v>
                </c:pt>
                <c:pt idx="21">
                  <c:v>1.4748</c:v>
                </c:pt>
                <c:pt idx="22">
                  <c:v>1.5461</c:v>
                </c:pt>
                <c:pt idx="23">
                  <c:v>1.5496</c:v>
                </c:pt>
                <c:pt idx="24">
                  <c:v>1.5655</c:v>
                </c:pt>
                <c:pt idx="25">
                  <c:v>1.5925</c:v>
                </c:pt>
                <c:pt idx="26">
                  <c:v>1.5325</c:v>
                </c:pt>
                <c:pt idx="27">
                  <c:v>1.5501</c:v>
                </c:pt>
                <c:pt idx="28">
                  <c:v>1.6273</c:v>
                </c:pt>
                <c:pt idx="29">
                  <c:v>1.698</c:v>
                </c:pt>
                <c:pt idx="30">
                  <c:v>1.7905</c:v>
                </c:pt>
                <c:pt idx="31">
                  <c:v>1.7619</c:v>
                </c:pt>
                <c:pt idx="32">
                  <c:v>1.8347</c:v>
                </c:pt>
                <c:pt idx="33">
                  <c:v>1.7888</c:v>
                </c:pt>
                <c:pt idx="34">
                  <c:v>1.8512</c:v>
                </c:pt>
                <c:pt idx="35">
                  <c:v>1.9154</c:v>
                </c:pt>
                <c:pt idx="36">
                  <c:v>1.9013</c:v>
                </c:pt>
                <c:pt idx="37">
                  <c:v>2.0146</c:v>
                </c:pt>
                <c:pt idx="38">
                  <c:v>2.1283</c:v>
                </c:pt>
                <c:pt idx="39">
                  <c:v>2.0825</c:v>
                </c:pt>
                <c:pt idx="40">
                  <c:v>2.0332</c:v>
                </c:pt>
                <c:pt idx="41">
                  <c:v>2.0553</c:v>
                </c:pt>
                <c:pt idx="42">
                  <c:v>1.943</c:v>
                </c:pt>
                <c:pt idx="43">
                  <c:v>1.7857</c:v>
                </c:pt>
                <c:pt idx="44">
                  <c:v>1.9161</c:v>
                </c:pt>
                <c:pt idx="45">
                  <c:v>2.0111</c:v>
                </c:pt>
                <c:pt idx="46">
                  <c:v>2.0892</c:v>
                </c:pt>
                <c:pt idx="47">
                  <c:v>2.139</c:v>
                </c:pt>
                <c:pt idx="48">
                  <c:v>2.0845</c:v>
                </c:pt>
                <c:pt idx="49">
                  <c:v>1.9981</c:v>
                </c:pt>
                <c:pt idx="50">
                  <c:v>2.0419</c:v>
                </c:pt>
                <c:pt idx="51">
                  <c:v>2.1936</c:v>
                </c:pt>
                <c:pt idx="52">
                  <c:v>2.2624</c:v>
                </c:pt>
                <c:pt idx="53">
                  <c:v>2.273</c:v>
                </c:pt>
                <c:pt idx="54">
                  <c:v>2.2349</c:v>
                </c:pt>
                <c:pt idx="55">
                  <c:v>2.1894</c:v>
                </c:pt>
                <c:pt idx="56">
                  <c:v>2.0798</c:v>
                </c:pt>
                <c:pt idx="57">
                  <c:v>2.1273</c:v>
                </c:pt>
                <c:pt idx="58">
                  <c:v>2.0915</c:v>
                </c:pt>
                <c:pt idx="59">
                  <c:v>2.059</c:v>
                </c:pt>
                <c:pt idx="60">
                  <c:v>1.9925</c:v>
                </c:pt>
                <c:pt idx="61">
                  <c:v>1.8645</c:v>
                </c:pt>
                <c:pt idx="62">
                  <c:v>2.0176</c:v>
                </c:pt>
                <c:pt idx="63">
                  <c:v>2.0931</c:v>
                </c:pt>
                <c:pt idx="64">
                  <c:v>2.1659</c:v>
                </c:pt>
                <c:pt idx="65">
                  <c:v>2.143</c:v>
                </c:pt>
                <c:pt idx="66">
                  <c:v>2.1666</c:v>
                </c:pt>
                <c:pt idx="67">
                  <c:v>2.3263</c:v>
                </c:pt>
                <c:pt idx="68">
                  <c:v>2.3737</c:v>
                </c:pt>
                <c:pt idx="69">
                  <c:v>2.4528</c:v>
                </c:pt>
                <c:pt idx="70">
                  <c:v>2.4291</c:v>
                </c:pt>
                <c:pt idx="71">
                  <c:v>2.5136</c:v>
                </c:pt>
                <c:pt idx="72">
                  <c:v>2.4907</c:v>
                </c:pt>
                <c:pt idx="73">
                  <c:v>2.5061</c:v>
                </c:pt>
                <c:pt idx="74">
                  <c:v>2.418</c:v>
                </c:pt>
                <c:pt idx="75">
                  <c:v>2.5311</c:v>
                </c:pt>
                <c:pt idx="76">
                  <c:v>2.6326</c:v>
                </c:pt>
                <c:pt idx="77">
                  <c:v>2.6191</c:v>
                </c:pt>
                <c:pt idx="78">
                  <c:v>2.6016</c:v>
                </c:pt>
                <c:pt idx="79">
                  <c:v>2.5905</c:v>
                </c:pt>
                <c:pt idx="80">
                  <c:v>2.3802</c:v>
                </c:pt>
                <c:pt idx="81">
                  <c:v>2.3796</c:v>
                </c:pt>
                <c:pt idx="82">
                  <c:v>2.5256</c:v>
                </c:pt>
                <c:pt idx="83">
                  <c:v>2.5673</c:v>
                </c:pt>
                <c:pt idx="84">
                  <c:v>2.5216</c:v>
                </c:pt>
                <c:pt idx="85">
                  <c:v>2.5226</c:v>
                </c:pt>
                <c:pt idx="86">
                  <c:v>2.6431</c:v>
                </c:pt>
                <c:pt idx="87">
                  <c:v>2.6241</c:v>
                </c:pt>
                <c:pt idx="88">
                  <c:v>2.6442</c:v>
                </c:pt>
                <c:pt idx="89">
                  <c:v>2.436</c:v>
                </c:pt>
                <c:pt idx="90">
                  <c:v>2.283</c:v>
                </c:pt>
                <c:pt idx="91">
                  <c:v>2.3042</c:v>
                </c:pt>
                <c:pt idx="92">
                  <c:v>2.1199</c:v>
                </c:pt>
                <c:pt idx="93">
                  <c:v>2.2</c:v>
                </c:pt>
                <c:pt idx="94">
                  <c:v>2.2848</c:v>
                </c:pt>
                <c:pt idx="95">
                  <c:v>2.2806</c:v>
                </c:pt>
                <c:pt idx="96">
                  <c:v>2.2107</c:v>
                </c:pt>
                <c:pt idx="97">
                  <c:v>2.1806</c:v>
                </c:pt>
                <c:pt idx="98">
                  <c:v>2.2049</c:v>
                </c:pt>
                <c:pt idx="99">
                  <c:v>2.2907</c:v>
                </c:pt>
                <c:pt idx="100">
                  <c:v>2.4741</c:v>
                </c:pt>
                <c:pt idx="101">
                  <c:v>2.5048</c:v>
                </c:pt>
                <c:pt idx="102">
                  <c:v>2.5009</c:v>
                </c:pt>
                <c:pt idx="103">
                  <c:v>2.5642</c:v>
                </c:pt>
                <c:pt idx="104">
                  <c:v>2.5679</c:v>
                </c:pt>
                <c:pt idx="105">
                  <c:v>2.6706</c:v>
                </c:pt>
                <c:pt idx="106">
                  <c:v>2.7327</c:v>
                </c:pt>
                <c:pt idx="107">
                  <c:v>2.8439</c:v>
                </c:pt>
                <c:pt idx="108">
                  <c:v>2.8726</c:v>
                </c:pt>
                <c:pt idx="109">
                  <c:v>2.9651</c:v>
                </c:pt>
                <c:pt idx="110">
                  <c:v>2.9373</c:v>
                </c:pt>
                <c:pt idx="111">
                  <c:v>2.9947</c:v>
                </c:pt>
                <c:pt idx="112">
                  <c:v>3.0281</c:v>
                </c:pt>
                <c:pt idx="113">
                  <c:v>3.0734</c:v>
                </c:pt>
                <c:pt idx="114">
                  <c:v>2.9651</c:v>
                </c:pt>
                <c:pt idx="115">
                  <c:v>3.0323</c:v>
                </c:pt>
                <c:pt idx="116">
                  <c:v>3.0453</c:v>
                </c:pt>
                <c:pt idx="117">
                  <c:v>3.1226</c:v>
                </c:pt>
                <c:pt idx="118">
                  <c:v>3.226</c:v>
                </c:pt>
                <c:pt idx="119">
                  <c:v>3.3528</c:v>
                </c:pt>
                <c:pt idx="120">
                  <c:v>3.3146</c:v>
                </c:pt>
                <c:pt idx="121">
                  <c:v>3.3547</c:v>
                </c:pt>
                <c:pt idx="122">
                  <c:v>3.3075</c:v>
                </c:pt>
                <c:pt idx="123">
                  <c:v>3.298</c:v>
                </c:pt>
                <c:pt idx="124">
                  <c:v>3.3785</c:v>
                </c:pt>
                <c:pt idx="125">
                  <c:v>3.385</c:v>
                </c:pt>
                <c:pt idx="126">
                  <c:v>3.4794</c:v>
                </c:pt>
                <c:pt idx="127">
                  <c:v>3.4374</c:v>
                </c:pt>
                <c:pt idx="128">
                  <c:v>3.4287</c:v>
                </c:pt>
                <c:pt idx="129">
                  <c:v>3.366</c:v>
                </c:pt>
                <c:pt idx="130">
                  <c:v>3.4911</c:v>
                </c:pt>
                <c:pt idx="131">
                  <c:v>3.498</c:v>
                </c:pt>
                <c:pt idx="132">
                  <c:v>3.5137</c:v>
                </c:pt>
                <c:pt idx="133">
                  <c:v>3.5524</c:v>
                </c:pt>
                <c:pt idx="134">
                  <c:v>3.5776</c:v>
                </c:pt>
                <c:pt idx="135">
                  <c:v>3.5739</c:v>
                </c:pt>
                <c:pt idx="136">
                  <c:v>3.539</c:v>
                </c:pt>
                <c:pt idx="137">
                  <c:v>3.5246</c:v>
                </c:pt>
                <c:pt idx="138">
                  <c:v>3.6386</c:v>
                </c:pt>
                <c:pt idx="139">
                  <c:v>3.6969</c:v>
                </c:pt>
                <c:pt idx="140">
                  <c:v>3.7631</c:v>
                </c:pt>
                <c:pt idx="141">
                  <c:v>3.8626</c:v>
                </c:pt>
                <c:pt idx="142">
                  <c:v>3.9094</c:v>
                </c:pt>
                <c:pt idx="143">
                  <c:v>3.9358</c:v>
                </c:pt>
                <c:pt idx="144">
                  <c:v>4.0225</c:v>
                </c:pt>
                <c:pt idx="145">
                  <c:v>3.9716</c:v>
                </c:pt>
                <c:pt idx="146">
                  <c:v>3.9907</c:v>
                </c:pt>
                <c:pt idx="147">
                  <c:v>4.1808</c:v>
                </c:pt>
                <c:pt idx="148">
                  <c:v>4.2594</c:v>
                </c:pt>
                <c:pt idx="149">
                  <c:v>4.1589</c:v>
                </c:pt>
                <c:pt idx="150">
                  <c:v>4.0223</c:v>
                </c:pt>
                <c:pt idx="151">
                  <c:v>4.0855</c:v>
                </c:pt>
                <c:pt idx="152">
                  <c:v>4.2294</c:v>
                </c:pt>
                <c:pt idx="153">
                  <c:v>4.2975</c:v>
                </c:pt>
                <c:pt idx="154">
                  <c:v>4.2116</c:v>
                </c:pt>
                <c:pt idx="155">
                  <c:v>4.1067</c:v>
                </c:pt>
                <c:pt idx="156">
                  <c:v>3.9593</c:v>
                </c:pt>
                <c:pt idx="157">
                  <c:v>3.816</c:v>
                </c:pt>
                <c:pt idx="158">
                  <c:v>3.7895</c:v>
                </c:pt>
                <c:pt idx="159">
                  <c:v>3.9299</c:v>
                </c:pt>
                <c:pt idx="160">
                  <c:v>3.9947</c:v>
                </c:pt>
                <c:pt idx="161">
                  <c:v>3.6949</c:v>
                </c:pt>
                <c:pt idx="162">
                  <c:v>3.8512</c:v>
                </c:pt>
                <c:pt idx="163">
                  <c:v>3.9345</c:v>
                </c:pt>
                <c:pt idx="164">
                  <c:v>3.7081</c:v>
                </c:pt>
                <c:pt idx="165">
                  <c:v>3.1839</c:v>
                </c:pt>
                <c:pt idx="166">
                  <c:v>3.0094</c:v>
                </c:pt>
                <c:pt idx="167">
                  <c:v>2.9629</c:v>
                </c:pt>
                <c:pt idx="168">
                  <c:v>2.7829</c:v>
                </c:pt>
                <c:pt idx="169">
                  <c:v>2.5364</c:v>
                </c:pt>
                <c:pt idx="170">
                  <c:v>2.6848</c:v>
                </c:pt>
                <c:pt idx="171">
                  <c:v>2.7332</c:v>
                </c:pt>
                <c:pt idx="172">
                  <c:v>2.7969</c:v>
                </c:pt>
                <c:pt idx="173">
                  <c:v>2.8664</c:v>
                </c:pt>
                <c:pt idx="174">
                  <c:v>3.0188</c:v>
                </c:pt>
                <c:pt idx="175">
                  <c:v>3.0523</c:v>
                </c:pt>
                <c:pt idx="176">
                  <c:v>3.1188</c:v>
                </c:pt>
                <c:pt idx="177">
                  <c:v>3.09</c:v>
                </c:pt>
                <c:pt idx="178">
                  <c:v>3.2548</c:v>
                </c:pt>
                <c:pt idx="179">
                  <c:v>3.3288</c:v>
                </c:pt>
                <c:pt idx="180">
                  <c:v>3.307</c:v>
                </c:pt>
                <c:pt idx="181">
                  <c:v>3.3871</c:v>
                </c:pt>
                <c:pt idx="182">
                  <c:v>3.4875</c:v>
                </c:pt>
                <c:pt idx="183">
                  <c:v>3.5411</c:v>
                </c:pt>
                <c:pt idx="184">
                  <c:v>3.3667</c:v>
                </c:pt>
                <c:pt idx="185">
                  <c:v>3.2936</c:v>
                </c:pt>
                <c:pt idx="186">
                  <c:v>3.4461</c:v>
                </c:pt>
                <c:pt idx="187">
                  <c:v>3.4202</c:v>
                </c:pt>
                <c:pt idx="188">
                  <c:v>3.6347</c:v>
                </c:pt>
                <c:pt idx="189">
                  <c:v>3.7067</c:v>
                </c:pt>
                <c:pt idx="190">
                  <c:v>3.6942</c:v>
                </c:pt>
                <c:pt idx="191">
                  <c:v>3.8579</c:v>
                </c:pt>
                <c:pt idx="192">
                  <c:v>3.8681</c:v>
                </c:pt>
                <c:pt idx="193">
                  <c:v>4.0329</c:v>
                </c:pt>
                <c:pt idx="194">
                  <c:v>4.0865</c:v>
                </c:pt>
                <c:pt idx="195">
                  <c:v>4.2362</c:v>
                </c:pt>
                <c:pt idx="196">
                  <c:v>4.2572</c:v>
                </c:pt>
                <c:pt idx="197">
                  <c:v>4.2012</c:v>
                </c:pt>
                <c:pt idx="198">
                  <c:v>4.1174</c:v>
                </c:pt>
                <c:pt idx="199">
                  <c:v>4.0739</c:v>
                </c:pt>
                <c:pt idx="200">
                  <c:v>3.9344</c:v>
                </c:pt>
                <c:pt idx="201">
                  <c:v>4.1858</c:v>
                </c:pt>
                <c:pt idx="202">
                  <c:v>4.2165</c:v>
                </c:pt>
                <c:pt idx="203">
                  <c:v>4.27</c:v>
                </c:pt>
                <c:pt idx="204">
                  <c:v>4.2729</c:v>
                </c:pt>
                <c:pt idx="205">
                  <c:v>4.3326</c:v>
                </c:pt>
                <c:pt idx="206">
                  <c:v>4.4216</c:v>
                </c:pt>
                <c:pt idx="207">
                  <c:v>4.4482</c:v>
                </c:pt>
                <c:pt idx="208">
                  <c:v>4.3776</c:v>
                </c:pt>
                <c:pt idx="209">
                  <c:v>4.5488</c:v>
                </c:pt>
                <c:pt idx="210">
                  <c:v>4.5798</c:v>
                </c:pt>
                <c:pt idx="211">
                  <c:v>4.574</c:v>
                </c:pt>
                <c:pt idx="212">
                  <c:v>4.6964</c:v>
                </c:pt>
                <c:pt idx="213">
                  <c:v>4.6969</c:v>
                </c:pt>
                <c:pt idx="214">
                  <c:v>4.7363</c:v>
                </c:pt>
                <c:pt idx="215">
                  <c:v>4.672</c:v>
                </c:pt>
                <c:pt idx="216">
                  <c:v>4.865</c:v>
                </c:pt>
                <c:pt idx="217">
                  <c:v>5.0508</c:v>
                </c:pt>
                <c:pt idx="218">
                  <c:v>5.3419</c:v>
                </c:pt>
                <c:pt idx="219">
                  <c:v>5.5474</c:v>
                </c:pt>
                <c:pt idx="220">
                  <c:v>5.3958</c:v>
                </c:pt>
                <c:pt idx="221">
                  <c:v>5.4437</c:v>
                </c:pt>
                <c:pt idx="222">
                  <c:v>5.683</c:v>
                </c:pt>
                <c:pt idx="223">
                  <c:v>5.469</c:v>
                </c:pt>
                <c:pt idx="224">
                  <c:v>5.4761</c:v>
                </c:pt>
                <c:pt idx="225">
                  <c:v>5.6715</c:v>
                </c:pt>
                <c:pt idx="226">
                  <c:v>5.6382</c:v>
                </c:pt>
                <c:pt idx="227">
                  <c:v>5.684</c:v>
                </c:pt>
                <c:pt idx="228">
                  <c:v>5.6223</c:v>
                </c:pt>
                <c:pt idx="229">
                  <c:v>5.9107</c:v>
                </c:pt>
                <c:pt idx="230">
                  <c:v>6.0684</c:v>
                </c:pt>
                <c:pt idx="231">
                  <c:v>6.21</c:v>
                </c:pt>
                <c:pt idx="232">
                  <c:v>6.2749</c:v>
                </c:pt>
                <c:pt idx="233">
                  <c:v>6.4362</c:v>
                </c:pt>
                <c:pt idx="234">
                  <c:v>6.2433</c:v>
                </c:pt>
                <c:pt idx="235">
                  <c:v>6.6133</c:v>
                </c:pt>
                <c:pt idx="236">
                  <c:v>6.5311</c:v>
                </c:pt>
                <c:pt idx="237">
                  <c:v>6.7133</c:v>
                </c:pt>
                <c:pt idx="238">
                  <c:v>6.9698</c:v>
                </c:pt>
                <c:pt idx="239">
                  <c:v>7.0277</c:v>
                </c:pt>
                <c:pt idx="240">
                  <c:v>7.1547</c:v>
                </c:pt>
                <c:pt idx="241">
                  <c:v>7.3741</c:v>
                </c:pt>
                <c:pt idx="242">
                  <c:v>7.2825</c:v>
                </c:pt>
                <c:pt idx="243">
                  <c:v>7.3057</c:v>
                </c:pt>
                <c:pt idx="244">
                  <c:v>7.4329</c:v>
                </c:pt>
                <c:pt idx="245">
                  <c:v>7.1782</c:v>
                </c:pt>
                <c:pt idx="246">
                  <c:v>7.3568</c:v>
                </c:pt>
                <c:pt idx="247">
                  <c:v>7.1119</c:v>
                </c:pt>
                <c:pt idx="248">
                  <c:v>7.0488</c:v>
                </c:pt>
                <c:pt idx="249">
                  <c:v>7.397</c:v>
                </c:pt>
                <c:pt idx="250">
                  <c:v>7.4252</c:v>
                </c:pt>
                <c:pt idx="251">
                  <c:v>7.4641</c:v>
                </c:pt>
                <c:pt idx="252">
                  <c:v>7.4994</c:v>
                </c:pt>
                <c:pt idx="253">
                  <c:v>7.7204</c:v>
                </c:pt>
                <c:pt idx="254">
                  <c:v>8.2259</c:v>
                </c:pt>
                <c:pt idx="255">
                  <c:v>8.2363</c:v>
                </c:pt>
                <c:pt idx="256">
                  <c:v>8.2839</c:v>
                </c:pt>
                <c:pt idx="257">
                  <c:v>8.6796</c:v>
                </c:pt>
                <c:pt idx="258">
                  <c:v>8.8912</c:v>
                </c:pt>
                <c:pt idx="259">
                  <c:v>8.7093</c:v>
                </c:pt>
                <c:pt idx="260">
                  <c:v>8.6768</c:v>
                </c:pt>
                <c:pt idx="261">
                  <c:v>8.5096</c:v>
                </c:pt>
                <c:pt idx="262">
                  <c:v>8.7259</c:v>
                </c:pt>
                <c:pt idx="263">
                  <c:v>8.9453</c:v>
                </c:pt>
                <c:pt idx="264">
                  <c:v>9.1057</c:v>
                </c:pt>
                <c:pt idx="265">
                  <c:v>9.4551</c:v>
                </c:pt>
                <c:pt idx="266">
                  <c:v>9.5045</c:v>
                </c:pt>
                <c:pt idx="267">
                  <c:v>9.5218</c:v>
                </c:pt>
                <c:pt idx="268">
                  <c:v>9.5604</c:v>
                </c:pt>
                <c:pt idx="269">
                  <c:v>9.5825</c:v>
                </c:pt>
                <c:pt idx="270">
                  <c:v>9.7559</c:v>
                </c:pt>
                <c:pt idx="271">
                  <c:v>9.6145</c:v>
                </c:pt>
                <c:pt idx="272">
                  <c:v>9.7906</c:v>
                </c:pt>
                <c:pt idx="273">
                  <c:v>9.9494</c:v>
                </c:pt>
                <c:pt idx="274">
                  <c:v>10.465</c:v>
                </c:pt>
                <c:pt idx="275">
                  <c:v>10.5807</c:v>
                </c:pt>
                <c:pt idx="276">
                  <c:v>10.88</c:v>
                </c:pt>
                <c:pt idx="277">
                  <c:v>10.4149</c:v>
                </c:pt>
                <c:pt idx="278">
                  <c:v>10.4153</c:v>
                </c:pt>
                <c:pt idx="279">
                  <c:v>10.7033</c:v>
                </c:pt>
                <c:pt idx="280">
                  <c:v>10.6374</c:v>
                </c:pt>
                <c:pt idx="281">
                  <c:v>10.93</c:v>
                </c:pt>
                <c:pt idx="282">
                  <c:v>11.3457</c:v>
                </c:pt>
                <c:pt idx="283">
                  <c:v>11.4763</c:v>
                </c:pt>
                <c:pt idx="284">
                  <c:v>11.4473</c:v>
                </c:pt>
                <c:pt idx="285">
                  <c:v>10.8659</c:v>
                </c:pt>
                <c:pt idx="286">
                  <c:v>10.9318</c:v>
                </c:pt>
                <c:pt idx="287">
                  <c:v>9.8725</c:v>
                </c:pt>
                <c:pt idx="288">
                  <c:v>10.5097</c:v>
                </c:pt>
                <c:pt idx="289">
                  <c:v>10.9316</c:v>
                </c:pt>
                <c:pt idx="290">
                  <c:v>11.1145</c:v>
                </c:pt>
                <c:pt idx="291">
                  <c:v>11.4907</c:v>
                </c:pt>
                <c:pt idx="292">
                  <c:v>11.0103</c:v>
                </c:pt>
                <c:pt idx="293">
                  <c:v>11.7018</c:v>
                </c:pt>
                <c:pt idx="294">
                  <c:v>11.9296</c:v>
                </c:pt>
                <c:pt idx="295">
                  <c:v>12.0407</c:v>
                </c:pt>
                <c:pt idx="296">
                  <c:v>12.3125</c:v>
                </c:pt>
                <c:pt idx="297">
                  <c:v>12.2386</c:v>
                </c:pt>
                <c:pt idx="298">
                  <c:v>12.3726</c:v>
                </c:pt>
                <c:pt idx="299">
                  <c:v>12.731</c:v>
                </c:pt>
                <c:pt idx="300">
                  <c:v>13.0326</c:v>
                </c:pt>
                <c:pt idx="301">
                  <c:v>12.1888</c:v>
                </c:pt>
                <c:pt idx="302">
                  <c:v>10.8981</c:v>
                </c:pt>
                <c:pt idx="303">
                  <c:v>11.8475</c:v>
                </c:pt>
                <c:pt idx="304">
                  <c:v>12.4297</c:v>
                </c:pt>
                <c:pt idx="305">
                  <c:v>12.2355</c:v>
                </c:pt>
                <c:pt idx="306">
                  <c:v>12.8993</c:v>
                </c:pt>
                <c:pt idx="307">
                  <c:v>13.0874</c:v>
                </c:pt>
                <c:pt idx="308">
                  <c:v>12.7436</c:v>
                </c:pt>
                <c:pt idx="309">
                  <c:v>12.4476</c:v>
                </c:pt>
                <c:pt idx="310">
                  <c:v>13.3257</c:v>
                </c:pt>
                <c:pt idx="311">
                  <c:v>13.697</c:v>
                </c:pt>
                <c:pt idx="312">
                  <c:v>13.7265</c:v>
                </c:pt>
                <c:pt idx="313">
                  <c:v>13.878</c:v>
                </c:pt>
                <c:pt idx="314">
                  <c:v>14.7956</c:v>
                </c:pt>
                <c:pt idx="315">
                  <c:v>15.3921</c:v>
                </c:pt>
                <c:pt idx="316">
                  <c:v>15.54</c:v>
                </c:pt>
                <c:pt idx="317">
                  <c:v>15.6046</c:v>
                </c:pt>
                <c:pt idx="318">
                  <c:v>15.8697</c:v>
                </c:pt>
                <c:pt idx="319">
                  <c:v>16.1381</c:v>
                </c:pt>
                <c:pt idx="320">
                  <c:v>15.3356</c:v>
                </c:pt>
                <c:pt idx="321">
                  <c:v>16.0275</c:v>
                </c:pt>
                <c:pt idx="322">
                  <c:v>15.6173</c:v>
                </c:pt>
                <c:pt idx="323">
                  <c:v>16.7137</c:v>
                </c:pt>
                <c:pt idx="324">
                  <c:v>16.0902</c:v>
                </c:pt>
                <c:pt idx="325">
                  <c:v>15.8828</c:v>
                </c:pt>
                <c:pt idx="326">
                  <c:v>16.7532</c:v>
                </c:pt>
                <c:pt idx="327">
                  <c:v>15.9402</c:v>
                </c:pt>
                <c:pt idx="328">
                  <c:v>16.1331</c:v>
                </c:pt>
                <c:pt idx="329">
                  <c:v>15.2897</c:v>
                </c:pt>
                <c:pt idx="330">
                  <c:v>16.1233</c:v>
                </c:pt>
                <c:pt idx="331">
                  <c:v>15.7263</c:v>
                </c:pt>
                <c:pt idx="332">
                  <c:v>14.5742</c:v>
                </c:pt>
                <c:pt idx="333">
                  <c:v>15.7045</c:v>
                </c:pt>
                <c:pt idx="334">
                  <c:v>16.7755</c:v>
                </c:pt>
                <c:pt idx="335">
                  <c:v>16.2795</c:v>
                </c:pt>
                <c:pt idx="336">
                  <c:v>16.6921</c:v>
                </c:pt>
                <c:pt idx="337">
                  <c:v>16.2116</c:v>
                </c:pt>
                <c:pt idx="338">
                  <c:v>16.6061</c:v>
                </c:pt>
                <c:pt idx="339">
                  <c:v>16.9154</c:v>
                </c:pt>
                <c:pt idx="340">
                  <c:v>15.9984</c:v>
                </c:pt>
                <c:pt idx="341">
                  <c:v>16.3589</c:v>
                </c:pt>
                <c:pt idx="342">
                  <c:v>16.6032</c:v>
                </c:pt>
                <c:pt idx="343">
                  <c:v>16.1873</c:v>
                </c:pt>
                <c:pt idx="344">
                  <c:v>15.3214</c:v>
                </c:pt>
                <c:pt idx="345">
                  <c:v>14.9954</c:v>
                </c:pt>
                <c:pt idx="346">
                  <c:v>15.6209</c:v>
                </c:pt>
                <c:pt idx="347">
                  <c:v>16.2303</c:v>
                </c:pt>
                <c:pt idx="348">
                  <c:v>16.372</c:v>
                </c:pt>
                <c:pt idx="349">
                  <c:v>16.5743</c:v>
                </c:pt>
                <c:pt idx="350">
                  <c:v>17.0311</c:v>
                </c:pt>
                <c:pt idx="351">
                  <c:v>16.6057</c:v>
                </c:pt>
                <c:pt idx="352">
                  <c:v>16.835</c:v>
                </c:pt>
                <c:pt idx="353">
                  <c:v>16.8614</c:v>
                </c:pt>
                <c:pt idx="354">
                  <c:v>17.5382</c:v>
                </c:pt>
                <c:pt idx="355">
                  <c:v>18.6591</c:v>
                </c:pt>
                <c:pt idx="356">
                  <c:v>18.7719</c:v>
                </c:pt>
                <c:pt idx="357">
                  <c:v>18.3219</c:v>
                </c:pt>
                <c:pt idx="358">
                  <c:v>18.9768</c:v>
                </c:pt>
                <c:pt idx="359">
                  <c:v>17.9001</c:v>
                </c:pt>
                <c:pt idx="360">
                  <c:v>18.4516</c:v>
                </c:pt>
                <c:pt idx="361">
                  <c:v>18.7108</c:v>
                </c:pt>
                <c:pt idx="362">
                  <c:v>18.6392</c:v>
                </c:pt>
                <c:pt idx="363">
                  <c:v>18.0697</c:v>
                </c:pt>
                <c:pt idx="364">
                  <c:v>18.4167</c:v>
                </c:pt>
                <c:pt idx="365">
                  <c:v>18.6935</c:v>
                </c:pt>
                <c:pt idx="366">
                  <c:v>18.7886</c:v>
                </c:pt>
                <c:pt idx="367">
                  <c:v>18.9999</c:v>
                </c:pt>
                <c:pt idx="368">
                  <c:v>19.0676</c:v>
                </c:pt>
                <c:pt idx="369">
                  <c:v>18.8545</c:v>
                </c:pt>
                <c:pt idx="370">
                  <c:v>19.5178</c:v>
                </c:pt>
                <c:pt idx="371">
                  <c:v>19.413</c:v>
                </c:pt>
              </c:numCache>
            </c:numRef>
          </c:val>
          <c:smooth val="0"/>
        </c:ser>
        <c:ser>
          <c:idx val="3"/>
          <c:order val="3"/>
          <c:tx>
            <c:strRef>
              <c:f>Sheet1!$E$1</c:f>
              <c:strCache>
                <c:ptCount val="1"/>
                <c:pt idx="0">
                  <c:v>EW</c:v>
                </c:pt>
              </c:strCache>
            </c:strRef>
          </c:tx>
          <c:spPr>
            <a:solidFill>
              <a:srgbClr val="EDA100"/>
            </a:solidFill>
            <a:ln w="1905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Sheet1!$E$2:$E$373</c:f>
              <c:numCache>
                <c:formatCode>General</c:formatCode>
                <c:ptCount val="372"/>
                <c:pt idx="0">
                  <c:v>1.0262</c:v>
                </c:pt>
                <c:pt idx="1">
                  <c:v>1.0718</c:v>
                </c:pt>
                <c:pt idx="2">
                  <c:v>1.0981</c:v>
                </c:pt>
                <c:pt idx="3">
                  <c:v>1.1178</c:v>
                </c:pt>
                <c:pt idx="4">
                  <c:v>1.158</c:v>
                </c:pt>
                <c:pt idx="5">
                  <c:v>1.1895</c:v>
                </c:pt>
                <c:pt idx="6">
                  <c:v>1.2349</c:v>
                </c:pt>
                <c:pt idx="7">
                  <c:v>1.2535</c:v>
                </c:pt>
                <c:pt idx="8">
                  <c:v>1.29</c:v>
                </c:pt>
                <c:pt idx="9">
                  <c:v>1.2685</c:v>
                </c:pt>
                <c:pt idx="10">
                  <c:v>1.3288</c:v>
                </c:pt>
                <c:pt idx="11">
                  <c:v>1.3427</c:v>
                </c:pt>
                <c:pt idx="12">
                  <c:v>1.3832</c:v>
                </c:pt>
                <c:pt idx="13">
                  <c:v>1.4054</c:v>
                </c:pt>
                <c:pt idx="14">
                  <c:v>1.4234</c:v>
                </c:pt>
                <c:pt idx="15">
                  <c:v>1.4518</c:v>
                </c:pt>
                <c:pt idx="16">
                  <c:v>1.4782</c:v>
                </c:pt>
                <c:pt idx="17">
                  <c:v>1.4631</c:v>
                </c:pt>
                <c:pt idx="18">
                  <c:v>1.3883</c:v>
                </c:pt>
                <c:pt idx="19">
                  <c:v>1.4375</c:v>
                </c:pt>
                <c:pt idx="20">
                  <c:v>1.5136</c:v>
                </c:pt>
                <c:pt idx="21">
                  <c:v>1.5374</c:v>
                </c:pt>
                <c:pt idx="22">
                  <c:v>1.6469</c:v>
                </c:pt>
                <c:pt idx="23">
                  <c:v>1.6189</c:v>
                </c:pt>
                <c:pt idx="24">
                  <c:v>1.6928</c:v>
                </c:pt>
                <c:pt idx="25">
                  <c:v>1.702</c:v>
                </c:pt>
                <c:pt idx="26">
                  <c:v>1.6358</c:v>
                </c:pt>
                <c:pt idx="27">
                  <c:v>1.6908</c:v>
                </c:pt>
                <c:pt idx="28">
                  <c:v>1.809</c:v>
                </c:pt>
                <c:pt idx="29">
                  <c:v>1.8748</c:v>
                </c:pt>
                <c:pt idx="30">
                  <c:v>2.0372</c:v>
                </c:pt>
                <c:pt idx="31">
                  <c:v>1.983</c:v>
                </c:pt>
                <c:pt idx="32">
                  <c:v>2.0873</c:v>
                </c:pt>
                <c:pt idx="33">
                  <c:v>2.0075</c:v>
                </c:pt>
                <c:pt idx="34">
                  <c:v>2.0729</c:v>
                </c:pt>
                <c:pt idx="35">
                  <c:v>2.1267</c:v>
                </c:pt>
                <c:pt idx="36">
                  <c:v>2.1014</c:v>
                </c:pt>
                <c:pt idx="37">
                  <c:v>2.2619</c:v>
                </c:pt>
                <c:pt idx="38">
                  <c:v>2.3737</c:v>
                </c:pt>
                <c:pt idx="39">
                  <c:v>2.3858</c:v>
                </c:pt>
                <c:pt idx="40">
                  <c:v>2.3187</c:v>
                </c:pt>
                <c:pt idx="41">
                  <c:v>2.3619</c:v>
                </c:pt>
                <c:pt idx="42">
                  <c:v>2.2791</c:v>
                </c:pt>
                <c:pt idx="43">
                  <c:v>1.9442</c:v>
                </c:pt>
                <c:pt idx="44">
                  <c:v>2.0678</c:v>
                </c:pt>
                <c:pt idx="45">
                  <c:v>2.2416</c:v>
                </c:pt>
                <c:pt idx="46">
                  <c:v>2.3561</c:v>
                </c:pt>
                <c:pt idx="47">
                  <c:v>2.4739</c:v>
                </c:pt>
                <c:pt idx="48">
                  <c:v>2.4845</c:v>
                </c:pt>
                <c:pt idx="49">
                  <c:v>2.4183</c:v>
                </c:pt>
                <c:pt idx="50">
                  <c:v>2.4919</c:v>
                </c:pt>
                <c:pt idx="51">
                  <c:v>2.6705</c:v>
                </c:pt>
                <c:pt idx="52">
                  <c:v>2.6668</c:v>
                </c:pt>
                <c:pt idx="53">
                  <c:v>2.7651</c:v>
                </c:pt>
                <c:pt idx="54">
                  <c:v>2.6891</c:v>
                </c:pt>
                <c:pt idx="55">
                  <c:v>2.6197</c:v>
                </c:pt>
                <c:pt idx="56">
                  <c:v>2.5202</c:v>
                </c:pt>
                <c:pt idx="57">
                  <c:v>2.6493</c:v>
                </c:pt>
                <c:pt idx="58">
                  <c:v>2.6883</c:v>
                </c:pt>
                <c:pt idx="59">
                  <c:v>2.8336</c:v>
                </c:pt>
                <c:pt idx="60">
                  <c:v>2.6976</c:v>
                </c:pt>
                <c:pt idx="61">
                  <c:v>2.6966</c:v>
                </c:pt>
                <c:pt idx="62">
                  <c:v>2.9125</c:v>
                </c:pt>
                <c:pt idx="63">
                  <c:v>2.8927</c:v>
                </c:pt>
                <c:pt idx="64">
                  <c:v>2.8975</c:v>
                </c:pt>
                <c:pt idx="65">
                  <c:v>2.8738</c:v>
                </c:pt>
                <c:pt idx="66">
                  <c:v>2.8753</c:v>
                </c:pt>
                <c:pt idx="67">
                  <c:v>3.1281</c:v>
                </c:pt>
                <c:pt idx="68">
                  <c:v>3.0987</c:v>
                </c:pt>
                <c:pt idx="69">
                  <c:v>3.1292</c:v>
                </c:pt>
                <c:pt idx="70">
                  <c:v>2.9161</c:v>
                </c:pt>
                <c:pt idx="71">
                  <c:v>3.1073</c:v>
                </c:pt>
                <c:pt idx="72">
                  <c:v>3.2027</c:v>
                </c:pt>
                <c:pt idx="73">
                  <c:v>3.0323</c:v>
                </c:pt>
                <c:pt idx="74">
                  <c:v>2.8726</c:v>
                </c:pt>
                <c:pt idx="75">
                  <c:v>3.1158</c:v>
                </c:pt>
                <c:pt idx="76">
                  <c:v>3.1711</c:v>
                </c:pt>
                <c:pt idx="77">
                  <c:v>3.1367</c:v>
                </c:pt>
                <c:pt idx="78">
                  <c:v>3.0888</c:v>
                </c:pt>
                <c:pt idx="79">
                  <c:v>2.9463</c:v>
                </c:pt>
                <c:pt idx="80">
                  <c:v>2.6238</c:v>
                </c:pt>
                <c:pt idx="81">
                  <c:v>2.6939</c:v>
                </c:pt>
                <c:pt idx="82">
                  <c:v>2.9242</c:v>
                </c:pt>
                <c:pt idx="83">
                  <c:v>3.0101</c:v>
                </c:pt>
                <c:pt idx="84">
                  <c:v>3.0035</c:v>
                </c:pt>
                <c:pt idx="85">
                  <c:v>2.9532</c:v>
                </c:pt>
                <c:pt idx="86">
                  <c:v>3.1243</c:v>
                </c:pt>
                <c:pt idx="87">
                  <c:v>3.027</c:v>
                </c:pt>
                <c:pt idx="88">
                  <c:v>3.0045</c:v>
                </c:pt>
                <c:pt idx="89">
                  <c:v>2.7877</c:v>
                </c:pt>
                <c:pt idx="90">
                  <c:v>2.5361</c:v>
                </c:pt>
                <c:pt idx="91">
                  <c:v>2.5486</c:v>
                </c:pt>
                <c:pt idx="92">
                  <c:v>2.3055</c:v>
                </c:pt>
                <c:pt idx="93">
                  <c:v>2.4481</c:v>
                </c:pt>
                <c:pt idx="94">
                  <c:v>2.6092</c:v>
                </c:pt>
                <c:pt idx="95">
                  <c:v>2.4857</c:v>
                </c:pt>
                <c:pt idx="96">
                  <c:v>2.4351</c:v>
                </c:pt>
                <c:pt idx="97">
                  <c:v>2.3898</c:v>
                </c:pt>
                <c:pt idx="98">
                  <c:v>2.4007</c:v>
                </c:pt>
                <c:pt idx="99">
                  <c:v>2.5909</c:v>
                </c:pt>
                <c:pt idx="100">
                  <c:v>2.802</c:v>
                </c:pt>
                <c:pt idx="101">
                  <c:v>2.8212</c:v>
                </c:pt>
                <c:pt idx="102">
                  <c:v>2.8939</c:v>
                </c:pt>
                <c:pt idx="103">
                  <c:v>3.005</c:v>
                </c:pt>
                <c:pt idx="104">
                  <c:v>2.957</c:v>
                </c:pt>
                <c:pt idx="105">
                  <c:v>3.1793</c:v>
                </c:pt>
                <c:pt idx="106">
                  <c:v>3.2384</c:v>
                </c:pt>
                <c:pt idx="107">
                  <c:v>3.3616</c:v>
                </c:pt>
                <c:pt idx="108">
                  <c:v>3.418</c:v>
                </c:pt>
                <c:pt idx="109">
                  <c:v>3.4815</c:v>
                </c:pt>
                <c:pt idx="110">
                  <c:v>3.4581</c:v>
                </c:pt>
                <c:pt idx="111">
                  <c:v>3.3936</c:v>
                </c:pt>
                <c:pt idx="112">
                  <c:v>3.4574</c:v>
                </c:pt>
                <c:pt idx="113">
                  <c:v>3.5359</c:v>
                </c:pt>
                <c:pt idx="114">
                  <c:v>3.3901</c:v>
                </c:pt>
                <c:pt idx="115">
                  <c:v>3.3889</c:v>
                </c:pt>
                <c:pt idx="116">
                  <c:v>3.4894</c:v>
                </c:pt>
                <c:pt idx="117">
                  <c:v>3.5551</c:v>
                </c:pt>
                <c:pt idx="118">
                  <c:v>3.7457</c:v>
                </c:pt>
                <c:pt idx="119">
                  <c:v>3.8827</c:v>
                </c:pt>
                <c:pt idx="120">
                  <c:v>3.7909</c:v>
                </c:pt>
                <c:pt idx="121">
                  <c:v>3.8742</c:v>
                </c:pt>
                <c:pt idx="122">
                  <c:v>3.8353</c:v>
                </c:pt>
                <c:pt idx="123">
                  <c:v>3.7304</c:v>
                </c:pt>
                <c:pt idx="124">
                  <c:v>3.8989</c:v>
                </c:pt>
                <c:pt idx="125">
                  <c:v>3.962</c:v>
                </c:pt>
                <c:pt idx="126">
                  <c:v>4.1565</c:v>
                </c:pt>
                <c:pt idx="127">
                  <c:v>4.1228</c:v>
                </c:pt>
                <c:pt idx="128">
                  <c:v>4.1673</c:v>
                </c:pt>
                <c:pt idx="129">
                  <c:v>4.0802</c:v>
                </c:pt>
                <c:pt idx="130">
                  <c:v>4.2501</c:v>
                </c:pt>
                <c:pt idx="131">
                  <c:v>4.2787</c:v>
                </c:pt>
                <c:pt idx="132">
                  <c:v>4.4406</c:v>
                </c:pt>
                <c:pt idx="133">
                  <c:v>4.4366</c:v>
                </c:pt>
                <c:pt idx="134">
                  <c:v>4.5182</c:v>
                </c:pt>
                <c:pt idx="135">
                  <c:v>4.5752</c:v>
                </c:pt>
                <c:pt idx="136">
                  <c:v>4.429</c:v>
                </c:pt>
                <c:pt idx="137">
                  <c:v>4.4335</c:v>
                </c:pt>
                <c:pt idx="138">
                  <c:v>4.3702</c:v>
                </c:pt>
                <c:pt idx="139">
                  <c:v>4.4688</c:v>
                </c:pt>
                <c:pt idx="140">
                  <c:v>4.5566</c:v>
                </c:pt>
                <c:pt idx="141">
                  <c:v>4.7159</c:v>
                </c:pt>
                <c:pt idx="142">
                  <c:v>4.8349</c:v>
                </c:pt>
                <c:pt idx="143">
                  <c:v>4.8573</c:v>
                </c:pt>
                <c:pt idx="144">
                  <c:v>4.9754</c:v>
                </c:pt>
                <c:pt idx="145">
                  <c:v>4.9644</c:v>
                </c:pt>
                <c:pt idx="146">
                  <c:v>5.01</c:v>
                </c:pt>
                <c:pt idx="147">
                  <c:v>5.2244</c:v>
                </c:pt>
                <c:pt idx="148">
                  <c:v>5.4229</c:v>
                </c:pt>
                <c:pt idx="149">
                  <c:v>5.3174</c:v>
                </c:pt>
                <c:pt idx="150">
                  <c:v>5.136</c:v>
                </c:pt>
                <c:pt idx="151">
                  <c:v>5.1676</c:v>
                </c:pt>
                <c:pt idx="152">
                  <c:v>5.3314</c:v>
                </c:pt>
                <c:pt idx="153">
                  <c:v>5.451</c:v>
                </c:pt>
                <c:pt idx="154">
                  <c:v>5.2077</c:v>
                </c:pt>
                <c:pt idx="155">
                  <c:v>5.1442</c:v>
                </c:pt>
                <c:pt idx="156">
                  <c:v>4.8536</c:v>
                </c:pt>
                <c:pt idx="157">
                  <c:v>4.747</c:v>
                </c:pt>
                <c:pt idx="158">
                  <c:v>4.6688</c:v>
                </c:pt>
                <c:pt idx="159">
                  <c:v>4.9336</c:v>
                </c:pt>
                <c:pt idx="160">
                  <c:v>5.1093</c:v>
                </c:pt>
                <c:pt idx="161">
                  <c:v>4.691</c:v>
                </c:pt>
                <c:pt idx="162">
                  <c:v>4.6214</c:v>
                </c:pt>
                <c:pt idx="163">
                  <c:v>4.6862</c:v>
                </c:pt>
                <c:pt idx="164">
                  <c:v>4.1391</c:v>
                </c:pt>
                <c:pt idx="165">
                  <c:v>3.3313</c:v>
                </c:pt>
                <c:pt idx="166">
                  <c:v>3.0561</c:v>
                </c:pt>
                <c:pt idx="167">
                  <c:v>3.1477</c:v>
                </c:pt>
                <c:pt idx="168">
                  <c:v>2.9257</c:v>
                </c:pt>
                <c:pt idx="169">
                  <c:v>2.6331</c:v>
                </c:pt>
                <c:pt idx="170">
                  <c:v>2.8677</c:v>
                </c:pt>
                <c:pt idx="171">
                  <c:v>3.225</c:v>
                </c:pt>
                <c:pt idx="172">
                  <c:v>3.3667</c:v>
                </c:pt>
                <c:pt idx="173">
                  <c:v>3.3707</c:v>
                </c:pt>
                <c:pt idx="174">
                  <c:v>3.6465</c:v>
                </c:pt>
                <c:pt idx="175">
                  <c:v>3.7879</c:v>
                </c:pt>
                <c:pt idx="176">
                  <c:v>3.9702</c:v>
                </c:pt>
                <c:pt idx="177">
                  <c:v>3.8452</c:v>
                </c:pt>
                <c:pt idx="178">
                  <c:v>4.053</c:v>
                </c:pt>
                <c:pt idx="179">
                  <c:v>4.2282</c:v>
                </c:pt>
                <c:pt idx="180">
                  <c:v>4.0919</c:v>
                </c:pt>
                <c:pt idx="181">
                  <c:v>4.2773</c:v>
                </c:pt>
                <c:pt idx="182">
                  <c:v>4.5506</c:v>
                </c:pt>
                <c:pt idx="183">
                  <c:v>4.6743</c:v>
                </c:pt>
                <c:pt idx="184">
                  <c:v>4.3285</c:v>
                </c:pt>
                <c:pt idx="185">
                  <c:v>4.0763</c:v>
                </c:pt>
                <c:pt idx="186">
                  <c:v>4.3696</c:v>
                </c:pt>
                <c:pt idx="187">
                  <c:v>4.1776</c:v>
                </c:pt>
                <c:pt idx="188">
                  <c:v>4.6037</c:v>
                </c:pt>
                <c:pt idx="189">
                  <c:v>4.7865</c:v>
                </c:pt>
                <c:pt idx="190">
                  <c:v>4.8572</c:v>
                </c:pt>
                <c:pt idx="191">
                  <c:v>5.1881</c:v>
                </c:pt>
                <c:pt idx="192">
                  <c:v>5.2965</c:v>
                </c:pt>
                <c:pt idx="193">
                  <c:v>5.4945</c:v>
                </c:pt>
                <c:pt idx="194">
                  <c:v>5.5609</c:v>
                </c:pt>
                <c:pt idx="195">
                  <c:v>5.729</c:v>
                </c:pt>
                <c:pt idx="196">
                  <c:v>5.6963</c:v>
                </c:pt>
                <c:pt idx="197">
                  <c:v>5.5961</c:v>
                </c:pt>
                <c:pt idx="198">
                  <c:v>5.4144</c:v>
                </c:pt>
                <c:pt idx="199">
                  <c:v>5.0689</c:v>
                </c:pt>
                <c:pt idx="200">
                  <c:v>4.6325</c:v>
                </c:pt>
                <c:pt idx="201">
                  <c:v>5.2109</c:v>
                </c:pt>
                <c:pt idx="202">
                  <c:v>5.184</c:v>
                </c:pt>
                <c:pt idx="203">
                  <c:v>5.1564</c:v>
                </c:pt>
                <c:pt idx="204">
                  <c:v>5.4475</c:v>
                </c:pt>
                <c:pt idx="205">
                  <c:v>5.6845</c:v>
                </c:pt>
                <c:pt idx="206">
                  <c:v>5.8172</c:v>
                </c:pt>
                <c:pt idx="207">
                  <c:v>5.7718</c:v>
                </c:pt>
                <c:pt idx="208">
                  <c:v>5.3821</c:v>
                </c:pt>
                <c:pt idx="209">
                  <c:v>5.5494</c:v>
                </c:pt>
                <c:pt idx="210">
                  <c:v>5.5562</c:v>
                </c:pt>
                <c:pt idx="211">
                  <c:v>5.7267</c:v>
                </c:pt>
                <c:pt idx="212">
                  <c:v>5.8634</c:v>
                </c:pt>
                <c:pt idx="213">
                  <c:v>5.8215</c:v>
                </c:pt>
                <c:pt idx="214">
                  <c:v>5.8869</c:v>
                </c:pt>
                <c:pt idx="215">
                  <c:v>6.0074</c:v>
                </c:pt>
                <c:pt idx="216">
                  <c:v>6.4087</c:v>
                </c:pt>
                <c:pt idx="217">
                  <c:v>6.4885</c:v>
                </c:pt>
                <c:pt idx="218">
                  <c:v>6.7834</c:v>
                </c:pt>
                <c:pt idx="219">
                  <c:v>6.8843</c:v>
                </c:pt>
                <c:pt idx="220">
                  <c:v>7.0567</c:v>
                </c:pt>
                <c:pt idx="221">
                  <c:v>6.9712</c:v>
                </c:pt>
                <c:pt idx="222">
                  <c:v>7.3787</c:v>
                </c:pt>
                <c:pt idx="223">
                  <c:v>7.1994</c:v>
                </c:pt>
                <c:pt idx="224">
                  <c:v>7.5132</c:v>
                </c:pt>
                <c:pt idx="225">
                  <c:v>7.7955</c:v>
                </c:pt>
                <c:pt idx="226">
                  <c:v>7.976</c:v>
                </c:pt>
                <c:pt idx="227">
                  <c:v>8.2215</c:v>
                </c:pt>
                <c:pt idx="228">
                  <c:v>7.981</c:v>
                </c:pt>
                <c:pt idx="229">
                  <c:v>8.4106</c:v>
                </c:pt>
                <c:pt idx="230">
                  <c:v>8.4385</c:v>
                </c:pt>
                <c:pt idx="231">
                  <c:v>8.4226</c:v>
                </c:pt>
                <c:pt idx="232">
                  <c:v>8.6212</c:v>
                </c:pt>
                <c:pt idx="233">
                  <c:v>8.8635</c:v>
                </c:pt>
                <c:pt idx="234">
                  <c:v>8.6565</c:v>
                </c:pt>
                <c:pt idx="235">
                  <c:v>9.0322</c:v>
                </c:pt>
                <c:pt idx="236">
                  <c:v>8.8203</c:v>
                </c:pt>
                <c:pt idx="237">
                  <c:v>9.0672</c:v>
                </c:pt>
                <c:pt idx="238">
                  <c:v>9.325</c:v>
                </c:pt>
                <c:pt idx="239">
                  <c:v>9.3475</c:v>
                </c:pt>
                <c:pt idx="240">
                  <c:v>9.1294</c:v>
                </c:pt>
                <c:pt idx="241">
                  <c:v>9.6817</c:v>
                </c:pt>
                <c:pt idx="242">
                  <c:v>9.6182</c:v>
                </c:pt>
                <c:pt idx="243">
                  <c:v>9.6283</c:v>
                </c:pt>
                <c:pt idx="244">
                  <c:v>9.7618</c:v>
                </c:pt>
                <c:pt idx="245">
                  <c:v>9.5856</c:v>
                </c:pt>
                <c:pt idx="246">
                  <c:v>9.6911</c:v>
                </c:pt>
                <c:pt idx="247">
                  <c:v>9.1571</c:v>
                </c:pt>
                <c:pt idx="248">
                  <c:v>8.8485</c:v>
                </c:pt>
                <c:pt idx="249">
                  <c:v>9.4685</c:v>
                </c:pt>
                <c:pt idx="250">
                  <c:v>9.5018</c:v>
                </c:pt>
                <c:pt idx="251">
                  <c:v>9.2571</c:v>
                </c:pt>
                <c:pt idx="252">
                  <c:v>8.6798</c:v>
                </c:pt>
                <c:pt idx="253">
                  <c:v>8.7836</c:v>
                </c:pt>
                <c:pt idx="254">
                  <c:v>9.433</c:v>
                </c:pt>
                <c:pt idx="255">
                  <c:v>9.5568</c:v>
                </c:pt>
                <c:pt idx="256">
                  <c:v>9.7193</c:v>
                </c:pt>
                <c:pt idx="257">
                  <c:v>9.7346</c:v>
                </c:pt>
                <c:pt idx="258">
                  <c:v>10.1209</c:v>
                </c:pt>
                <c:pt idx="259">
                  <c:v>10.1782</c:v>
                </c:pt>
                <c:pt idx="260">
                  <c:v>10.1944</c:v>
                </c:pt>
                <c:pt idx="261">
                  <c:v>9.9867</c:v>
                </c:pt>
                <c:pt idx="262">
                  <c:v>10.5627</c:v>
                </c:pt>
                <c:pt idx="263">
                  <c:v>10.6758</c:v>
                </c:pt>
                <c:pt idx="264">
                  <c:v>10.9382</c:v>
                </c:pt>
                <c:pt idx="265">
                  <c:v>11.3263</c:v>
                </c:pt>
                <c:pt idx="266">
                  <c:v>11.332</c:v>
                </c:pt>
                <c:pt idx="267">
                  <c:v>11.4381</c:v>
                </c:pt>
                <c:pt idx="268">
                  <c:v>11.5535</c:v>
                </c:pt>
                <c:pt idx="269">
                  <c:v>11.6573</c:v>
                </c:pt>
                <c:pt idx="270">
                  <c:v>11.8675</c:v>
                </c:pt>
                <c:pt idx="271">
                  <c:v>11.8298</c:v>
                </c:pt>
                <c:pt idx="272">
                  <c:v>12.1867</c:v>
                </c:pt>
                <c:pt idx="273">
                  <c:v>12.4041</c:v>
                </c:pt>
                <c:pt idx="274">
                  <c:v>12.8996</c:v>
                </c:pt>
                <c:pt idx="275">
                  <c:v>13.0664</c:v>
                </c:pt>
                <c:pt idx="276">
                  <c:v>13.7347</c:v>
                </c:pt>
                <c:pt idx="277">
                  <c:v>13.196</c:v>
                </c:pt>
                <c:pt idx="278">
                  <c:v>13.0841</c:v>
                </c:pt>
                <c:pt idx="279">
                  <c:v>13.1208</c:v>
                </c:pt>
                <c:pt idx="280">
                  <c:v>13.3538</c:v>
                </c:pt>
                <c:pt idx="281">
                  <c:v>13.4313</c:v>
                </c:pt>
                <c:pt idx="282">
                  <c:v>13.8869</c:v>
                </c:pt>
                <c:pt idx="283">
                  <c:v>14.2518</c:v>
                </c:pt>
                <c:pt idx="284">
                  <c:v>14.2843</c:v>
                </c:pt>
                <c:pt idx="285">
                  <c:v>13.1617</c:v>
                </c:pt>
                <c:pt idx="286">
                  <c:v>13.5011</c:v>
                </c:pt>
                <c:pt idx="287">
                  <c:v>12.1982</c:v>
                </c:pt>
                <c:pt idx="288">
                  <c:v>13.3595</c:v>
                </c:pt>
                <c:pt idx="289">
                  <c:v>13.8756</c:v>
                </c:pt>
                <c:pt idx="290">
                  <c:v>13.9882</c:v>
                </c:pt>
                <c:pt idx="291">
                  <c:v>14.5429</c:v>
                </c:pt>
                <c:pt idx="292">
                  <c:v>13.6163</c:v>
                </c:pt>
                <c:pt idx="293">
                  <c:v>14.6534</c:v>
                </c:pt>
                <c:pt idx="294">
                  <c:v>14.8349</c:v>
                </c:pt>
                <c:pt idx="295">
                  <c:v>14.4283</c:v>
                </c:pt>
                <c:pt idx="296">
                  <c:v>14.7316</c:v>
                </c:pt>
                <c:pt idx="297">
                  <c:v>14.9502</c:v>
                </c:pt>
                <c:pt idx="298">
                  <c:v>15.5886</c:v>
                </c:pt>
                <c:pt idx="299">
                  <c:v>15.9549</c:v>
                </c:pt>
                <c:pt idx="300">
                  <c:v>15.7961</c:v>
                </c:pt>
                <c:pt idx="301">
                  <c:v>14.4788</c:v>
                </c:pt>
                <c:pt idx="302">
                  <c:v>12.0556</c:v>
                </c:pt>
                <c:pt idx="303">
                  <c:v>13.6726</c:v>
                </c:pt>
                <c:pt idx="304">
                  <c:v>14.6019</c:v>
                </c:pt>
                <c:pt idx="305">
                  <c:v>14.7384</c:v>
                </c:pt>
                <c:pt idx="306">
                  <c:v>15.5584</c:v>
                </c:pt>
                <c:pt idx="307">
                  <c:v>16.1948</c:v>
                </c:pt>
                <c:pt idx="308">
                  <c:v>15.8787</c:v>
                </c:pt>
                <c:pt idx="309">
                  <c:v>15.8287</c:v>
                </c:pt>
                <c:pt idx="310">
                  <c:v>17.8793</c:v>
                </c:pt>
                <c:pt idx="311">
                  <c:v>18.681</c:v>
                </c:pt>
                <c:pt idx="312">
                  <c:v>18.4949</c:v>
                </c:pt>
                <c:pt idx="313">
                  <c:v>19.339</c:v>
                </c:pt>
                <c:pt idx="314">
                  <c:v>20.2188</c:v>
                </c:pt>
                <c:pt idx="315">
                  <c:v>21.146</c:v>
                </c:pt>
                <c:pt idx="316">
                  <c:v>21.3734</c:v>
                </c:pt>
                <c:pt idx="317">
                  <c:v>21.5693</c:v>
                </c:pt>
                <c:pt idx="318">
                  <c:v>21.7521</c:v>
                </c:pt>
                <c:pt idx="319">
                  <c:v>22.3009</c:v>
                </c:pt>
                <c:pt idx="320">
                  <c:v>21.3878</c:v>
                </c:pt>
                <c:pt idx="321">
                  <c:v>22.6141</c:v>
                </c:pt>
                <c:pt idx="322">
                  <c:v>22.0252</c:v>
                </c:pt>
                <c:pt idx="323">
                  <c:v>23.096</c:v>
                </c:pt>
                <c:pt idx="324">
                  <c:v>21.8574</c:v>
                </c:pt>
                <c:pt idx="325">
                  <c:v>21.7256</c:v>
                </c:pt>
                <c:pt idx="326">
                  <c:v>22.2686</c:v>
                </c:pt>
                <c:pt idx="327">
                  <c:v>20.7023</c:v>
                </c:pt>
                <c:pt idx="328">
                  <c:v>20.8924</c:v>
                </c:pt>
                <c:pt idx="329">
                  <c:v>19.025</c:v>
                </c:pt>
                <c:pt idx="330">
                  <c:v>20.7399</c:v>
                </c:pt>
                <c:pt idx="331">
                  <c:v>20.2049</c:v>
                </c:pt>
                <c:pt idx="332">
                  <c:v>18.3824</c:v>
                </c:pt>
                <c:pt idx="333">
                  <c:v>20.0839</c:v>
                </c:pt>
                <c:pt idx="334">
                  <c:v>21.3906</c:v>
                </c:pt>
                <c:pt idx="335">
                  <c:v>20.3407</c:v>
                </c:pt>
                <c:pt idx="336">
                  <c:v>21.7644</c:v>
                </c:pt>
                <c:pt idx="337">
                  <c:v>21.1319</c:v>
                </c:pt>
                <c:pt idx="338">
                  <c:v>21.1686</c:v>
                </c:pt>
                <c:pt idx="339">
                  <c:v>21.1618</c:v>
                </c:pt>
                <c:pt idx="340">
                  <c:v>20.5271</c:v>
                </c:pt>
                <c:pt idx="341">
                  <c:v>22.0725</c:v>
                </c:pt>
                <c:pt idx="342">
                  <c:v>22.7842</c:v>
                </c:pt>
                <c:pt idx="343">
                  <c:v>22.1813</c:v>
                </c:pt>
                <c:pt idx="344">
                  <c:v>21.1089</c:v>
                </c:pt>
                <c:pt idx="345">
                  <c:v>20.2655</c:v>
                </c:pt>
                <c:pt idx="346">
                  <c:v>22.1092</c:v>
                </c:pt>
                <c:pt idx="347">
                  <c:v>23.6067</c:v>
                </c:pt>
                <c:pt idx="348">
                  <c:v>23.5235</c:v>
                </c:pt>
                <c:pt idx="349">
                  <c:v>24.637</c:v>
                </c:pt>
                <c:pt idx="350">
                  <c:v>25.7856</c:v>
                </c:pt>
                <c:pt idx="351">
                  <c:v>24.5285</c:v>
                </c:pt>
                <c:pt idx="352">
                  <c:v>25.1955</c:v>
                </c:pt>
                <c:pt idx="353">
                  <c:v>25.1289</c:v>
                </c:pt>
                <c:pt idx="354">
                  <c:v>26.1028</c:v>
                </c:pt>
                <c:pt idx="355">
                  <c:v>26.682</c:v>
                </c:pt>
                <c:pt idx="356">
                  <c:v>27.2145</c:v>
                </c:pt>
                <c:pt idx="357">
                  <c:v>26.9724</c:v>
                </c:pt>
                <c:pt idx="358">
                  <c:v>28.8569</c:v>
                </c:pt>
                <c:pt idx="359">
                  <c:v>27.0389</c:v>
                </c:pt>
                <c:pt idx="360">
                  <c:v>28.1807</c:v>
                </c:pt>
                <c:pt idx="361">
                  <c:v>27.7072</c:v>
                </c:pt>
                <c:pt idx="362">
                  <c:v>26.5702</c:v>
                </c:pt>
                <c:pt idx="363">
                  <c:v>26.0999</c:v>
                </c:pt>
                <c:pt idx="364">
                  <c:v>27.3334</c:v>
                </c:pt>
                <c:pt idx="365">
                  <c:v>28.365</c:v>
                </c:pt>
                <c:pt idx="366">
                  <c:v>28.5871</c:v>
                </c:pt>
                <c:pt idx="367">
                  <c:v>29.2894</c:v>
                </c:pt>
                <c:pt idx="368">
                  <c:v>29.6378</c:v>
                </c:pt>
                <c:pt idx="369">
                  <c:v>29.6661</c:v>
                </c:pt>
                <c:pt idx="370">
                  <c:v>30.1566</c:v>
                </c:pt>
                <c:pt idx="371">
                  <c:v>30.2868</c:v>
                </c:pt>
              </c:numCache>
            </c:numRef>
          </c:val>
          <c:smooth val="0"/>
        </c:ser>
        <c:ser>
          <c:idx val="4"/>
          <c:order val="4"/>
          <c:tx>
            <c:strRef>
              <c:f>Sheet1!$F$1</c:f>
              <c:strCache>
                <c:ptCount val="1"/>
                <c:pt idx="0">
                  <c:v>VW</c:v>
                </c:pt>
              </c:strCache>
            </c:strRef>
          </c:tx>
          <c:spPr>
            <a:solidFill>
              <a:srgbClr val="E87BA4"/>
            </a:solidFill>
            <a:ln w="1905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Sheet1!$F$2:$F$373</c:f>
              <c:numCache>
                <c:formatCode>General</c:formatCode>
                <c:ptCount val="372"/>
                <c:pt idx="0">
                  <c:v>1.0283</c:v>
                </c:pt>
                <c:pt idx="1">
                  <c:v>1.0679</c:v>
                </c:pt>
                <c:pt idx="2">
                  <c:v>1.0963</c:v>
                </c:pt>
                <c:pt idx="3">
                  <c:v>1.1276</c:v>
                </c:pt>
                <c:pt idx="4">
                  <c:v>1.172</c:v>
                </c:pt>
                <c:pt idx="5">
                  <c:v>1.2021</c:v>
                </c:pt>
                <c:pt idx="6">
                  <c:v>1.2431</c:v>
                </c:pt>
                <c:pt idx="7">
                  <c:v>1.2514</c:v>
                </c:pt>
                <c:pt idx="8">
                  <c:v>1.3058</c:v>
                </c:pt>
                <c:pt idx="9">
                  <c:v>1.303</c:v>
                </c:pt>
                <c:pt idx="10">
                  <c:v>1.3589</c:v>
                </c:pt>
                <c:pt idx="11">
                  <c:v>1.3812</c:v>
                </c:pt>
                <c:pt idx="12">
                  <c:v>1.4277</c:v>
                </c:pt>
                <c:pt idx="13">
                  <c:v>1.4458</c:v>
                </c:pt>
                <c:pt idx="14">
                  <c:v>1.4572</c:v>
                </c:pt>
                <c:pt idx="15">
                  <c:v>1.4779</c:v>
                </c:pt>
                <c:pt idx="16">
                  <c:v>1.515</c:v>
                </c:pt>
                <c:pt idx="17">
                  <c:v>1.5189</c:v>
                </c:pt>
                <c:pt idx="18">
                  <c:v>1.4524</c:v>
                </c:pt>
                <c:pt idx="19">
                  <c:v>1.4862</c:v>
                </c:pt>
                <c:pt idx="20">
                  <c:v>1.5705</c:v>
                </c:pt>
                <c:pt idx="21">
                  <c:v>1.6107</c:v>
                </c:pt>
                <c:pt idx="22">
                  <c:v>1.7332</c:v>
                </c:pt>
                <c:pt idx="23">
                  <c:v>1.7025</c:v>
                </c:pt>
                <c:pt idx="24">
                  <c:v>1.8109</c:v>
                </c:pt>
                <c:pt idx="25">
                  <c:v>1.8214</c:v>
                </c:pt>
                <c:pt idx="26">
                  <c:v>1.7433</c:v>
                </c:pt>
                <c:pt idx="27">
                  <c:v>1.8479</c:v>
                </c:pt>
                <c:pt idx="28">
                  <c:v>1.961</c:v>
                </c:pt>
                <c:pt idx="29">
                  <c:v>2.0465</c:v>
                </c:pt>
                <c:pt idx="30">
                  <c:v>2.2126</c:v>
                </c:pt>
                <c:pt idx="31">
                  <c:v>2.0967</c:v>
                </c:pt>
                <c:pt idx="32">
                  <c:v>2.209</c:v>
                </c:pt>
                <c:pt idx="33">
                  <c:v>2.136</c:v>
                </c:pt>
                <c:pt idx="34">
                  <c:v>2.2363</c:v>
                </c:pt>
                <c:pt idx="35">
                  <c:v>2.2792</c:v>
                </c:pt>
                <c:pt idx="36">
                  <c:v>2.3002</c:v>
                </c:pt>
                <c:pt idx="37">
                  <c:v>2.4636</c:v>
                </c:pt>
                <c:pt idx="38">
                  <c:v>2.5899</c:v>
                </c:pt>
                <c:pt idx="39">
                  <c:v>2.6157</c:v>
                </c:pt>
                <c:pt idx="40">
                  <c:v>2.5674</c:v>
                </c:pt>
                <c:pt idx="41">
                  <c:v>2.6759</c:v>
                </c:pt>
                <c:pt idx="42">
                  <c:v>2.6478</c:v>
                </c:pt>
                <c:pt idx="43">
                  <c:v>2.2685</c:v>
                </c:pt>
                <c:pt idx="44">
                  <c:v>2.4196</c:v>
                </c:pt>
                <c:pt idx="45">
                  <c:v>2.6056</c:v>
                </c:pt>
                <c:pt idx="46">
                  <c:v>2.7714</c:v>
                </c:pt>
                <c:pt idx="47">
                  <c:v>2.9398</c:v>
                </c:pt>
                <c:pt idx="48">
                  <c:v>3.0576</c:v>
                </c:pt>
                <c:pt idx="49">
                  <c:v>2.9614</c:v>
                </c:pt>
                <c:pt idx="50">
                  <c:v>3.0742</c:v>
                </c:pt>
                <c:pt idx="51">
                  <c:v>3.1803</c:v>
                </c:pt>
                <c:pt idx="52">
                  <c:v>3.1087</c:v>
                </c:pt>
                <c:pt idx="53">
                  <c:v>3.2677</c:v>
                </c:pt>
                <c:pt idx="54">
                  <c:v>3.1695</c:v>
                </c:pt>
                <c:pt idx="55">
                  <c:v>3.1541</c:v>
                </c:pt>
                <c:pt idx="56">
                  <c:v>3.0566</c:v>
                </c:pt>
                <c:pt idx="57">
                  <c:v>3.2751</c:v>
                </c:pt>
                <c:pt idx="58">
                  <c:v>3.3446</c:v>
                </c:pt>
                <c:pt idx="59">
                  <c:v>3.5516</c:v>
                </c:pt>
                <c:pt idx="60">
                  <c:v>3.3974</c:v>
                </c:pt>
                <c:pt idx="61">
                  <c:v>3.3613</c:v>
                </c:pt>
                <c:pt idx="62">
                  <c:v>3.6755</c:v>
                </c:pt>
                <c:pt idx="63">
                  <c:v>3.5517</c:v>
                </c:pt>
                <c:pt idx="64">
                  <c:v>3.4669</c:v>
                </c:pt>
                <c:pt idx="65">
                  <c:v>3.5629</c:v>
                </c:pt>
                <c:pt idx="66">
                  <c:v>3.5279</c:v>
                </c:pt>
                <c:pt idx="67">
                  <c:v>3.7552</c:v>
                </c:pt>
                <c:pt idx="68">
                  <c:v>3.5874</c:v>
                </c:pt>
                <c:pt idx="69">
                  <c:v>3.5861</c:v>
                </c:pt>
                <c:pt idx="70">
                  <c:v>3.3129</c:v>
                </c:pt>
                <c:pt idx="71">
                  <c:v>3.337</c:v>
                </c:pt>
                <c:pt idx="72">
                  <c:v>3.4303</c:v>
                </c:pt>
                <c:pt idx="73">
                  <c:v>3.1506</c:v>
                </c:pt>
                <c:pt idx="74">
                  <c:v>2.958</c:v>
                </c:pt>
                <c:pt idx="75">
                  <c:v>3.1799</c:v>
                </c:pt>
                <c:pt idx="76">
                  <c:v>3.2062</c:v>
                </c:pt>
                <c:pt idx="77">
                  <c:v>3.1405</c:v>
                </c:pt>
                <c:pt idx="78">
                  <c:v>3.1091</c:v>
                </c:pt>
                <c:pt idx="79">
                  <c:v>2.9168</c:v>
                </c:pt>
                <c:pt idx="80">
                  <c:v>2.6957</c:v>
                </c:pt>
                <c:pt idx="81">
                  <c:v>2.7477</c:v>
                </c:pt>
                <c:pt idx="82">
                  <c:v>2.9526</c:v>
                </c:pt>
                <c:pt idx="83">
                  <c:v>2.9802</c:v>
                </c:pt>
                <c:pt idx="84">
                  <c:v>2.9531</c:v>
                </c:pt>
                <c:pt idx="85">
                  <c:v>2.8994</c:v>
                </c:pt>
                <c:pt idx="86">
                  <c:v>3.0065</c:v>
                </c:pt>
                <c:pt idx="87">
                  <c:v>2.8332</c:v>
                </c:pt>
                <c:pt idx="88">
                  <c:v>2.8137</c:v>
                </c:pt>
                <c:pt idx="89">
                  <c:v>2.6182</c:v>
                </c:pt>
                <c:pt idx="90">
                  <c:v>2.4306</c:v>
                </c:pt>
                <c:pt idx="91">
                  <c:v>2.4469</c:v>
                </c:pt>
                <c:pt idx="92">
                  <c:v>2.1905</c:v>
                </c:pt>
                <c:pt idx="93">
                  <c:v>2.3798</c:v>
                </c:pt>
                <c:pt idx="94">
                  <c:v>2.5045</c:v>
                </c:pt>
                <c:pt idx="95">
                  <c:v>2.3602</c:v>
                </c:pt>
                <c:pt idx="96">
                  <c:v>2.2965</c:v>
                </c:pt>
                <c:pt idx="97">
                  <c:v>2.2584</c:v>
                </c:pt>
                <c:pt idx="98">
                  <c:v>2.2852</c:v>
                </c:pt>
                <c:pt idx="99">
                  <c:v>2.4667</c:v>
                </c:pt>
                <c:pt idx="100">
                  <c:v>2.5933</c:v>
                </c:pt>
                <c:pt idx="101">
                  <c:v>2.626</c:v>
                </c:pt>
                <c:pt idx="102">
                  <c:v>2.6737</c:v>
                </c:pt>
                <c:pt idx="103">
                  <c:v>2.725</c:v>
                </c:pt>
                <c:pt idx="104">
                  <c:v>2.6945</c:v>
                </c:pt>
                <c:pt idx="105">
                  <c:v>2.8481</c:v>
                </c:pt>
                <c:pt idx="106">
                  <c:v>2.8738</c:v>
                </c:pt>
                <c:pt idx="107">
                  <c:v>3.0105</c:v>
                </c:pt>
                <c:pt idx="108">
                  <c:v>3.0594</c:v>
                </c:pt>
                <c:pt idx="109">
                  <c:v>3.1014</c:v>
                </c:pt>
                <c:pt idx="110">
                  <c:v>3.0538</c:v>
                </c:pt>
                <c:pt idx="111">
                  <c:v>3.0117</c:v>
                </c:pt>
                <c:pt idx="112">
                  <c:v>3.0499</c:v>
                </c:pt>
                <c:pt idx="113">
                  <c:v>3.1014</c:v>
                </c:pt>
                <c:pt idx="114">
                  <c:v>2.9965</c:v>
                </c:pt>
                <c:pt idx="115">
                  <c:v>3.0079</c:v>
                </c:pt>
                <c:pt idx="116">
                  <c:v>3.0402</c:v>
                </c:pt>
                <c:pt idx="117">
                  <c:v>3.0791</c:v>
                </c:pt>
                <c:pt idx="118">
                  <c:v>3.2004</c:v>
                </c:pt>
                <c:pt idx="119">
                  <c:v>3.307</c:v>
                </c:pt>
                <c:pt idx="120">
                  <c:v>3.2286</c:v>
                </c:pt>
                <c:pt idx="121">
                  <c:v>3.2943</c:v>
                </c:pt>
                <c:pt idx="122">
                  <c:v>3.2385</c:v>
                </c:pt>
                <c:pt idx="123">
                  <c:v>3.1824</c:v>
                </c:pt>
                <c:pt idx="124">
                  <c:v>3.2902</c:v>
                </c:pt>
                <c:pt idx="125">
                  <c:v>3.2946</c:v>
                </c:pt>
                <c:pt idx="126">
                  <c:v>3.42</c:v>
                </c:pt>
                <c:pt idx="127">
                  <c:v>3.3917</c:v>
                </c:pt>
                <c:pt idx="128">
                  <c:v>3.4196</c:v>
                </c:pt>
                <c:pt idx="129">
                  <c:v>3.3686</c:v>
                </c:pt>
                <c:pt idx="130">
                  <c:v>3.496</c:v>
                </c:pt>
                <c:pt idx="131">
                  <c:v>3.4934</c:v>
                </c:pt>
                <c:pt idx="132">
                  <c:v>3.5798</c:v>
                </c:pt>
                <c:pt idx="133">
                  <c:v>3.5849</c:v>
                </c:pt>
                <c:pt idx="134">
                  <c:v>3.6313</c:v>
                </c:pt>
                <c:pt idx="135">
                  <c:v>3.6707</c:v>
                </c:pt>
                <c:pt idx="136">
                  <c:v>3.566</c:v>
                </c:pt>
                <c:pt idx="137">
                  <c:v>3.5682</c:v>
                </c:pt>
                <c:pt idx="138">
                  <c:v>3.5881</c:v>
                </c:pt>
                <c:pt idx="139">
                  <c:v>3.6762</c:v>
                </c:pt>
                <c:pt idx="140">
                  <c:v>3.7636</c:v>
                </c:pt>
                <c:pt idx="141">
                  <c:v>3.8815</c:v>
                </c:pt>
                <c:pt idx="142">
                  <c:v>3.9511</c:v>
                </c:pt>
                <c:pt idx="143">
                  <c:v>4.0056</c:v>
                </c:pt>
                <c:pt idx="144">
                  <c:v>4.0648</c:v>
                </c:pt>
                <c:pt idx="145">
                  <c:v>3.9925</c:v>
                </c:pt>
                <c:pt idx="146">
                  <c:v>4.0357</c:v>
                </c:pt>
                <c:pt idx="147">
                  <c:v>4.2102</c:v>
                </c:pt>
                <c:pt idx="148">
                  <c:v>4.3602</c:v>
                </c:pt>
                <c:pt idx="149">
                  <c:v>4.2841</c:v>
                </c:pt>
                <c:pt idx="150">
                  <c:v>4.1624</c:v>
                </c:pt>
                <c:pt idx="151">
                  <c:v>4.2319</c:v>
                </c:pt>
                <c:pt idx="152">
                  <c:v>4.3913</c:v>
                </c:pt>
                <c:pt idx="153">
                  <c:v>4.4767</c:v>
                </c:pt>
                <c:pt idx="154">
                  <c:v>4.2992</c:v>
                </c:pt>
                <c:pt idx="155">
                  <c:v>4.2715</c:v>
                </c:pt>
                <c:pt idx="156">
                  <c:v>4.021</c:v>
                </c:pt>
                <c:pt idx="157">
                  <c:v>3.9068</c:v>
                </c:pt>
                <c:pt idx="158">
                  <c:v>3.8856</c:v>
                </c:pt>
                <c:pt idx="159">
                  <c:v>4.0588</c:v>
                </c:pt>
                <c:pt idx="160">
                  <c:v>4.1209</c:v>
                </c:pt>
                <c:pt idx="161">
                  <c:v>3.7853</c:v>
                </c:pt>
                <c:pt idx="162">
                  <c:v>3.7587</c:v>
                </c:pt>
                <c:pt idx="163">
                  <c:v>3.8127</c:v>
                </c:pt>
                <c:pt idx="164">
                  <c:v>3.4891</c:v>
                </c:pt>
                <c:pt idx="165">
                  <c:v>2.927</c:v>
                </c:pt>
                <c:pt idx="166">
                  <c:v>2.7296</c:v>
                </c:pt>
                <c:pt idx="167">
                  <c:v>2.7561</c:v>
                </c:pt>
                <c:pt idx="168">
                  <c:v>2.5345</c:v>
                </c:pt>
                <c:pt idx="169">
                  <c:v>2.2773</c:v>
                </c:pt>
                <c:pt idx="170">
                  <c:v>2.4778</c:v>
                </c:pt>
                <c:pt idx="171">
                  <c:v>2.6854</c:v>
                </c:pt>
                <c:pt idx="172">
                  <c:v>2.8167</c:v>
                </c:pt>
                <c:pt idx="173">
                  <c:v>2.8278</c:v>
                </c:pt>
                <c:pt idx="174">
                  <c:v>3.0369</c:v>
                </c:pt>
                <c:pt idx="175">
                  <c:v>3.1358</c:v>
                </c:pt>
                <c:pt idx="176">
                  <c:v>3.2443</c:v>
                </c:pt>
                <c:pt idx="177">
                  <c:v>3.1858</c:v>
                </c:pt>
                <c:pt idx="178">
                  <c:v>3.3754</c:v>
                </c:pt>
                <c:pt idx="179">
                  <c:v>3.4355</c:v>
                </c:pt>
                <c:pt idx="180">
                  <c:v>3.3209</c:v>
                </c:pt>
                <c:pt idx="181">
                  <c:v>3.4261</c:v>
                </c:pt>
                <c:pt idx="182">
                  <c:v>3.6268</c:v>
                </c:pt>
                <c:pt idx="183">
                  <c:v>3.6774</c:v>
                </c:pt>
                <c:pt idx="184">
                  <c:v>3.3889</c:v>
                </c:pt>
                <c:pt idx="185">
                  <c:v>3.2099</c:v>
                </c:pt>
                <c:pt idx="186">
                  <c:v>3.4311</c:v>
                </c:pt>
                <c:pt idx="187">
                  <c:v>3.2791</c:v>
                </c:pt>
                <c:pt idx="188">
                  <c:v>3.574</c:v>
                </c:pt>
                <c:pt idx="189">
                  <c:v>3.7129</c:v>
                </c:pt>
                <c:pt idx="190">
                  <c:v>3.7179</c:v>
                </c:pt>
                <c:pt idx="191">
                  <c:v>3.9684</c:v>
                </c:pt>
                <c:pt idx="192">
                  <c:v>4.0566</c:v>
                </c:pt>
                <c:pt idx="193">
                  <c:v>4.1844</c:v>
                </c:pt>
                <c:pt idx="194">
                  <c:v>4.1838</c:v>
                </c:pt>
                <c:pt idx="195">
                  <c:v>4.3023</c:v>
                </c:pt>
                <c:pt idx="196">
                  <c:v>4.2479</c:v>
                </c:pt>
                <c:pt idx="197">
                  <c:v>4.1785</c:v>
                </c:pt>
                <c:pt idx="198">
                  <c:v>4.0925</c:v>
                </c:pt>
                <c:pt idx="199">
                  <c:v>3.871</c:v>
                </c:pt>
                <c:pt idx="200">
                  <c:v>3.608</c:v>
                </c:pt>
                <c:pt idx="201">
                  <c:v>3.9897</c:v>
                </c:pt>
                <c:pt idx="202">
                  <c:v>3.976</c:v>
                </c:pt>
                <c:pt idx="203">
                  <c:v>4.0084</c:v>
                </c:pt>
                <c:pt idx="204">
                  <c:v>4.1937</c:v>
                </c:pt>
                <c:pt idx="205">
                  <c:v>4.3738</c:v>
                </c:pt>
                <c:pt idx="206">
                  <c:v>4.5174</c:v>
                </c:pt>
                <c:pt idx="207">
                  <c:v>4.4824</c:v>
                </c:pt>
                <c:pt idx="208">
                  <c:v>4.2178</c:v>
                </c:pt>
                <c:pt idx="209">
                  <c:v>4.3838</c:v>
                </c:pt>
                <c:pt idx="210">
                  <c:v>4.4343</c:v>
                </c:pt>
                <c:pt idx="211">
                  <c:v>4.5414</c:v>
                </c:pt>
                <c:pt idx="212">
                  <c:v>4.6608</c:v>
                </c:pt>
                <c:pt idx="213">
                  <c:v>4.576</c:v>
                </c:pt>
                <c:pt idx="214">
                  <c:v>4.596</c:v>
                </c:pt>
                <c:pt idx="215">
                  <c:v>4.6371</c:v>
                </c:pt>
                <c:pt idx="216">
                  <c:v>4.8818</c:v>
                </c:pt>
                <c:pt idx="217">
                  <c:v>4.9454</c:v>
                </c:pt>
                <c:pt idx="218">
                  <c:v>5.1367</c:v>
                </c:pt>
                <c:pt idx="219">
                  <c:v>5.2341</c:v>
                </c:pt>
                <c:pt idx="220">
                  <c:v>5.3643</c:v>
                </c:pt>
                <c:pt idx="221">
                  <c:v>5.2941</c:v>
                </c:pt>
                <c:pt idx="222">
                  <c:v>5.5676</c:v>
                </c:pt>
                <c:pt idx="223">
                  <c:v>5.4111</c:v>
                </c:pt>
                <c:pt idx="224">
                  <c:v>5.5872</c:v>
                </c:pt>
                <c:pt idx="225">
                  <c:v>5.8365</c:v>
                </c:pt>
                <c:pt idx="226">
                  <c:v>6.019</c:v>
                </c:pt>
                <c:pt idx="227">
                  <c:v>6.1725</c:v>
                </c:pt>
                <c:pt idx="228">
                  <c:v>5.951</c:v>
                </c:pt>
                <c:pt idx="229">
                  <c:v>6.222</c:v>
                </c:pt>
                <c:pt idx="230">
                  <c:v>6.2765</c:v>
                </c:pt>
                <c:pt idx="231">
                  <c:v>6.3095</c:v>
                </c:pt>
                <c:pt idx="232">
                  <c:v>6.45</c:v>
                </c:pt>
                <c:pt idx="233">
                  <c:v>6.5758</c:v>
                </c:pt>
                <c:pt idx="234">
                  <c:v>6.4837</c:v>
                </c:pt>
                <c:pt idx="235">
                  <c:v>6.7454</c:v>
                </c:pt>
                <c:pt idx="236">
                  <c:v>6.6525</c:v>
                </c:pt>
                <c:pt idx="237">
                  <c:v>6.8115</c:v>
                </c:pt>
                <c:pt idx="238">
                  <c:v>7.0124</c:v>
                </c:pt>
                <c:pt idx="239">
                  <c:v>6.9916</c:v>
                </c:pt>
                <c:pt idx="240">
                  <c:v>6.7803</c:v>
                </c:pt>
                <c:pt idx="241">
                  <c:v>7.1801</c:v>
                </c:pt>
                <c:pt idx="242">
                  <c:v>7.0586</c:v>
                </c:pt>
                <c:pt idx="243">
                  <c:v>7.129</c:v>
                </c:pt>
                <c:pt idx="244">
                  <c:v>7.2248</c:v>
                </c:pt>
                <c:pt idx="245">
                  <c:v>7.0884</c:v>
                </c:pt>
                <c:pt idx="246">
                  <c:v>7.2255</c:v>
                </c:pt>
                <c:pt idx="247">
                  <c:v>6.7876</c:v>
                </c:pt>
                <c:pt idx="248">
                  <c:v>6.6249</c:v>
                </c:pt>
                <c:pt idx="249">
                  <c:v>7.1504</c:v>
                </c:pt>
                <c:pt idx="250">
                  <c:v>7.1696</c:v>
                </c:pt>
                <c:pt idx="251">
                  <c:v>7.0506</c:v>
                </c:pt>
                <c:pt idx="252">
                  <c:v>6.6717</c:v>
                </c:pt>
                <c:pt idx="253">
                  <c:v>6.6759</c:v>
                </c:pt>
                <c:pt idx="254">
                  <c:v>7.1255</c:v>
                </c:pt>
                <c:pt idx="255">
                  <c:v>7.1751</c:v>
                </c:pt>
                <c:pt idx="256">
                  <c:v>7.3019</c:v>
                </c:pt>
                <c:pt idx="257">
                  <c:v>7.3267</c:v>
                </c:pt>
                <c:pt idx="258">
                  <c:v>7.5819</c:v>
                </c:pt>
                <c:pt idx="259">
                  <c:v>7.6042</c:v>
                </c:pt>
                <c:pt idx="260">
                  <c:v>7.6062</c:v>
                </c:pt>
                <c:pt idx="261">
                  <c:v>7.482</c:v>
                </c:pt>
                <c:pt idx="262">
                  <c:v>7.8138</c:v>
                </c:pt>
                <c:pt idx="263">
                  <c:v>7.9654</c:v>
                </c:pt>
                <c:pt idx="264">
                  <c:v>8.1155</c:v>
                </c:pt>
                <c:pt idx="265">
                  <c:v>8.4403</c:v>
                </c:pt>
                <c:pt idx="266">
                  <c:v>8.4492</c:v>
                </c:pt>
                <c:pt idx="267">
                  <c:v>8.5291</c:v>
                </c:pt>
                <c:pt idx="268">
                  <c:v>8.651</c:v>
                </c:pt>
                <c:pt idx="269">
                  <c:v>8.7048</c:v>
                </c:pt>
                <c:pt idx="270">
                  <c:v>8.8904</c:v>
                </c:pt>
                <c:pt idx="271">
                  <c:v>8.9314</c:v>
                </c:pt>
                <c:pt idx="272">
                  <c:v>9.1132</c:v>
                </c:pt>
                <c:pt idx="273">
                  <c:v>9.3373</c:v>
                </c:pt>
                <c:pt idx="274">
                  <c:v>9.641</c:v>
                </c:pt>
                <c:pt idx="275">
                  <c:v>9.7623</c:v>
                </c:pt>
                <c:pt idx="276">
                  <c:v>10.3474</c:v>
                </c:pt>
                <c:pt idx="277">
                  <c:v>9.9905</c:v>
                </c:pt>
                <c:pt idx="278">
                  <c:v>9.7384</c:v>
                </c:pt>
                <c:pt idx="279">
                  <c:v>9.7899</c:v>
                </c:pt>
                <c:pt idx="280">
                  <c:v>10.0163</c:v>
                </c:pt>
                <c:pt idx="281">
                  <c:v>10.0647</c:v>
                </c:pt>
                <c:pt idx="282">
                  <c:v>10.4406</c:v>
                </c:pt>
                <c:pt idx="283">
                  <c:v>10.8077</c:v>
                </c:pt>
                <c:pt idx="284">
                  <c:v>10.8808</c:v>
                </c:pt>
                <c:pt idx="285">
                  <c:v>10.1366</c:v>
                </c:pt>
                <c:pt idx="286">
                  <c:v>10.3292</c:v>
                </c:pt>
                <c:pt idx="287">
                  <c:v>9.3926</c:v>
                </c:pt>
                <c:pt idx="288">
                  <c:v>10.147</c:v>
                </c:pt>
                <c:pt idx="289">
                  <c:v>10.4861</c:v>
                </c:pt>
                <c:pt idx="290">
                  <c:v>10.662</c:v>
                </c:pt>
                <c:pt idx="291">
                  <c:v>11.1088</c:v>
                </c:pt>
                <c:pt idx="292">
                  <c:v>10.4036</c:v>
                </c:pt>
                <c:pt idx="293">
                  <c:v>11.1373</c:v>
                </c:pt>
                <c:pt idx="294">
                  <c:v>11.3108</c:v>
                </c:pt>
                <c:pt idx="295">
                  <c:v>11.1082</c:v>
                </c:pt>
                <c:pt idx="296">
                  <c:v>11.2998</c:v>
                </c:pt>
                <c:pt idx="297">
                  <c:v>11.5625</c:v>
                </c:pt>
                <c:pt idx="298">
                  <c:v>12.0126</c:v>
                </c:pt>
                <c:pt idx="299">
                  <c:v>12.3632</c:v>
                </c:pt>
                <c:pt idx="300">
                  <c:v>12.4102</c:v>
                </c:pt>
                <c:pt idx="301">
                  <c:v>11.4182</c:v>
                </c:pt>
                <c:pt idx="302">
                  <c:v>10.0611</c:v>
                </c:pt>
                <c:pt idx="303">
                  <c:v>11.3682</c:v>
                </c:pt>
                <c:pt idx="304">
                  <c:v>11.9346</c:v>
                </c:pt>
                <c:pt idx="305">
                  <c:v>12.1842</c:v>
                </c:pt>
                <c:pt idx="306">
                  <c:v>12.9248</c:v>
                </c:pt>
                <c:pt idx="307">
                  <c:v>13.9478</c:v>
                </c:pt>
                <c:pt idx="308">
                  <c:v>13.3904</c:v>
                </c:pt>
                <c:pt idx="309">
                  <c:v>13.0326</c:v>
                </c:pt>
                <c:pt idx="310">
                  <c:v>14.5066</c:v>
                </c:pt>
                <c:pt idx="311">
                  <c:v>15.1253</c:v>
                </c:pt>
                <c:pt idx="312">
                  <c:v>14.9782</c:v>
                </c:pt>
                <c:pt idx="313">
                  <c:v>15.3234</c:v>
                </c:pt>
                <c:pt idx="314">
                  <c:v>15.9214</c:v>
                </c:pt>
                <c:pt idx="315">
                  <c:v>16.7777</c:v>
                </c:pt>
                <c:pt idx="316">
                  <c:v>16.8382</c:v>
                </c:pt>
                <c:pt idx="317">
                  <c:v>17.276</c:v>
                </c:pt>
                <c:pt idx="318">
                  <c:v>17.6329</c:v>
                </c:pt>
                <c:pt idx="319">
                  <c:v>18.1765</c:v>
                </c:pt>
                <c:pt idx="320">
                  <c:v>17.3314</c:v>
                </c:pt>
                <c:pt idx="321">
                  <c:v>18.5655</c:v>
                </c:pt>
                <c:pt idx="322">
                  <c:v>18.4074</c:v>
                </c:pt>
                <c:pt idx="323">
                  <c:v>19.1084</c:v>
                </c:pt>
                <c:pt idx="324">
                  <c:v>18.1239</c:v>
                </c:pt>
                <c:pt idx="325">
                  <c:v>17.6347</c:v>
                </c:pt>
                <c:pt idx="326">
                  <c:v>18.275</c:v>
                </c:pt>
                <c:pt idx="327">
                  <c:v>16.615</c:v>
                </c:pt>
                <c:pt idx="328">
                  <c:v>16.6007</c:v>
                </c:pt>
                <c:pt idx="329">
                  <c:v>15.2561</c:v>
                </c:pt>
                <c:pt idx="330">
                  <c:v>16.6976</c:v>
                </c:pt>
                <c:pt idx="331">
                  <c:v>16.0647</c:v>
                </c:pt>
                <c:pt idx="332">
                  <c:v>14.6153</c:v>
                </c:pt>
                <c:pt idx="333">
                  <c:v>15.7776</c:v>
                </c:pt>
                <c:pt idx="334">
                  <c:v>16.6141</c:v>
                </c:pt>
                <c:pt idx="335">
                  <c:v>15.619</c:v>
                </c:pt>
                <c:pt idx="336">
                  <c:v>16.5988</c:v>
                </c:pt>
                <c:pt idx="337">
                  <c:v>16.2164</c:v>
                </c:pt>
                <c:pt idx="338">
                  <c:v>16.8456</c:v>
                </c:pt>
                <c:pt idx="339">
                  <c:v>17.0972</c:v>
                </c:pt>
                <c:pt idx="340">
                  <c:v>17.2342</c:v>
                </c:pt>
                <c:pt idx="341">
                  <c:v>18.3816</c:v>
                </c:pt>
                <c:pt idx="342">
                  <c:v>18.9776</c:v>
                </c:pt>
                <c:pt idx="343">
                  <c:v>18.7049</c:v>
                </c:pt>
                <c:pt idx="344">
                  <c:v>17.822</c:v>
                </c:pt>
                <c:pt idx="345">
                  <c:v>17.4536</c:v>
                </c:pt>
                <c:pt idx="346">
                  <c:v>19.0406</c:v>
                </c:pt>
                <c:pt idx="347">
                  <c:v>19.8892</c:v>
                </c:pt>
                <c:pt idx="348">
                  <c:v>20.2462</c:v>
                </c:pt>
                <c:pt idx="349">
                  <c:v>21.3268</c:v>
                </c:pt>
                <c:pt idx="350">
                  <c:v>22.0273</c:v>
                </c:pt>
                <c:pt idx="351">
                  <c:v>21.1871</c:v>
                </c:pt>
                <c:pt idx="352">
                  <c:v>22.2413</c:v>
                </c:pt>
                <c:pt idx="353">
                  <c:v>23.075</c:v>
                </c:pt>
                <c:pt idx="354">
                  <c:v>23.319</c:v>
                </c:pt>
                <c:pt idx="355">
                  <c:v>23.8799</c:v>
                </c:pt>
                <c:pt idx="356">
                  <c:v>24.3808</c:v>
                </c:pt>
                <c:pt idx="357">
                  <c:v>24.2164</c:v>
                </c:pt>
                <c:pt idx="358">
                  <c:v>25.7157</c:v>
                </c:pt>
                <c:pt idx="359">
                  <c:v>25.1299</c:v>
                </c:pt>
                <c:pt idx="360">
                  <c:v>25.8736</c:v>
                </c:pt>
                <c:pt idx="361">
                  <c:v>25.4331</c:v>
                </c:pt>
                <c:pt idx="362">
                  <c:v>23.9394</c:v>
                </c:pt>
                <c:pt idx="363">
                  <c:v>23.8039</c:v>
                </c:pt>
                <c:pt idx="364">
                  <c:v>25.3024</c:v>
                </c:pt>
                <c:pt idx="365">
                  <c:v>26.6129</c:v>
                </c:pt>
                <c:pt idx="366">
                  <c:v>27.2009</c:v>
                </c:pt>
                <c:pt idx="367">
                  <c:v>27.7467</c:v>
                </c:pt>
                <c:pt idx="368">
                  <c:v>28.7758</c:v>
                </c:pt>
                <c:pt idx="369">
                  <c:v>29.5357</c:v>
                </c:pt>
                <c:pt idx="370">
                  <c:v>29.5874</c:v>
                </c:pt>
                <c:pt idx="371">
                  <c:v>29.5812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logBase val="10"/>
          <c:orientation val="minMax"/>
          <c:max val="100"/>
          <c:min val="1"/>
        </c:scaling>
        <c:delete val="0"/>
        <c:axPos val="l"/>
        <c:majorGridlines>
          <c:spPr>
            <a:ln w="6350" cap="flat">
              <a:solidFill>
                <a:srgbClr val="E3E7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Shrinkage intensity λ at each formation date</a:t>
            </a:r>
          </a:p>
        </c:rich>
      </c:tx>
      <c:layout/>
      <c:overlay val="0"/>
    </c:title>
    <c:autoTitleDeleted val="0"/>
    <c:plotArea>
      <c:layout/>
      <c:lineChart>
        <c:varyColors val="0"/>
        <c:ser>
          <c:idx val="0"/>
          <c:order val="0"/>
          <c:tx>
            <c:strRef>
              <c:f>Sheet1!$B$1</c:f>
              <c:strCache>
                <c:ptCount val="1"/>
                <c:pt idx="0">
                  <c:v>λ</c:v>
                </c:pt>
              </c:strCache>
            </c:strRef>
          </c:tx>
          <c:spPr>
            <a:solidFill>
              <a:srgbClr val="16A3B8"/>
            </a:solidFill>
            <a:ln w="19050" cap="flat">
              <a:solidFill>
                <a:srgbClr val="16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A3B8"/>
              </a:solidFill>
              <a:ln w="9525" cap="flat">
                <a:solidFill>
                  <a:srgbClr val="16A3B8"/>
                </a:solidFill>
                <a:prstDash val="solid"/>
                <a:round/>
              </a:ln>
              <a:effectLst/>
            </c:spPr>
          </c:marker>
          <c:cat>
            <c:multiLvlStrRef>
              <c:f>Sheet1!$A$2:$A$373</c:f>
              <c:multiLvlStrCache>
                <c:ptCount val="372"/>
                <c:lvl>
                  <c:pt idx="0">
                    <c:v/>
                  </c:pt>
                  <c:pt idx="1">
                    <c:v>1995</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2000</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2005</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2010</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2015</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2020</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2025</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0.4644</c:v>
                </c:pt>
                <c:pt idx="1">
                  <c:v>0.4701</c:v>
                </c:pt>
                <c:pt idx="2">
                  <c:v>0.4574</c:v>
                </c:pt>
                <c:pt idx="3">
                  <c:v>0.4715</c:v>
                </c:pt>
                <c:pt idx="4">
                  <c:v>0.4588</c:v>
                </c:pt>
                <c:pt idx="5">
                  <c:v>0.4665</c:v>
                </c:pt>
                <c:pt idx="6">
                  <c:v>0.4511</c:v>
                </c:pt>
                <c:pt idx="7">
                  <c:v>0.4541</c:v>
                </c:pt>
                <c:pt idx="8">
                  <c:v>0.4698</c:v>
                </c:pt>
                <c:pt idx="9">
                  <c:v>0.5111</c:v>
                </c:pt>
                <c:pt idx="10">
                  <c:v>0.5073</c:v>
                </c:pt>
                <c:pt idx="11">
                  <c:v>0.544</c:v>
                </c:pt>
                <c:pt idx="12">
                  <c:v>0.5777</c:v>
                </c:pt>
                <c:pt idx="13">
                  <c:v>0.6341</c:v>
                </c:pt>
                <c:pt idx="14">
                  <c:v>0.6367</c:v>
                </c:pt>
                <c:pt idx="15">
                  <c:v>0.6639</c:v>
                </c:pt>
                <c:pt idx="16">
                  <c:v>0.6528</c:v>
                </c:pt>
                <c:pt idx="17">
                  <c:v>0.6531</c:v>
                </c:pt>
                <c:pt idx="18">
                  <c:v>0.6801</c:v>
                </c:pt>
                <c:pt idx="19">
                  <c:v>0.6604</c:v>
                </c:pt>
                <c:pt idx="20">
                  <c:v>0.6702</c:v>
                </c:pt>
                <c:pt idx="21">
                  <c:v>0.615</c:v>
                </c:pt>
                <c:pt idx="22">
                  <c:v>0.6245</c:v>
                </c:pt>
                <c:pt idx="23">
                  <c:v>0.6072</c:v>
                </c:pt>
                <c:pt idx="24">
                  <c:v>0.5944</c:v>
                </c:pt>
                <c:pt idx="25">
                  <c:v>0.5757</c:v>
                </c:pt>
                <c:pt idx="26">
                  <c:v>0.5758</c:v>
                </c:pt>
                <c:pt idx="27">
                  <c:v>0.5653</c:v>
                </c:pt>
                <c:pt idx="28">
                  <c:v>0.5636</c:v>
                </c:pt>
                <c:pt idx="29">
                  <c:v>0.5434</c:v>
                </c:pt>
                <c:pt idx="30">
                  <c:v>0.5613</c:v>
                </c:pt>
                <c:pt idx="31">
                  <c:v>0.5452</c:v>
                </c:pt>
                <c:pt idx="32">
                  <c:v>0.5543</c:v>
                </c:pt>
                <c:pt idx="33">
                  <c:v>0.5571</c:v>
                </c:pt>
                <c:pt idx="34">
                  <c:v>0.5712</c:v>
                </c:pt>
                <c:pt idx="35">
                  <c:v>0.6013</c:v>
                </c:pt>
                <c:pt idx="36">
                  <c:v>0.599</c:v>
                </c:pt>
                <c:pt idx="37">
                  <c:v>0.6208</c:v>
                </c:pt>
                <c:pt idx="38">
                  <c:v>0.6004</c:v>
                </c:pt>
                <c:pt idx="39">
                  <c:v>0.6175</c:v>
                </c:pt>
                <c:pt idx="40">
                  <c:v>0.6231</c:v>
                </c:pt>
                <c:pt idx="41">
                  <c:v>0.6379</c:v>
                </c:pt>
                <c:pt idx="42">
                  <c:v>0.6352</c:v>
                </c:pt>
                <c:pt idx="43">
                  <c:v>0.6561</c:v>
                </c:pt>
                <c:pt idx="44">
                  <c:v>0.6384</c:v>
                </c:pt>
                <c:pt idx="45">
                  <c:v>0.6735</c:v>
                </c:pt>
                <c:pt idx="46">
                  <c:v>0.639</c:v>
                </c:pt>
                <c:pt idx="47">
                  <c:v>0.6057</c:v>
                </c:pt>
                <c:pt idx="48">
                  <c:v>0.5736</c:v>
                </c:pt>
                <c:pt idx="49">
                  <c:v>0.5336</c:v>
                </c:pt>
                <c:pt idx="50">
                  <c:v>0.5515</c:v>
                </c:pt>
                <c:pt idx="51">
                  <c:v>0.5407</c:v>
                </c:pt>
                <c:pt idx="52">
                  <c:v>0.5429</c:v>
                </c:pt>
                <c:pt idx="53">
                  <c:v>0.5323</c:v>
                </c:pt>
                <c:pt idx="54">
                  <c:v>0.5191</c:v>
                </c:pt>
                <c:pt idx="55">
                  <c:v>0.5073</c:v>
                </c:pt>
                <c:pt idx="56">
                  <c:v>0.5274</c:v>
                </c:pt>
                <c:pt idx="57">
                  <c:v>0.5284</c:v>
                </c:pt>
                <c:pt idx="58">
                  <c:v>0.5153</c:v>
                </c:pt>
                <c:pt idx="59">
                  <c:v>0.5014</c:v>
                </c:pt>
                <c:pt idx="60">
                  <c:v>0.6011</c:v>
                </c:pt>
                <c:pt idx="61">
                  <c:v>0.4591</c:v>
                </c:pt>
                <c:pt idx="62">
                  <c:v>0.4442</c:v>
                </c:pt>
                <c:pt idx="63">
                  <c:v>0.4546</c:v>
                </c:pt>
                <c:pt idx="64">
                  <c:v>0.4572</c:v>
                </c:pt>
                <c:pt idx="65">
                  <c:v>0.463</c:v>
                </c:pt>
                <c:pt idx="66">
                  <c:v>0.4262</c:v>
                </c:pt>
                <c:pt idx="67">
                  <c:v>0.4416</c:v>
                </c:pt>
                <c:pt idx="68">
                  <c:v>0.427</c:v>
                </c:pt>
                <c:pt idx="69">
                  <c:v>0.4336</c:v>
                </c:pt>
                <c:pt idx="70">
                  <c:v>0.4345</c:v>
                </c:pt>
                <c:pt idx="71">
                  <c:v>0.4415</c:v>
                </c:pt>
                <c:pt idx="72">
                  <c:v>0.4464</c:v>
                </c:pt>
                <c:pt idx="73">
                  <c:v>0.4146</c:v>
                </c:pt>
                <c:pt idx="74">
                  <c:v>0.4362</c:v>
                </c:pt>
                <c:pt idx="75">
                  <c:v>0.4132</c:v>
                </c:pt>
                <c:pt idx="76">
                  <c:v>0.3781</c:v>
                </c:pt>
                <c:pt idx="77">
                  <c:v>0.3853</c:v>
                </c:pt>
                <c:pt idx="78">
                  <c:v>0.3868</c:v>
                </c:pt>
                <c:pt idx="79">
                  <c:v>0.3893</c:v>
                </c:pt>
                <c:pt idx="80">
                  <c:v>0.4264</c:v>
                </c:pt>
                <c:pt idx="81">
                  <c:v>0.4498</c:v>
                </c:pt>
                <c:pt idx="82">
                  <c:v>0.379</c:v>
                </c:pt>
                <c:pt idx="83">
                  <c:v>0.352</c:v>
                </c:pt>
                <c:pt idx="84">
                  <c:v>0.3428</c:v>
                </c:pt>
                <c:pt idx="85">
                  <c:v>0.344</c:v>
                </c:pt>
                <c:pt idx="86">
                  <c:v>0.3851</c:v>
                </c:pt>
                <c:pt idx="87">
                  <c:v>0.3652</c:v>
                </c:pt>
                <c:pt idx="88">
                  <c:v>0.3627</c:v>
                </c:pt>
                <c:pt idx="89">
                  <c:v>0.3785</c:v>
                </c:pt>
                <c:pt idx="90">
                  <c:v>0.3931</c:v>
                </c:pt>
                <c:pt idx="91">
                  <c:v>0.4223</c:v>
                </c:pt>
                <c:pt idx="92">
                  <c:v>0.4233</c:v>
                </c:pt>
                <c:pt idx="93">
                  <c:v>0.4406</c:v>
                </c:pt>
                <c:pt idx="94">
                  <c:v>0.4173</c:v>
                </c:pt>
                <c:pt idx="95">
                  <c:v>0.3626</c:v>
                </c:pt>
                <c:pt idx="96">
                  <c:v>0.3603</c:v>
                </c:pt>
                <c:pt idx="97">
                  <c:v>0.3723</c:v>
                </c:pt>
                <c:pt idx="98">
                  <c:v>0.3734</c:v>
                </c:pt>
                <c:pt idx="99">
                  <c:v>0.3728</c:v>
                </c:pt>
                <c:pt idx="100">
                  <c:v>0.3451</c:v>
                </c:pt>
                <c:pt idx="101">
                  <c:v>0.3374</c:v>
                </c:pt>
                <c:pt idx="102">
                  <c:v>0.3325</c:v>
                </c:pt>
                <c:pt idx="103">
                  <c:v>0.3313</c:v>
                </c:pt>
                <c:pt idx="104">
                  <c:v>0.3101</c:v>
                </c:pt>
                <c:pt idx="105">
                  <c:v>0.3206</c:v>
                </c:pt>
                <c:pt idx="106">
                  <c:v>0.2973</c:v>
                </c:pt>
                <c:pt idx="107">
                  <c:v>0.2914</c:v>
                </c:pt>
                <c:pt idx="108">
                  <c:v>0.3095</c:v>
                </c:pt>
                <c:pt idx="109">
                  <c:v>0.3174</c:v>
                </c:pt>
                <c:pt idx="110">
                  <c:v>0.3245</c:v>
                </c:pt>
                <c:pt idx="111">
                  <c:v>0.3479</c:v>
                </c:pt>
                <c:pt idx="112">
                  <c:v>0.3457</c:v>
                </c:pt>
                <c:pt idx="113">
                  <c:v>0.3307</c:v>
                </c:pt>
                <c:pt idx="114">
                  <c:v>0.3581</c:v>
                </c:pt>
                <c:pt idx="115">
                  <c:v>0.3613</c:v>
                </c:pt>
                <c:pt idx="116">
                  <c:v>0.3607</c:v>
                </c:pt>
                <c:pt idx="117">
                  <c:v>0.3489</c:v>
                </c:pt>
                <c:pt idx="118">
                  <c:v>0.3484</c:v>
                </c:pt>
                <c:pt idx="119">
                  <c:v>0.36</c:v>
                </c:pt>
                <c:pt idx="120">
                  <c:v>0.3615</c:v>
                </c:pt>
                <c:pt idx="121">
                  <c:v>0.3726</c:v>
                </c:pt>
                <c:pt idx="122">
                  <c:v>0.3748</c:v>
                </c:pt>
                <c:pt idx="123">
                  <c:v>0.3557</c:v>
                </c:pt>
                <c:pt idx="124">
                  <c:v>0.3681</c:v>
                </c:pt>
                <c:pt idx="125">
                  <c:v>0.3541</c:v>
                </c:pt>
                <c:pt idx="126">
                  <c:v>0.3552</c:v>
                </c:pt>
                <c:pt idx="127">
                  <c:v>0.35</c:v>
                </c:pt>
                <c:pt idx="128">
                  <c:v>0.35</c:v>
                </c:pt>
                <c:pt idx="129">
                  <c:v>0.3303</c:v>
                </c:pt>
                <c:pt idx="130">
                  <c:v>0.334</c:v>
                </c:pt>
                <c:pt idx="131">
                  <c:v>0.3421</c:v>
                </c:pt>
                <c:pt idx="132">
                  <c:v>0.3327</c:v>
                </c:pt>
                <c:pt idx="133">
                  <c:v>0.3219</c:v>
                </c:pt>
                <c:pt idx="134">
                  <c:v>0.3339</c:v>
                </c:pt>
                <c:pt idx="135">
                  <c:v>0.338</c:v>
                </c:pt>
                <c:pt idx="136">
                  <c:v>0.3601</c:v>
                </c:pt>
                <c:pt idx="137">
                  <c:v>0.3519</c:v>
                </c:pt>
                <c:pt idx="138">
                  <c:v>0.3536</c:v>
                </c:pt>
                <c:pt idx="139">
                  <c:v>0.341</c:v>
                </c:pt>
                <c:pt idx="140">
                  <c:v>0.351</c:v>
                </c:pt>
                <c:pt idx="141">
                  <c:v>0.3897</c:v>
                </c:pt>
                <c:pt idx="142">
                  <c:v>0.3931</c:v>
                </c:pt>
                <c:pt idx="143">
                  <c:v>0.4129</c:v>
                </c:pt>
                <c:pt idx="144">
                  <c:v>0.4186</c:v>
                </c:pt>
                <c:pt idx="145">
                  <c:v>0.4099</c:v>
                </c:pt>
                <c:pt idx="146">
                  <c:v>0.4159</c:v>
                </c:pt>
                <c:pt idx="147">
                  <c:v>0.4345</c:v>
                </c:pt>
                <c:pt idx="148">
                  <c:v>0.4423</c:v>
                </c:pt>
                <c:pt idx="149">
                  <c:v>0.4405</c:v>
                </c:pt>
                <c:pt idx="150">
                  <c:v>0.4594</c:v>
                </c:pt>
                <c:pt idx="151">
                  <c:v>0.4645</c:v>
                </c:pt>
                <c:pt idx="152">
                  <c:v>0.456</c:v>
                </c:pt>
                <c:pt idx="153">
                  <c:v>0.4947</c:v>
                </c:pt>
                <c:pt idx="154">
                  <c:v>0.4711</c:v>
                </c:pt>
                <c:pt idx="155">
                  <c:v>0.5046</c:v>
                </c:pt>
                <c:pt idx="156">
                  <c:v>0.5127</c:v>
                </c:pt>
                <c:pt idx="157">
                  <c:v>0.5008</c:v>
                </c:pt>
                <c:pt idx="158">
                  <c:v>0.4936</c:v>
                </c:pt>
                <c:pt idx="159">
                  <c:v>0.4919</c:v>
                </c:pt>
                <c:pt idx="160">
                  <c:v>0.4713</c:v>
                </c:pt>
                <c:pt idx="161">
                  <c:v>0.443</c:v>
                </c:pt>
                <c:pt idx="162">
                  <c:v>0.4512</c:v>
                </c:pt>
                <c:pt idx="163">
                  <c:v>0.4566</c:v>
                </c:pt>
                <c:pt idx="164">
                  <c:v>0.4757</c:v>
                </c:pt>
                <c:pt idx="165">
                  <c:v>0.4973</c:v>
                </c:pt>
                <c:pt idx="166">
                  <c:v>0.6308</c:v>
                </c:pt>
                <c:pt idx="167">
                  <c:v>0.6416</c:v>
                </c:pt>
                <c:pt idx="168">
                  <c:v>0.6496</c:v>
                </c:pt>
                <c:pt idx="169">
                  <c:v>0.6476</c:v>
                </c:pt>
                <c:pt idx="170">
                  <c:v>0.6644</c:v>
                </c:pt>
                <c:pt idx="171">
                  <c:v>0.6521</c:v>
                </c:pt>
                <c:pt idx="172">
                  <c:v>0.5545</c:v>
                </c:pt>
                <c:pt idx="173">
                  <c:v>0.614</c:v>
                </c:pt>
                <c:pt idx="174">
                  <c:v>0.6106</c:v>
                </c:pt>
                <c:pt idx="175">
                  <c:v>0.5204</c:v>
                </c:pt>
                <c:pt idx="176">
                  <c:v>0.5236</c:v>
                </c:pt>
                <c:pt idx="177">
                  <c:v>0.578</c:v>
                </c:pt>
                <c:pt idx="178">
                  <c:v>0.5189</c:v>
                </c:pt>
                <c:pt idx="179">
                  <c:v>0.4981</c:v>
                </c:pt>
                <c:pt idx="180">
                  <c:v>0.5665</c:v>
                </c:pt>
                <c:pt idx="181">
                  <c:v>0.572</c:v>
                </c:pt>
                <c:pt idx="182">
                  <c:v>0.5648</c:v>
                </c:pt>
                <c:pt idx="183">
                  <c:v>0.5489</c:v>
                </c:pt>
                <c:pt idx="184">
                  <c:v>0.5539</c:v>
                </c:pt>
                <c:pt idx="185">
                  <c:v>0.5536</c:v>
                </c:pt>
                <c:pt idx="186">
                  <c:v>0.5482</c:v>
                </c:pt>
                <c:pt idx="187">
                  <c:v>0.5455</c:v>
                </c:pt>
                <c:pt idx="188">
                  <c:v>0.5407</c:v>
                </c:pt>
                <c:pt idx="189">
                  <c:v>0.5213</c:v>
                </c:pt>
                <c:pt idx="190">
                  <c:v>0.5226</c:v>
                </c:pt>
                <c:pt idx="191">
                  <c:v>0.5267</c:v>
                </c:pt>
                <c:pt idx="192">
                  <c:v>0.5226</c:v>
                </c:pt>
                <c:pt idx="193">
                  <c:v>0.53</c:v>
                </c:pt>
                <c:pt idx="194">
                  <c:v>0.5298</c:v>
                </c:pt>
                <c:pt idx="195">
                  <c:v>0.5296</c:v>
                </c:pt>
                <c:pt idx="196">
                  <c:v>0.5306</c:v>
                </c:pt>
                <c:pt idx="197">
                  <c:v>0.529</c:v>
                </c:pt>
                <c:pt idx="198">
                  <c:v>0.5322</c:v>
                </c:pt>
                <c:pt idx="199">
                  <c:v>0.5325</c:v>
                </c:pt>
                <c:pt idx="200">
                  <c:v>0.4604</c:v>
                </c:pt>
                <c:pt idx="201">
                  <c:v>0.45</c:v>
                </c:pt>
                <c:pt idx="202">
                  <c:v>0.4192</c:v>
                </c:pt>
                <c:pt idx="203">
                  <c:v>0.4218</c:v>
                </c:pt>
                <c:pt idx="204">
                  <c:v>0.4183</c:v>
                </c:pt>
                <c:pt idx="205">
                  <c:v>0.4096</c:v>
                </c:pt>
                <c:pt idx="206">
                  <c:v>0.4112</c:v>
                </c:pt>
                <c:pt idx="207">
                  <c:v>0.4126</c:v>
                </c:pt>
                <c:pt idx="208">
                  <c:v>0.4075</c:v>
                </c:pt>
                <c:pt idx="209">
                  <c:v>0.4098</c:v>
                </c:pt>
                <c:pt idx="210">
                  <c:v>0.4081</c:v>
                </c:pt>
                <c:pt idx="211">
                  <c:v>0.4085</c:v>
                </c:pt>
                <c:pt idx="212">
                  <c:v>0.4096</c:v>
                </c:pt>
                <c:pt idx="213">
                  <c:v>0.4087</c:v>
                </c:pt>
                <c:pt idx="214">
                  <c:v>0.4082</c:v>
                </c:pt>
                <c:pt idx="215">
                  <c:v>0.4135</c:v>
                </c:pt>
                <c:pt idx="216">
                  <c:v>0.4142</c:v>
                </c:pt>
                <c:pt idx="217">
                  <c:v>0.422</c:v>
                </c:pt>
                <c:pt idx="218">
                  <c:v>0.4194</c:v>
                </c:pt>
                <c:pt idx="219">
                  <c:v>0.4171</c:v>
                </c:pt>
                <c:pt idx="220">
                  <c:v>0.4189</c:v>
                </c:pt>
                <c:pt idx="221">
                  <c:v>0.4112</c:v>
                </c:pt>
                <c:pt idx="222">
                  <c:v>0.4254</c:v>
                </c:pt>
                <c:pt idx="223">
                  <c:v>0.426</c:v>
                </c:pt>
                <c:pt idx="224">
                  <c:v>0.428</c:v>
                </c:pt>
                <c:pt idx="225">
                  <c:v>0.4345</c:v>
                </c:pt>
                <c:pt idx="226">
                  <c:v>0.4484</c:v>
                </c:pt>
                <c:pt idx="227">
                  <c:v>0.4771</c:v>
                </c:pt>
                <c:pt idx="228">
                  <c:v>0.4714</c:v>
                </c:pt>
                <c:pt idx="229">
                  <c:v>0.4959</c:v>
                </c:pt>
                <c:pt idx="230">
                  <c:v>0.5253</c:v>
                </c:pt>
                <c:pt idx="231">
                  <c:v>0.5258</c:v>
                </c:pt>
                <c:pt idx="232">
                  <c:v>0.4312</c:v>
                </c:pt>
                <c:pt idx="233">
                  <c:v>0.4076</c:v>
                </c:pt>
                <c:pt idx="234">
                  <c:v>0.4125</c:v>
                </c:pt>
                <c:pt idx="235">
                  <c:v>0.4231</c:v>
                </c:pt>
                <c:pt idx="236">
                  <c:v>0.3887</c:v>
                </c:pt>
                <c:pt idx="237">
                  <c:v>0.4011</c:v>
                </c:pt>
                <c:pt idx="238">
                  <c:v>0.4419</c:v>
                </c:pt>
                <c:pt idx="239">
                  <c:v>0.4445</c:v>
                </c:pt>
                <c:pt idx="240">
                  <c:v>0.4432</c:v>
                </c:pt>
                <c:pt idx="241">
                  <c:v>0.4451</c:v>
                </c:pt>
                <c:pt idx="242">
                  <c:v>0.4294</c:v>
                </c:pt>
                <c:pt idx="243">
                  <c:v>0.4337</c:v>
                </c:pt>
                <c:pt idx="244">
                  <c:v>0.432</c:v>
                </c:pt>
                <c:pt idx="245">
                  <c:v>0.455</c:v>
                </c:pt>
                <c:pt idx="246">
                  <c:v>0.4783</c:v>
                </c:pt>
                <c:pt idx="247">
                  <c:v>0.4972</c:v>
                </c:pt>
                <c:pt idx="248">
                  <c:v>0.5063</c:v>
                </c:pt>
                <c:pt idx="249">
                  <c:v>0.5013</c:v>
                </c:pt>
                <c:pt idx="250">
                  <c:v>0.4976</c:v>
                </c:pt>
                <c:pt idx="251">
                  <c:v>0.5122</c:v>
                </c:pt>
                <c:pt idx="252">
                  <c:v>0.5111</c:v>
                </c:pt>
                <c:pt idx="253">
                  <c:v>0.4826</c:v>
                </c:pt>
                <c:pt idx="254">
                  <c:v>0.4988</c:v>
                </c:pt>
                <c:pt idx="255">
                  <c:v>0.4899</c:v>
                </c:pt>
                <c:pt idx="256">
                  <c:v>0.4616</c:v>
                </c:pt>
                <c:pt idx="257">
                  <c:v>0.4585</c:v>
                </c:pt>
                <c:pt idx="258">
                  <c:v>0.4651</c:v>
                </c:pt>
                <c:pt idx="259">
                  <c:v>0.4593</c:v>
                </c:pt>
                <c:pt idx="260">
                  <c:v>0.4927</c:v>
                </c:pt>
                <c:pt idx="261">
                  <c:v>0.5457</c:v>
                </c:pt>
                <c:pt idx="262">
                  <c:v>0.5127</c:v>
                </c:pt>
                <c:pt idx="263">
                  <c:v>0.481</c:v>
                </c:pt>
                <c:pt idx="264">
                  <c:v>0.48</c:v>
                </c:pt>
                <c:pt idx="265">
                  <c:v>0.5107</c:v>
                </c:pt>
                <c:pt idx="266">
                  <c:v>0.5174</c:v>
                </c:pt>
                <c:pt idx="267">
                  <c:v>0.5221</c:v>
                </c:pt>
                <c:pt idx="268">
                  <c:v>0.5262</c:v>
                </c:pt>
                <c:pt idx="269">
                  <c:v>0.5575</c:v>
                </c:pt>
                <c:pt idx="270">
                  <c:v>0.5343</c:v>
                </c:pt>
                <c:pt idx="271">
                  <c:v>0.5264</c:v>
                </c:pt>
                <c:pt idx="272">
                  <c:v>0.5224</c:v>
                </c:pt>
                <c:pt idx="273">
                  <c:v>0.5286</c:v>
                </c:pt>
                <c:pt idx="274">
                  <c:v>0.5056</c:v>
                </c:pt>
                <c:pt idx="275">
                  <c:v>0.5301</c:v>
                </c:pt>
                <c:pt idx="276">
                  <c:v>0.5288</c:v>
                </c:pt>
                <c:pt idx="277">
                  <c:v>0.524</c:v>
                </c:pt>
                <c:pt idx="278">
                  <c:v>0.5273</c:v>
                </c:pt>
                <c:pt idx="279">
                  <c:v>0.5343</c:v>
                </c:pt>
                <c:pt idx="280">
                  <c:v>0.5254</c:v>
                </c:pt>
                <c:pt idx="281">
                  <c:v>0.5149</c:v>
                </c:pt>
                <c:pt idx="282">
                  <c:v>0.5261</c:v>
                </c:pt>
                <c:pt idx="283">
                  <c:v>0.5148</c:v>
                </c:pt>
                <c:pt idx="284">
                  <c:v>0.5077</c:v>
                </c:pt>
                <c:pt idx="285">
                  <c:v>0.5161</c:v>
                </c:pt>
                <c:pt idx="286">
                  <c:v>0.5009</c:v>
                </c:pt>
                <c:pt idx="287">
                  <c:v>0.5138</c:v>
                </c:pt>
                <c:pt idx="288">
                  <c:v>0.5132</c:v>
                </c:pt>
                <c:pt idx="289">
                  <c:v>0.4741</c:v>
                </c:pt>
                <c:pt idx="290">
                  <c:v>0.4832</c:v>
                </c:pt>
                <c:pt idx="291">
                  <c:v>0.4854</c:v>
                </c:pt>
                <c:pt idx="292">
                  <c:v>0.4885</c:v>
                </c:pt>
                <c:pt idx="293">
                  <c:v>0.4856</c:v>
                </c:pt>
                <c:pt idx="294">
                  <c:v>0.4717</c:v>
                </c:pt>
                <c:pt idx="295">
                  <c:v>0.4771</c:v>
                </c:pt>
                <c:pt idx="296">
                  <c:v>0.48</c:v>
                </c:pt>
                <c:pt idx="297">
                  <c:v>0.4822</c:v>
                </c:pt>
                <c:pt idx="298">
                  <c:v>0.4733</c:v>
                </c:pt>
                <c:pt idx="299">
                  <c:v>0.4462</c:v>
                </c:pt>
                <c:pt idx="300">
                  <c:v>0.4415</c:v>
                </c:pt>
                <c:pt idx="301">
                  <c:v>0.4395</c:v>
                </c:pt>
                <c:pt idx="302">
                  <c:v>0.4716</c:v>
                </c:pt>
                <c:pt idx="303">
                  <c:v>0.5596</c:v>
                </c:pt>
                <c:pt idx="304">
                  <c:v>0.5302</c:v>
                </c:pt>
                <c:pt idx="305">
                  <c:v>0.5292</c:v>
                </c:pt>
                <c:pt idx="306">
                  <c:v>0.5196</c:v>
                </c:pt>
                <c:pt idx="307">
                  <c:v>0.5314</c:v>
                </c:pt>
                <c:pt idx="308">
                  <c:v>0.5235</c:v>
                </c:pt>
                <c:pt idx="309">
                  <c:v>0.5173</c:v>
                </c:pt>
                <c:pt idx="310">
                  <c:v>0.5206</c:v>
                </c:pt>
                <c:pt idx="311">
                  <c:v>0.4865</c:v>
                </c:pt>
                <c:pt idx="312">
                  <c:v>0.4763</c:v>
                </c:pt>
                <c:pt idx="313">
                  <c:v>0.9462</c:v>
                </c:pt>
                <c:pt idx="314">
                  <c:v>0.475</c:v>
                </c:pt>
                <c:pt idx="315">
                  <c:v>0.9369</c:v>
                </c:pt>
                <c:pt idx="316">
                  <c:v>0.9374</c:v>
                </c:pt>
                <c:pt idx="317">
                  <c:v>0.9334</c:v>
                </c:pt>
                <c:pt idx="318">
                  <c:v>0.9304</c:v>
                </c:pt>
                <c:pt idx="319">
                  <c:v>0.9319</c:v>
                </c:pt>
                <c:pt idx="320">
                  <c:v>0.9297</c:v>
                </c:pt>
                <c:pt idx="321">
                  <c:v>0.9283</c:v>
                </c:pt>
                <c:pt idx="322">
                  <c:v>0.9271</c:v>
                </c:pt>
                <c:pt idx="323">
                  <c:v>0.9306</c:v>
                </c:pt>
                <c:pt idx="324">
                  <c:v>0.9303</c:v>
                </c:pt>
                <c:pt idx="325">
                  <c:v>0.503</c:v>
                </c:pt>
                <c:pt idx="326">
                  <c:v>0.5009</c:v>
                </c:pt>
                <c:pt idx="327">
                  <c:v>0.9262</c:v>
                </c:pt>
                <c:pt idx="328">
                  <c:v>0.9261</c:v>
                </c:pt>
                <c:pt idx="329">
                  <c:v>0.9257</c:v>
                </c:pt>
                <c:pt idx="330">
                  <c:v>0.9221</c:v>
                </c:pt>
                <c:pt idx="331">
                  <c:v>0.9188</c:v>
                </c:pt>
                <c:pt idx="332">
                  <c:v>0.919</c:v>
                </c:pt>
                <c:pt idx="333">
                  <c:v>0.5005</c:v>
                </c:pt>
                <c:pt idx="334">
                  <c:v>0.4792</c:v>
                </c:pt>
                <c:pt idx="335">
                  <c:v>0.4821</c:v>
                </c:pt>
                <c:pt idx="336">
                  <c:v>0.4822</c:v>
                </c:pt>
                <c:pt idx="337">
                  <c:v>0.4256</c:v>
                </c:pt>
                <c:pt idx="338">
                  <c:v>0.4337</c:v>
                </c:pt>
                <c:pt idx="339">
                  <c:v>0.4343</c:v>
                </c:pt>
                <c:pt idx="340">
                  <c:v>0.4414</c:v>
                </c:pt>
                <c:pt idx="341">
                  <c:v>0.4454</c:v>
                </c:pt>
                <c:pt idx="342">
                  <c:v>0.433</c:v>
                </c:pt>
                <c:pt idx="343">
                  <c:v>0.4246</c:v>
                </c:pt>
                <c:pt idx="344">
                  <c:v>0.4262</c:v>
                </c:pt>
                <c:pt idx="345">
                  <c:v>0.4262</c:v>
                </c:pt>
                <c:pt idx="346">
                  <c:v>0.4621</c:v>
                </c:pt>
                <c:pt idx="347">
                  <c:v>0.43</c:v>
                </c:pt>
                <c:pt idx="348">
                  <c:v>0.426</c:v>
                </c:pt>
                <c:pt idx="349">
                  <c:v>0.4479</c:v>
                </c:pt>
                <c:pt idx="350">
                  <c:v>0.4406</c:v>
                </c:pt>
                <c:pt idx="351">
                  <c:v>0.4261</c:v>
                </c:pt>
                <c:pt idx="352">
                  <c:v>0.4784</c:v>
                </c:pt>
                <c:pt idx="353">
                  <c:v>0.4614</c:v>
                </c:pt>
                <c:pt idx="354">
                  <c:v>0.4401</c:v>
                </c:pt>
                <c:pt idx="355">
                  <c:v>0.442</c:v>
                </c:pt>
                <c:pt idx="356">
                  <c:v>0.4458</c:v>
                </c:pt>
                <c:pt idx="357">
                  <c:v>0.4407</c:v>
                </c:pt>
                <c:pt idx="358">
                  <c:v>0.4459</c:v>
                </c:pt>
                <c:pt idx="359">
                  <c:v>0.9099</c:v>
                </c:pt>
                <c:pt idx="360">
                  <c:v>0.9101</c:v>
                </c:pt>
                <c:pt idx="361">
                  <c:v>0.9104</c:v>
                </c:pt>
                <c:pt idx="362">
                  <c:v>0.9097</c:v>
                </c:pt>
                <c:pt idx="363">
                  <c:v>0.5057</c:v>
                </c:pt>
                <c:pt idx="364">
                  <c:v>0.9264</c:v>
                </c:pt>
                <c:pt idx="365">
                  <c:v>0.9249</c:v>
                </c:pt>
                <c:pt idx="366">
                  <c:v>0.4432</c:v>
                </c:pt>
                <c:pt idx="367">
                  <c:v>0.4499</c:v>
                </c:pt>
                <c:pt idx="368">
                  <c:v>0.4815</c:v>
                </c:pt>
                <c:pt idx="369">
                  <c:v>0.9198</c:v>
                </c:pt>
                <c:pt idx="370">
                  <c:v>0.4874</c:v>
                </c:pt>
                <c:pt idx="371">
                  <c:v>0.5421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orientation val="minMax"/>
          <c:max val="1"/>
          <c:min val="0"/>
        </c:scaling>
        <c:delete val="0"/>
        <c:axPos val="l"/>
        <c:majorGridlines>
          <c:spPr>
            <a:ln w="6350" cap="flat">
              <a:solidFill>
                <a:srgbClr val="E3E7ED"/>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Annual one-way turnover (%)</a:t>
            </a:r>
          </a:p>
        </c:rich>
      </c:tx>
      <c:layout/>
      <c:overlay val="0"/>
    </c:title>
    <c:autoTitleDeleted val="0"/>
    <c:plotArea>
      <c:layout/>
      <c:barChart>
        <c:barDir val="col"/>
        <c:grouping val="clustered"/>
        <c:varyColors val="0"/>
        <c:ser>
          <c:idx val="0"/>
          <c:order val="0"/>
          <c:tx>
            <c:strRef>
              <c:f>Sheet1!$B$1</c:f>
              <c:strCache>
                <c:ptCount val="1"/>
                <c:pt idx="0">
                  <c:v>Single factor</c:v>
                </c:pt>
              </c:strCache>
            </c:strRef>
          </c:tx>
          <c:spPr>
            <a:solidFill>
              <a:srgbClr val="1F2D5C"/>
            </a:solidFill>
            <a:effectLst/>
          </c:spPr>
          <c:invertIfNegative val="0"/>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Min. risk</c:v>
                  </c:pt>
                  <c:pt idx="1">
                    <c:v>Max. div.</c:v>
                  </c:pt>
                  <c:pt idx="2">
                    <c:v>Risk parity</c:v>
                  </c:pt>
                </c:lvl>
              </c:multiLvlStrCache>
            </c:multiLvlStrRef>
          </c:cat>
          <c:val>
            <c:numRef>
              <c:f>Sheet1!$B$2:$B$4</c:f>
              <c:numCache>
                <c:formatCode>General</c:formatCode>
                <c:ptCount val="3"/>
                <c:pt idx="0">
                  <c:v>117</c:v>
                </c:pt>
                <c:pt idx="1">
                  <c:v>160</c:v>
                </c:pt>
                <c:pt idx="2">
                  <c:v>62</c:v>
                </c:pt>
              </c:numCache>
            </c:numRef>
          </c:val>
        </c:ser>
        <c:ser>
          <c:idx val="1"/>
          <c:order val="1"/>
          <c:tx>
            <c:strRef>
              <c:f>Sheet1!$C$1</c:f>
              <c:strCache>
                <c:ptCount val="1"/>
                <c:pt idx="0">
                  <c:v>Constant correlation</c:v>
                </c:pt>
              </c:strCache>
            </c:strRef>
          </c:tx>
          <c:spPr>
            <a:solidFill>
              <a:srgbClr val="8E44AD"/>
            </a:solidFill>
            <a:effectLst/>
          </c:spPr>
          <c:invertIfNegative val="0"/>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Min. risk</c:v>
                  </c:pt>
                  <c:pt idx="1">
                    <c:v>Max. div.</c:v>
                  </c:pt>
                  <c:pt idx="2">
                    <c:v>Risk parity</c:v>
                  </c:pt>
                </c:lvl>
              </c:multiLvlStrCache>
            </c:multiLvlStrRef>
          </c:cat>
          <c:val>
            <c:numRef>
              <c:f>Sheet1!$C$2:$C$4</c:f>
              <c:numCache>
                <c:formatCode>General</c:formatCode>
                <c:ptCount val="3"/>
                <c:pt idx="0">
                  <c:v>96</c:v>
                </c:pt>
                <c:pt idx="1">
                  <c:v>57</c:v>
                </c:pt>
                <c:pt idx="2">
                  <c:v>57</c:v>
                </c:pt>
              </c:numCache>
            </c:numRef>
          </c:val>
        </c:ser>
        <c:ser>
          <c:idx val="2"/>
          <c:order val="2"/>
          <c:tx>
            <c:strRef>
              <c:f>Sheet1!$D$1</c:f>
              <c:strCache>
                <c:ptCount val="1"/>
                <c:pt idx="0">
                  <c:v>Shrunk sample</c:v>
                </c:pt>
              </c:strCache>
            </c:strRef>
          </c:tx>
          <c:spPr>
            <a:solidFill>
              <a:srgbClr val="16A3B8"/>
            </a:solidFill>
            <a:effectLst/>
          </c:spPr>
          <c:invertIfNegative val="0"/>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Min. risk</c:v>
                  </c:pt>
                  <c:pt idx="1">
                    <c:v>Max. div.</c:v>
                  </c:pt>
                  <c:pt idx="2">
                    <c:v>Risk parity</c:v>
                  </c:pt>
                </c:lvl>
              </c:multiLvlStrCache>
            </c:multiLvlStrRef>
          </c:cat>
          <c:val>
            <c:numRef>
              <c:f>Sheet1!$D$2:$D$4</c:f>
              <c:numCache>
                <c:formatCode>General</c:formatCode>
                <c:ptCount val="3"/>
                <c:pt idx="0">
                  <c:v>180</c:v>
                </c:pt>
                <c:pt idx="1">
                  <c:v>261</c:v>
                </c:pt>
                <c:pt idx="2">
                  <c:v>64</c:v>
                </c:pt>
              </c:numCache>
            </c:numRef>
          </c:val>
        </c:ser>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E3E7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Drawdown from the running peak of the compounded path (%)</a:t>
            </a:r>
          </a:p>
        </c:rich>
      </c:tx>
      <c:layout/>
      <c:overlay val="0"/>
    </c:title>
    <c:autoTitleDeleted val="0"/>
    <c:plotArea>
      <c:layout/>
      <c:lineChart>
        <c:varyColors val="0"/>
        <c:ser>
          <c:idx val="0"/>
          <c:order val="0"/>
          <c:tx>
            <c:strRef>
              <c:f>Sheet1!$B$1</c:f>
              <c:strCache>
                <c:ptCount val="1"/>
                <c:pt idx="0">
                  <c:v>Equally weighted</c:v>
                </c:pt>
              </c:strCache>
            </c:strRef>
          </c:tx>
          <c:spPr>
            <a:solidFill>
              <a:srgbClr val="EDA100"/>
            </a:solidFill>
            <a:ln w="1905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0</c:v>
                </c:pt>
                <c:pt idx="1">
                  <c:v>0</c:v>
                </c:pt>
                <c:pt idx="2">
                  <c:v>0</c:v>
                </c:pt>
                <c:pt idx="3">
                  <c:v>0</c:v>
                </c:pt>
                <c:pt idx="4">
                  <c:v>0</c:v>
                </c:pt>
                <c:pt idx="5">
                  <c:v>0</c:v>
                </c:pt>
                <c:pt idx="6">
                  <c:v>0</c:v>
                </c:pt>
                <c:pt idx="7">
                  <c:v>0</c:v>
                </c:pt>
                <c:pt idx="8">
                  <c:v>0</c:v>
                </c:pt>
                <c:pt idx="9">
                  <c:v>-1.67</c:v>
                </c:pt>
                <c:pt idx="10">
                  <c:v>0</c:v>
                </c:pt>
                <c:pt idx="11">
                  <c:v>0</c:v>
                </c:pt>
                <c:pt idx="12">
                  <c:v>0</c:v>
                </c:pt>
                <c:pt idx="13">
                  <c:v>0</c:v>
                </c:pt>
                <c:pt idx="14">
                  <c:v>0</c:v>
                </c:pt>
                <c:pt idx="15">
                  <c:v>0</c:v>
                </c:pt>
                <c:pt idx="16">
                  <c:v>0</c:v>
                </c:pt>
                <c:pt idx="17">
                  <c:v>-1.02</c:v>
                </c:pt>
                <c:pt idx="18">
                  <c:v>-6.08</c:v>
                </c:pt>
                <c:pt idx="19">
                  <c:v>-2.75</c:v>
                </c:pt>
                <c:pt idx="20">
                  <c:v>0</c:v>
                </c:pt>
                <c:pt idx="21">
                  <c:v>0</c:v>
                </c:pt>
                <c:pt idx="22">
                  <c:v>0</c:v>
                </c:pt>
                <c:pt idx="23">
                  <c:v>-1.7</c:v>
                </c:pt>
                <c:pt idx="24">
                  <c:v>0</c:v>
                </c:pt>
                <c:pt idx="25">
                  <c:v>0</c:v>
                </c:pt>
                <c:pt idx="26">
                  <c:v>-3.89</c:v>
                </c:pt>
                <c:pt idx="27">
                  <c:v>-0.66</c:v>
                </c:pt>
                <c:pt idx="28">
                  <c:v>0</c:v>
                </c:pt>
                <c:pt idx="29">
                  <c:v>0</c:v>
                </c:pt>
                <c:pt idx="30">
                  <c:v>0</c:v>
                </c:pt>
                <c:pt idx="31">
                  <c:v>-2.66</c:v>
                </c:pt>
                <c:pt idx="32">
                  <c:v>0</c:v>
                </c:pt>
                <c:pt idx="33">
                  <c:v>-3.82</c:v>
                </c:pt>
                <c:pt idx="34">
                  <c:v>-0.69</c:v>
                </c:pt>
                <c:pt idx="35">
                  <c:v>0</c:v>
                </c:pt>
                <c:pt idx="36">
                  <c:v>-1.19</c:v>
                </c:pt>
                <c:pt idx="37">
                  <c:v>0</c:v>
                </c:pt>
                <c:pt idx="38">
                  <c:v>0</c:v>
                </c:pt>
                <c:pt idx="39">
                  <c:v>0</c:v>
                </c:pt>
                <c:pt idx="40">
                  <c:v>-2.81</c:v>
                </c:pt>
                <c:pt idx="41">
                  <c:v>-1</c:v>
                </c:pt>
                <c:pt idx="42">
                  <c:v>-4.47</c:v>
                </c:pt>
                <c:pt idx="43">
                  <c:v>-18.51</c:v>
                </c:pt>
                <c:pt idx="44">
                  <c:v>-13.33</c:v>
                </c:pt>
                <c:pt idx="45">
                  <c:v>-6.04</c:v>
                </c:pt>
                <c:pt idx="46">
                  <c:v>-1.24</c:v>
                </c:pt>
                <c:pt idx="47">
                  <c:v>0</c:v>
                </c:pt>
                <c:pt idx="48">
                  <c:v>0</c:v>
                </c:pt>
                <c:pt idx="49">
                  <c:v>-2.66</c:v>
                </c:pt>
                <c:pt idx="50">
                  <c:v>0</c:v>
                </c:pt>
                <c:pt idx="51">
                  <c:v>0</c:v>
                </c:pt>
                <c:pt idx="52">
                  <c:v>-0.14</c:v>
                </c:pt>
                <c:pt idx="53">
                  <c:v>0</c:v>
                </c:pt>
                <c:pt idx="54">
                  <c:v>-2.75</c:v>
                </c:pt>
                <c:pt idx="55">
                  <c:v>-5.26</c:v>
                </c:pt>
                <c:pt idx="56">
                  <c:v>-8.86</c:v>
                </c:pt>
                <c:pt idx="57">
                  <c:v>-4.19</c:v>
                </c:pt>
                <c:pt idx="58">
                  <c:v>-2.78</c:v>
                </c:pt>
                <c:pt idx="59">
                  <c:v>0</c:v>
                </c:pt>
                <c:pt idx="60">
                  <c:v>-4.8</c:v>
                </c:pt>
                <c:pt idx="61">
                  <c:v>-4.83</c:v>
                </c:pt>
                <c:pt idx="62">
                  <c:v>0</c:v>
                </c:pt>
                <c:pt idx="63">
                  <c:v>-0.68</c:v>
                </c:pt>
                <c:pt idx="64">
                  <c:v>-0.51</c:v>
                </c:pt>
                <c:pt idx="65">
                  <c:v>-1.33</c:v>
                </c:pt>
                <c:pt idx="66">
                  <c:v>-1.28</c:v>
                </c:pt>
                <c:pt idx="67">
                  <c:v>0</c:v>
                </c:pt>
                <c:pt idx="68">
                  <c:v>-0.94</c:v>
                </c:pt>
                <c:pt idx="69">
                  <c:v>0</c:v>
                </c:pt>
                <c:pt idx="70">
                  <c:v>-6.81</c:v>
                </c:pt>
                <c:pt idx="71">
                  <c:v>-0.7</c:v>
                </c:pt>
                <c:pt idx="72">
                  <c:v>0</c:v>
                </c:pt>
                <c:pt idx="73">
                  <c:v>-5.32</c:v>
                </c:pt>
                <c:pt idx="74">
                  <c:v>-10.31</c:v>
                </c:pt>
                <c:pt idx="75">
                  <c:v>-2.71</c:v>
                </c:pt>
                <c:pt idx="76">
                  <c:v>-0.99</c:v>
                </c:pt>
                <c:pt idx="77">
                  <c:v>-2.06</c:v>
                </c:pt>
                <c:pt idx="78">
                  <c:v>-3.56</c:v>
                </c:pt>
                <c:pt idx="79">
                  <c:v>-8.01</c:v>
                </c:pt>
                <c:pt idx="80">
                  <c:v>-18.08</c:v>
                </c:pt>
                <c:pt idx="81">
                  <c:v>-15.89</c:v>
                </c:pt>
                <c:pt idx="82">
                  <c:v>-8.7</c:v>
                </c:pt>
                <c:pt idx="83">
                  <c:v>-6.02</c:v>
                </c:pt>
                <c:pt idx="84">
                  <c:v>-6.22</c:v>
                </c:pt>
                <c:pt idx="85">
                  <c:v>-7.79</c:v>
                </c:pt>
                <c:pt idx="86">
                  <c:v>-2.45</c:v>
                </c:pt>
                <c:pt idx="87">
                  <c:v>-5.49</c:v>
                </c:pt>
                <c:pt idx="88">
                  <c:v>-6.19</c:v>
                </c:pt>
                <c:pt idx="89">
                  <c:v>-12.96</c:v>
                </c:pt>
                <c:pt idx="90">
                  <c:v>-20.81</c:v>
                </c:pt>
                <c:pt idx="91">
                  <c:v>-20.42</c:v>
                </c:pt>
                <c:pt idx="92">
                  <c:v>-28.02</c:v>
                </c:pt>
                <c:pt idx="93">
                  <c:v>-23.56</c:v>
                </c:pt>
                <c:pt idx="94">
                  <c:v>-18.53</c:v>
                </c:pt>
                <c:pt idx="95">
                  <c:v>-22.39</c:v>
                </c:pt>
                <c:pt idx="96">
                  <c:v>-23.97</c:v>
                </c:pt>
                <c:pt idx="97">
                  <c:v>-25.38</c:v>
                </c:pt>
                <c:pt idx="98">
                  <c:v>-25.04</c:v>
                </c:pt>
                <c:pt idx="99">
                  <c:v>-19.1</c:v>
                </c:pt>
                <c:pt idx="100">
                  <c:v>-12.51</c:v>
                </c:pt>
                <c:pt idx="101">
                  <c:v>-11.91</c:v>
                </c:pt>
                <c:pt idx="102">
                  <c:v>-9.64</c:v>
                </c:pt>
                <c:pt idx="103">
                  <c:v>-6.17</c:v>
                </c:pt>
                <c:pt idx="104">
                  <c:v>-7.67</c:v>
                </c:pt>
                <c:pt idx="105">
                  <c:v>-0.73</c:v>
                </c:pt>
                <c:pt idx="106">
                  <c:v>0</c:v>
                </c:pt>
                <c:pt idx="107">
                  <c:v>0</c:v>
                </c:pt>
                <c:pt idx="108">
                  <c:v>0</c:v>
                </c:pt>
                <c:pt idx="109">
                  <c:v>0</c:v>
                </c:pt>
                <c:pt idx="110">
                  <c:v>-0.67</c:v>
                </c:pt>
                <c:pt idx="111">
                  <c:v>-2.53</c:v>
                </c:pt>
                <c:pt idx="112">
                  <c:v>-0.69</c:v>
                </c:pt>
                <c:pt idx="113">
                  <c:v>0</c:v>
                </c:pt>
                <c:pt idx="114">
                  <c:v>-4.12</c:v>
                </c:pt>
                <c:pt idx="115">
                  <c:v>-4.16</c:v>
                </c:pt>
                <c:pt idx="116">
                  <c:v>-1.31</c:v>
                </c:pt>
                <c:pt idx="117">
                  <c:v>0</c:v>
                </c:pt>
                <c:pt idx="118">
                  <c:v>0</c:v>
                </c:pt>
                <c:pt idx="119">
                  <c:v>0</c:v>
                </c:pt>
                <c:pt idx="120">
                  <c:v>-2.36</c:v>
                </c:pt>
                <c:pt idx="121">
                  <c:v>-0.22</c:v>
                </c:pt>
                <c:pt idx="122">
                  <c:v>-1.22</c:v>
                </c:pt>
                <c:pt idx="123">
                  <c:v>-3.92</c:v>
                </c:pt>
                <c:pt idx="124">
                  <c:v>0</c:v>
                </c:pt>
                <c:pt idx="125">
                  <c:v>0</c:v>
                </c:pt>
                <c:pt idx="126">
                  <c:v>0</c:v>
                </c:pt>
                <c:pt idx="127">
                  <c:v>-0.81</c:v>
                </c:pt>
                <c:pt idx="128">
                  <c:v>0</c:v>
                </c:pt>
                <c:pt idx="129">
                  <c:v>-2.09</c:v>
                </c:pt>
                <c:pt idx="130">
                  <c:v>0</c:v>
                </c:pt>
                <c:pt idx="131">
                  <c:v>0</c:v>
                </c:pt>
                <c:pt idx="132">
                  <c:v>0</c:v>
                </c:pt>
                <c:pt idx="133">
                  <c:v>-0.09</c:v>
                </c:pt>
                <c:pt idx="134">
                  <c:v>0</c:v>
                </c:pt>
                <c:pt idx="135">
                  <c:v>0</c:v>
                </c:pt>
                <c:pt idx="136">
                  <c:v>-3.2</c:v>
                </c:pt>
                <c:pt idx="137">
                  <c:v>-3.1</c:v>
                </c:pt>
                <c:pt idx="138">
                  <c:v>-4.48</c:v>
                </c:pt>
                <c:pt idx="139">
                  <c:v>-2.33</c:v>
                </c:pt>
                <c:pt idx="140">
                  <c:v>-0.41</c:v>
                </c:pt>
                <c:pt idx="141">
                  <c:v>0</c:v>
                </c:pt>
                <c:pt idx="142">
                  <c:v>0</c:v>
                </c:pt>
                <c:pt idx="143">
                  <c:v>0</c:v>
                </c:pt>
                <c:pt idx="144">
                  <c:v>0</c:v>
                </c:pt>
                <c:pt idx="145">
                  <c:v>-0.22</c:v>
                </c:pt>
                <c:pt idx="146">
                  <c:v>0</c:v>
                </c:pt>
                <c:pt idx="147">
                  <c:v>0</c:v>
                </c:pt>
                <c:pt idx="148">
                  <c:v>0</c:v>
                </c:pt>
                <c:pt idx="149">
                  <c:v>-1.95</c:v>
                </c:pt>
                <c:pt idx="150">
                  <c:v>-5.29</c:v>
                </c:pt>
                <c:pt idx="151">
                  <c:v>-4.71</c:v>
                </c:pt>
                <c:pt idx="152">
                  <c:v>-1.69</c:v>
                </c:pt>
                <c:pt idx="153">
                  <c:v>0</c:v>
                </c:pt>
                <c:pt idx="154">
                  <c:v>-4.46</c:v>
                </c:pt>
                <c:pt idx="155">
                  <c:v>-5.63</c:v>
                </c:pt>
                <c:pt idx="156">
                  <c:v>-10.96</c:v>
                </c:pt>
                <c:pt idx="157">
                  <c:v>-12.91</c:v>
                </c:pt>
                <c:pt idx="158">
                  <c:v>-14.35</c:v>
                </c:pt>
                <c:pt idx="159">
                  <c:v>-9.49</c:v>
                </c:pt>
                <c:pt idx="160">
                  <c:v>-6.27</c:v>
                </c:pt>
                <c:pt idx="161">
                  <c:v>-13.94</c:v>
                </c:pt>
                <c:pt idx="162">
                  <c:v>-15.22</c:v>
                </c:pt>
                <c:pt idx="163">
                  <c:v>-14.03</c:v>
                </c:pt>
                <c:pt idx="164">
                  <c:v>-24.07</c:v>
                </c:pt>
                <c:pt idx="165">
                  <c:v>-38.89</c:v>
                </c:pt>
                <c:pt idx="166">
                  <c:v>-43.94</c:v>
                </c:pt>
                <c:pt idx="167">
                  <c:v>-42.25</c:v>
                </c:pt>
                <c:pt idx="168">
                  <c:v>-46.33</c:v>
                </c:pt>
                <c:pt idx="169">
                  <c:v>-51.7</c:v>
                </c:pt>
                <c:pt idx="170">
                  <c:v>-47.39</c:v>
                </c:pt>
                <c:pt idx="171">
                  <c:v>-40.84</c:v>
                </c:pt>
                <c:pt idx="172">
                  <c:v>-38.24</c:v>
                </c:pt>
                <c:pt idx="173">
                  <c:v>-38.16</c:v>
                </c:pt>
                <c:pt idx="174">
                  <c:v>-33.1</c:v>
                </c:pt>
                <c:pt idx="175">
                  <c:v>-30.51</c:v>
                </c:pt>
                <c:pt idx="176">
                  <c:v>-27.17</c:v>
                </c:pt>
                <c:pt idx="177">
                  <c:v>-29.46</c:v>
                </c:pt>
                <c:pt idx="178">
                  <c:v>-25.65</c:v>
                </c:pt>
                <c:pt idx="179">
                  <c:v>-22.43</c:v>
                </c:pt>
                <c:pt idx="180">
                  <c:v>-24.93</c:v>
                </c:pt>
                <c:pt idx="181">
                  <c:v>-21.53</c:v>
                </c:pt>
                <c:pt idx="182">
                  <c:v>-16.52</c:v>
                </c:pt>
                <c:pt idx="183">
                  <c:v>-14.25</c:v>
                </c:pt>
                <c:pt idx="184">
                  <c:v>-20.59</c:v>
                </c:pt>
                <c:pt idx="185">
                  <c:v>-25.22</c:v>
                </c:pt>
                <c:pt idx="186">
                  <c:v>-19.84</c:v>
                </c:pt>
                <c:pt idx="187">
                  <c:v>-23.36</c:v>
                </c:pt>
                <c:pt idx="188">
                  <c:v>-15.54</c:v>
                </c:pt>
                <c:pt idx="189">
                  <c:v>-12.19</c:v>
                </c:pt>
                <c:pt idx="190">
                  <c:v>-10.89</c:v>
                </c:pt>
                <c:pt idx="191">
                  <c:v>-4.82</c:v>
                </c:pt>
                <c:pt idx="192">
                  <c:v>-2.83</c:v>
                </c:pt>
                <c:pt idx="193">
                  <c:v>0</c:v>
                </c:pt>
                <c:pt idx="194">
                  <c:v>0</c:v>
                </c:pt>
                <c:pt idx="195">
                  <c:v>0</c:v>
                </c:pt>
                <c:pt idx="196">
                  <c:v>-0.57</c:v>
                </c:pt>
                <c:pt idx="197">
                  <c:v>-2.32</c:v>
                </c:pt>
                <c:pt idx="198">
                  <c:v>-5.49</c:v>
                </c:pt>
                <c:pt idx="199">
                  <c:v>-11.52</c:v>
                </c:pt>
                <c:pt idx="200">
                  <c:v>-19.14</c:v>
                </c:pt>
                <c:pt idx="201">
                  <c:v>-9.04</c:v>
                </c:pt>
                <c:pt idx="202">
                  <c:v>-9.51</c:v>
                </c:pt>
                <c:pt idx="203">
                  <c:v>-10</c:v>
                </c:pt>
                <c:pt idx="204">
                  <c:v>-4.91</c:v>
                </c:pt>
                <c:pt idx="205">
                  <c:v>-0.78</c:v>
                </c:pt>
                <c:pt idx="206">
                  <c:v>0</c:v>
                </c:pt>
                <c:pt idx="207">
                  <c:v>-0.78</c:v>
                </c:pt>
                <c:pt idx="208">
                  <c:v>-7.48</c:v>
                </c:pt>
                <c:pt idx="209">
                  <c:v>-4.6</c:v>
                </c:pt>
                <c:pt idx="210">
                  <c:v>-4.49</c:v>
                </c:pt>
                <c:pt idx="211">
                  <c:v>-1.55</c:v>
                </c:pt>
                <c:pt idx="212">
                  <c:v>0</c:v>
                </c:pt>
                <c:pt idx="213">
                  <c:v>-0.71</c:v>
                </c:pt>
                <c:pt idx="214">
                  <c:v>0</c:v>
                </c:pt>
                <c:pt idx="215">
                  <c:v>0</c:v>
                </c:pt>
                <c:pt idx="216">
                  <c:v>0</c:v>
                </c:pt>
                <c:pt idx="217">
                  <c:v>0</c:v>
                </c:pt>
                <c:pt idx="218">
                  <c:v>0</c:v>
                </c:pt>
                <c:pt idx="219">
                  <c:v>0</c:v>
                </c:pt>
                <c:pt idx="220">
                  <c:v>0</c:v>
                </c:pt>
                <c:pt idx="221">
                  <c:v>-1.21</c:v>
                </c:pt>
                <c:pt idx="222">
                  <c:v>0</c:v>
                </c:pt>
                <c:pt idx="223">
                  <c:v>-2.43</c:v>
                </c:pt>
                <c:pt idx="224">
                  <c:v>0</c:v>
                </c:pt>
                <c:pt idx="225">
                  <c:v>0</c:v>
                </c:pt>
                <c:pt idx="226">
                  <c:v>0</c:v>
                </c:pt>
                <c:pt idx="227">
                  <c:v>0</c:v>
                </c:pt>
                <c:pt idx="228">
                  <c:v>-2.92</c:v>
                </c:pt>
                <c:pt idx="229">
                  <c:v>0</c:v>
                </c:pt>
                <c:pt idx="230">
                  <c:v>0</c:v>
                </c:pt>
                <c:pt idx="231">
                  <c:v>-0.19</c:v>
                </c:pt>
                <c:pt idx="232">
                  <c:v>0</c:v>
                </c:pt>
                <c:pt idx="233">
                  <c:v>0</c:v>
                </c:pt>
                <c:pt idx="234">
                  <c:v>-2.34</c:v>
                </c:pt>
                <c:pt idx="235">
                  <c:v>0</c:v>
                </c:pt>
                <c:pt idx="236">
                  <c:v>-2.35</c:v>
                </c:pt>
                <c:pt idx="237">
                  <c:v>0</c:v>
                </c:pt>
                <c:pt idx="238">
                  <c:v>0</c:v>
                </c:pt>
                <c:pt idx="239">
                  <c:v>0</c:v>
                </c:pt>
                <c:pt idx="240">
                  <c:v>-2.33</c:v>
                </c:pt>
                <c:pt idx="241">
                  <c:v>0</c:v>
                </c:pt>
                <c:pt idx="242">
                  <c:v>-0.66</c:v>
                </c:pt>
                <c:pt idx="243">
                  <c:v>-0.55</c:v>
                </c:pt>
                <c:pt idx="244">
                  <c:v>0</c:v>
                </c:pt>
                <c:pt idx="245">
                  <c:v>-1.81</c:v>
                </c:pt>
                <c:pt idx="246">
                  <c:v>-0.72</c:v>
                </c:pt>
                <c:pt idx="247">
                  <c:v>-6.2</c:v>
                </c:pt>
                <c:pt idx="248">
                  <c:v>-9.36</c:v>
                </c:pt>
                <c:pt idx="249">
                  <c:v>-3</c:v>
                </c:pt>
                <c:pt idx="250">
                  <c:v>-2.66</c:v>
                </c:pt>
                <c:pt idx="251">
                  <c:v>-5.17</c:v>
                </c:pt>
                <c:pt idx="252">
                  <c:v>-11.08</c:v>
                </c:pt>
                <c:pt idx="253">
                  <c:v>-10.02</c:v>
                </c:pt>
                <c:pt idx="254">
                  <c:v>-3.37</c:v>
                </c:pt>
                <c:pt idx="255">
                  <c:v>-2.1</c:v>
                </c:pt>
                <c:pt idx="256">
                  <c:v>-0.44</c:v>
                </c:pt>
                <c:pt idx="257">
                  <c:v>-0.28</c:v>
                </c:pt>
                <c:pt idx="258">
                  <c:v>0</c:v>
                </c:pt>
                <c:pt idx="259">
                  <c:v>0</c:v>
                </c:pt>
                <c:pt idx="260">
                  <c:v>0</c:v>
                </c:pt>
                <c:pt idx="261">
                  <c:v>-2.04</c:v>
                </c:pt>
                <c:pt idx="262">
                  <c:v>0</c:v>
                </c:pt>
                <c:pt idx="263">
                  <c:v>0</c:v>
                </c:pt>
                <c:pt idx="264">
                  <c:v>0</c:v>
                </c:pt>
                <c:pt idx="265">
                  <c:v>0</c:v>
                </c:pt>
                <c:pt idx="266">
                  <c:v>0</c:v>
                </c:pt>
                <c:pt idx="267">
                  <c:v>0</c:v>
                </c:pt>
                <c:pt idx="268">
                  <c:v>0</c:v>
                </c:pt>
                <c:pt idx="269">
                  <c:v>0</c:v>
                </c:pt>
                <c:pt idx="270">
                  <c:v>0</c:v>
                </c:pt>
                <c:pt idx="271">
                  <c:v>-0.32</c:v>
                </c:pt>
                <c:pt idx="272">
                  <c:v>0</c:v>
                </c:pt>
                <c:pt idx="273">
                  <c:v>0</c:v>
                </c:pt>
                <c:pt idx="274">
                  <c:v>0</c:v>
                </c:pt>
                <c:pt idx="275">
                  <c:v>0</c:v>
                </c:pt>
                <c:pt idx="276">
                  <c:v>0</c:v>
                </c:pt>
                <c:pt idx="277">
                  <c:v>-3.92</c:v>
                </c:pt>
                <c:pt idx="278">
                  <c:v>-4.74</c:v>
                </c:pt>
                <c:pt idx="279">
                  <c:v>-4.47</c:v>
                </c:pt>
                <c:pt idx="280">
                  <c:v>-2.77</c:v>
                </c:pt>
                <c:pt idx="281">
                  <c:v>-2.21</c:v>
                </c:pt>
                <c:pt idx="282">
                  <c:v>0</c:v>
                </c:pt>
                <c:pt idx="283">
                  <c:v>0</c:v>
                </c:pt>
                <c:pt idx="284">
                  <c:v>0</c:v>
                </c:pt>
                <c:pt idx="285">
                  <c:v>-7.86</c:v>
                </c:pt>
                <c:pt idx="286">
                  <c:v>-5.48</c:v>
                </c:pt>
                <c:pt idx="287">
                  <c:v>-14.6</c:v>
                </c:pt>
                <c:pt idx="288">
                  <c:v>-6.47</c:v>
                </c:pt>
                <c:pt idx="289">
                  <c:v>-2.86</c:v>
                </c:pt>
                <c:pt idx="290">
                  <c:v>-2.07</c:v>
                </c:pt>
                <c:pt idx="291">
                  <c:v>0</c:v>
                </c:pt>
                <c:pt idx="292">
                  <c:v>-6.37</c:v>
                </c:pt>
                <c:pt idx="293">
                  <c:v>0</c:v>
                </c:pt>
                <c:pt idx="294">
                  <c:v>0</c:v>
                </c:pt>
                <c:pt idx="295">
                  <c:v>-2.74</c:v>
                </c:pt>
                <c:pt idx="296">
                  <c:v>-0.7</c:v>
                </c:pt>
                <c:pt idx="297">
                  <c:v>0</c:v>
                </c:pt>
                <c:pt idx="298">
                  <c:v>0</c:v>
                </c:pt>
                <c:pt idx="299">
                  <c:v>0</c:v>
                </c:pt>
                <c:pt idx="300">
                  <c:v>-1</c:v>
                </c:pt>
                <c:pt idx="301">
                  <c:v>-9.25</c:v>
                </c:pt>
                <c:pt idx="302">
                  <c:v>-24.44</c:v>
                </c:pt>
                <c:pt idx="303">
                  <c:v>-14.3</c:v>
                </c:pt>
                <c:pt idx="304">
                  <c:v>-8.48</c:v>
                </c:pt>
                <c:pt idx="305">
                  <c:v>-7.62</c:v>
                </c:pt>
                <c:pt idx="306">
                  <c:v>-2.48</c:v>
                </c:pt>
                <c:pt idx="307">
                  <c:v>0</c:v>
                </c:pt>
                <c:pt idx="308">
                  <c:v>-1.95</c:v>
                </c:pt>
                <c:pt idx="309">
                  <c:v>-2.26</c:v>
                </c:pt>
                <c:pt idx="310">
                  <c:v>0</c:v>
                </c:pt>
                <c:pt idx="311">
                  <c:v>0</c:v>
                </c:pt>
                <c:pt idx="312">
                  <c:v>-1</c:v>
                </c:pt>
                <c:pt idx="313">
                  <c:v>0</c:v>
                </c:pt>
                <c:pt idx="314">
                  <c:v>0</c:v>
                </c:pt>
                <c:pt idx="315">
                  <c:v>0</c:v>
                </c:pt>
                <c:pt idx="316">
                  <c:v>0</c:v>
                </c:pt>
                <c:pt idx="317">
                  <c:v>0</c:v>
                </c:pt>
                <c:pt idx="318">
                  <c:v>0</c:v>
                </c:pt>
                <c:pt idx="319">
                  <c:v>0</c:v>
                </c:pt>
                <c:pt idx="320">
                  <c:v>-4.09</c:v>
                </c:pt>
                <c:pt idx="321">
                  <c:v>0</c:v>
                </c:pt>
                <c:pt idx="322">
                  <c:v>-2.6</c:v>
                </c:pt>
                <c:pt idx="323">
                  <c:v>0</c:v>
                </c:pt>
                <c:pt idx="324">
                  <c:v>-5.36</c:v>
                </c:pt>
                <c:pt idx="325">
                  <c:v>-5.93</c:v>
                </c:pt>
                <c:pt idx="326">
                  <c:v>-3.58</c:v>
                </c:pt>
                <c:pt idx="327">
                  <c:v>-10.36</c:v>
                </c:pt>
                <c:pt idx="328">
                  <c:v>-9.54</c:v>
                </c:pt>
                <c:pt idx="329">
                  <c:v>-17.63</c:v>
                </c:pt>
                <c:pt idx="330">
                  <c:v>-10.2</c:v>
                </c:pt>
                <c:pt idx="331">
                  <c:v>-12.52</c:v>
                </c:pt>
                <c:pt idx="332">
                  <c:v>-20.41</c:v>
                </c:pt>
                <c:pt idx="333">
                  <c:v>-13.04</c:v>
                </c:pt>
                <c:pt idx="334">
                  <c:v>-7.38</c:v>
                </c:pt>
                <c:pt idx="335">
                  <c:v>-11.93</c:v>
                </c:pt>
                <c:pt idx="336">
                  <c:v>-5.77</c:v>
                </c:pt>
                <c:pt idx="337">
                  <c:v>-8.5</c:v>
                </c:pt>
                <c:pt idx="338">
                  <c:v>-8.35</c:v>
                </c:pt>
                <c:pt idx="339">
                  <c:v>-8.37</c:v>
                </c:pt>
                <c:pt idx="340">
                  <c:v>-11.12</c:v>
                </c:pt>
                <c:pt idx="341">
                  <c:v>-4.43</c:v>
                </c:pt>
                <c:pt idx="342">
                  <c:v>-1.35</c:v>
                </c:pt>
                <c:pt idx="343">
                  <c:v>-3.96</c:v>
                </c:pt>
                <c:pt idx="344">
                  <c:v>-8.6</c:v>
                </c:pt>
                <c:pt idx="345">
                  <c:v>-12.26</c:v>
                </c:pt>
                <c:pt idx="346">
                  <c:v>-4.27</c:v>
                </c:pt>
                <c:pt idx="347">
                  <c:v>0</c:v>
                </c:pt>
                <c:pt idx="348">
                  <c:v>-0.35</c:v>
                </c:pt>
                <c:pt idx="349">
                  <c:v>0</c:v>
                </c:pt>
                <c:pt idx="350">
                  <c:v>0</c:v>
                </c:pt>
                <c:pt idx="351">
                  <c:v>-4.88</c:v>
                </c:pt>
                <c:pt idx="352">
                  <c:v>-2.29</c:v>
                </c:pt>
                <c:pt idx="353">
                  <c:v>-2.55</c:v>
                </c:pt>
                <c:pt idx="354">
                  <c:v>0</c:v>
                </c:pt>
                <c:pt idx="355">
                  <c:v>0</c:v>
                </c:pt>
                <c:pt idx="356">
                  <c:v>0</c:v>
                </c:pt>
                <c:pt idx="357">
                  <c:v>-0.89</c:v>
                </c:pt>
                <c:pt idx="358">
                  <c:v>0</c:v>
                </c:pt>
                <c:pt idx="359">
                  <c:v>-6.3</c:v>
                </c:pt>
                <c:pt idx="360">
                  <c:v>-2.34</c:v>
                </c:pt>
                <c:pt idx="361">
                  <c:v>-3.98</c:v>
                </c:pt>
                <c:pt idx="362">
                  <c:v>-7.92</c:v>
                </c:pt>
                <c:pt idx="363">
                  <c:v>-9.55</c:v>
                </c:pt>
                <c:pt idx="364">
                  <c:v>-5.28</c:v>
                </c:pt>
                <c:pt idx="365">
                  <c:v>-1.7</c:v>
                </c:pt>
                <c:pt idx="366">
                  <c:v>-0.93</c:v>
                </c:pt>
                <c:pt idx="367">
                  <c:v>0</c:v>
                </c:pt>
                <c:pt idx="368">
                  <c:v>0</c:v>
                </c:pt>
                <c:pt idx="369">
                  <c:v>0</c:v>
                </c:pt>
                <c:pt idx="370">
                  <c:v>0</c:v>
                </c:pt>
                <c:pt idx="371">
                  <c:v>0</c:v>
                </c:pt>
              </c:numCache>
            </c:numRef>
          </c:val>
          <c:smooth val="0"/>
        </c:ser>
        <c:ser>
          <c:idx val="1"/>
          <c:order val="1"/>
          <c:tx>
            <c:strRef>
              <c:f>Sheet1!$C$1</c:f>
              <c:strCache>
                <c:ptCount val="1"/>
                <c:pt idx="0">
                  <c:v>Value weighted</c:v>
                </c:pt>
              </c:strCache>
            </c:strRef>
          </c:tx>
          <c:spPr>
            <a:solidFill>
              <a:srgbClr val="E87BA4"/>
            </a:solidFill>
            <a:ln w="1905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Sheet1!$C$2:$C$373</c:f>
              <c:numCache>
                <c:formatCode>General</c:formatCode>
                <c:ptCount val="372"/>
                <c:pt idx="0">
                  <c:v>0</c:v>
                </c:pt>
                <c:pt idx="1">
                  <c:v>0</c:v>
                </c:pt>
                <c:pt idx="2">
                  <c:v>0</c:v>
                </c:pt>
                <c:pt idx="3">
                  <c:v>0</c:v>
                </c:pt>
                <c:pt idx="4">
                  <c:v>0</c:v>
                </c:pt>
                <c:pt idx="5">
                  <c:v>0</c:v>
                </c:pt>
                <c:pt idx="6">
                  <c:v>0</c:v>
                </c:pt>
                <c:pt idx="7">
                  <c:v>0</c:v>
                </c:pt>
                <c:pt idx="8">
                  <c:v>0</c:v>
                </c:pt>
                <c:pt idx="9">
                  <c:v>-0.21</c:v>
                </c:pt>
                <c:pt idx="10">
                  <c:v>0</c:v>
                </c:pt>
                <c:pt idx="11">
                  <c:v>0</c:v>
                </c:pt>
                <c:pt idx="12">
                  <c:v>0</c:v>
                </c:pt>
                <c:pt idx="13">
                  <c:v>0</c:v>
                </c:pt>
                <c:pt idx="14">
                  <c:v>0</c:v>
                </c:pt>
                <c:pt idx="15">
                  <c:v>0</c:v>
                </c:pt>
                <c:pt idx="16">
                  <c:v>0</c:v>
                </c:pt>
                <c:pt idx="17">
                  <c:v>0</c:v>
                </c:pt>
                <c:pt idx="18">
                  <c:v>-4.38</c:v>
                </c:pt>
                <c:pt idx="19">
                  <c:v>-2.15</c:v>
                </c:pt>
                <c:pt idx="20">
                  <c:v>0</c:v>
                </c:pt>
                <c:pt idx="21">
                  <c:v>0</c:v>
                </c:pt>
                <c:pt idx="22">
                  <c:v>0</c:v>
                </c:pt>
                <c:pt idx="23">
                  <c:v>-1.77</c:v>
                </c:pt>
                <c:pt idx="24">
                  <c:v>0</c:v>
                </c:pt>
                <c:pt idx="25">
                  <c:v>0</c:v>
                </c:pt>
                <c:pt idx="26">
                  <c:v>-4.29</c:v>
                </c:pt>
                <c:pt idx="27">
                  <c:v>0</c:v>
                </c:pt>
                <c:pt idx="28">
                  <c:v>0</c:v>
                </c:pt>
                <c:pt idx="29">
                  <c:v>0</c:v>
                </c:pt>
                <c:pt idx="30">
                  <c:v>0</c:v>
                </c:pt>
                <c:pt idx="31">
                  <c:v>-5.24</c:v>
                </c:pt>
                <c:pt idx="32">
                  <c:v>-0.16</c:v>
                </c:pt>
                <c:pt idx="33">
                  <c:v>-3.46</c:v>
                </c:pt>
                <c:pt idx="34">
                  <c:v>0</c:v>
                </c:pt>
                <c:pt idx="35">
                  <c:v>0</c:v>
                </c:pt>
                <c:pt idx="36">
                  <c:v>0</c:v>
                </c:pt>
                <c:pt idx="37">
                  <c:v>0</c:v>
                </c:pt>
                <c:pt idx="38">
                  <c:v>0</c:v>
                </c:pt>
                <c:pt idx="39">
                  <c:v>0</c:v>
                </c:pt>
                <c:pt idx="40">
                  <c:v>-1.85</c:v>
                </c:pt>
                <c:pt idx="41">
                  <c:v>0</c:v>
                </c:pt>
                <c:pt idx="42">
                  <c:v>-1.05</c:v>
                </c:pt>
                <c:pt idx="43">
                  <c:v>-15.22</c:v>
                </c:pt>
                <c:pt idx="44">
                  <c:v>-9.58</c:v>
                </c:pt>
                <c:pt idx="45">
                  <c:v>-2.63</c:v>
                </c:pt>
                <c:pt idx="46">
                  <c:v>0</c:v>
                </c:pt>
                <c:pt idx="47">
                  <c:v>0</c:v>
                </c:pt>
                <c:pt idx="48">
                  <c:v>0</c:v>
                </c:pt>
                <c:pt idx="49">
                  <c:v>-3.15</c:v>
                </c:pt>
                <c:pt idx="50">
                  <c:v>0</c:v>
                </c:pt>
                <c:pt idx="51">
                  <c:v>0</c:v>
                </c:pt>
                <c:pt idx="52">
                  <c:v>-2.25</c:v>
                </c:pt>
                <c:pt idx="53">
                  <c:v>0</c:v>
                </c:pt>
                <c:pt idx="54">
                  <c:v>-3</c:v>
                </c:pt>
                <c:pt idx="55">
                  <c:v>-3.48</c:v>
                </c:pt>
                <c:pt idx="56">
                  <c:v>-6.46</c:v>
                </c:pt>
                <c:pt idx="57">
                  <c:v>0</c:v>
                </c:pt>
                <c:pt idx="58">
                  <c:v>0</c:v>
                </c:pt>
                <c:pt idx="59">
                  <c:v>0</c:v>
                </c:pt>
                <c:pt idx="60">
                  <c:v>-4.34</c:v>
                </c:pt>
                <c:pt idx="61">
                  <c:v>-5.36</c:v>
                </c:pt>
                <c:pt idx="62">
                  <c:v>0</c:v>
                </c:pt>
                <c:pt idx="63">
                  <c:v>-3.37</c:v>
                </c:pt>
                <c:pt idx="64">
                  <c:v>-5.68</c:v>
                </c:pt>
                <c:pt idx="65">
                  <c:v>-3.06</c:v>
                </c:pt>
                <c:pt idx="66">
                  <c:v>-4.02</c:v>
                </c:pt>
                <c:pt idx="67">
                  <c:v>0</c:v>
                </c:pt>
                <c:pt idx="68">
                  <c:v>-4.47</c:v>
                </c:pt>
                <c:pt idx="69">
                  <c:v>-4.5</c:v>
                </c:pt>
                <c:pt idx="70">
                  <c:v>-11.78</c:v>
                </c:pt>
                <c:pt idx="71">
                  <c:v>-11.14</c:v>
                </c:pt>
                <c:pt idx="72">
                  <c:v>-8.65</c:v>
                </c:pt>
                <c:pt idx="73">
                  <c:v>-16.1</c:v>
                </c:pt>
                <c:pt idx="74">
                  <c:v>-21.23</c:v>
                </c:pt>
                <c:pt idx="75">
                  <c:v>-15.32</c:v>
                </c:pt>
                <c:pt idx="76">
                  <c:v>-14.62</c:v>
                </c:pt>
                <c:pt idx="77">
                  <c:v>-16.37</c:v>
                </c:pt>
                <c:pt idx="78">
                  <c:v>-17.21</c:v>
                </c:pt>
                <c:pt idx="79">
                  <c:v>-22.33</c:v>
                </c:pt>
                <c:pt idx="80">
                  <c:v>-28.21</c:v>
                </c:pt>
                <c:pt idx="81">
                  <c:v>-26.83</c:v>
                </c:pt>
                <c:pt idx="82">
                  <c:v>-21.37</c:v>
                </c:pt>
                <c:pt idx="83">
                  <c:v>-20.64</c:v>
                </c:pt>
                <c:pt idx="84">
                  <c:v>-21.36</c:v>
                </c:pt>
                <c:pt idx="85">
                  <c:v>-22.79</c:v>
                </c:pt>
                <c:pt idx="86">
                  <c:v>-19.94</c:v>
                </c:pt>
                <c:pt idx="87">
                  <c:v>-24.55</c:v>
                </c:pt>
                <c:pt idx="88">
                  <c:v>-25.07</c:v>
                </c:pt>
                <c:pt idx="89">
                  <c:v>-30.28</c:v>
                </c:pt>
                <c:pt idx="90">
                  <c:v>-35.27</c:v>
                </c:pt>
                <c:pt idx="91">
                  <c:v>-34.84</c:v>
                </c:pt>
                <c:pt idx="92">
                  <c:v>-41.67</c:v>
                </c:pt>
                <c:pt idx="93">
                  <c:v>-36.63</c:v>
                </c:pt>
                <c:pt idx="94">
                  <c:v>-33.31</c:v>
                </c:pt>
                <c:pt idx="95">
                  <c:v>-37.15</c:v>
                </c:pt>
                <c:pt idx="96">
                  <c:v>-38.85</c:v>
                </c:pt>
                <c:pt idx="97">
                  <c:v>-39.86</c:v>
                </c:pt>
                <c:pt idx="98">
                  <c:v>-39.15</c:v>
                </c:pt>
                <c:pt idx="99">
                  <c:v>-34.31</c:v>
                </c:pt>
                <c:pt idx="100">
                  <c:v>-30.94</c:v>
                </c:pt>
                <c:pt idx="101">
                  <c:v>-30.07</c:v>
                </c:pt>
                <c:pt idx="102">
                  <c:v>-28.8</c:v>
                </c:pt>
                <c:pt idx="103">
                  <c:v>-27.43</c:v>
                </c:pt>
                <c:pt idx="104">
                  <c:v>-28.25</c:v>
                </c:pt>
                <c:pt idx="105">
                  <c:v>-24.16</c:v>
                </c:pt>
                <c:pt idx="106">
                  <c:v>-23.47</c:v>
                </c:pt>
                <c:pt idx="107">
                  <c:v>-19.83</c:v>
                </c:pt>
                <c:pt idx="108">
                  <c:v>-18.53</c:v>
                </c:pt>
                <c:pt idx="109">
                  <c:v>-17.41</c:v>
                </c:pt>
                <c:pt idx="110">
                  <c:v>-18.68</c:v>
                </c:pt>
                <c:pt idx="111">
                  <c:v>-19.8</c:v>
                </c:pt>
                <c:pt idx="112">
                  <c:v>-18.78</c:v>
                </c:pt>
                <c:pt idx="113">
                  <c:v>-17.41</c:v>
                </c:pt>
                <c:pt idx="114">
                  <c:v>-20.21</c:v>
                </c:pt>
                <c:pt idx="115">
                  <c:v>-19.9</c:v>
                </c:pt>
                <c:pt idx="116">
                  <c:v>-19.04</c:v>
                </c:pt>
                <c:pt idx="117">
                  <c:v>-18</c:v>
                </c:pt>
                <c:pt idx="118">
                  <c:v>-14.78</c:v>
                </c:pt>
                <c:pt idx="119">
                  <c:v>-11.94</c:v>
                </c:pt>
                <c:pt idx="120">
                  <c:v>-14.02</c:v>
                </c:pt>
                <c:pt idx="121">
                  <c:v>-12.27</c:v>
                </c:pt>
                <c:pt idx="122">
                  <c:v>-13.76</c:v>
                </c:pt>
                <c:pt idx="123">
                  <c:v>-15.25</c:v>
                </c:pt>
                <c:pt idx="124">
                  <c:v>-12.38</c:v>
                </c:pt>
                <c:pt idx="125">
                  <c:v>-12.27</c:v>
                </c:pt>
                <c:pt idx="126">
                  <c:v>-8.93</c:v>
                </c:pt>
                <c:pt idx="127">
                  <c:v>-9.68</c:v>
                </c:pt>
                <c:pt idx="128">
                  <c:v>-8.94</c:v>
                </c:pt>
                <c:pt idx="129">
                  <c:v>-10.3</c:v>
                </c:pt>
                <c:pt idx="130">
                  <c:v>-6.9</c:v>
                </c:pt>
                <c:pt idx="131">
                  <c:v>-6.97</c:v>
                </c:pt>
                <c:pt idx="132">
                  <c:v>-4.67</c:v>
                </c:pt>
                <c:pt idx="133">
                  <c:v>-4.54</c:v>
                </c:pt>
                <c:pt idx="134">
                  <c:v>-3.3</c:v>
                </c:pt>
                <c:pt idx="135">
                  <c:v>-2.25</c:v>
                </c:pt>
                <c:pt idx="136">
                  <c:v>-5.04</c:v>
                </c:pt>
                <c:pt idx="137">
                  <c:v>-4.98</c:v>
                </c:pt>
                <c:pt idx="138">
                  <c:v>-4.45</c:v>
                </c:pt>
                <c:pt idx="139">
                  <c:v>-2.11</c:v>
                </c:pt>
                <c:pt idx="140">
                  <c:v>0</c:v>
                </c:pt>
                <c:pt idx="141">
                  <c:v>0</c:v>
                </c:pt>
                <c:pt idx="142">
                  <c:v>0</c:v>
                </c:pt>
                <c:pt idx="143">
                  <c:v>0</c:v>
                </c:pt>
                <c:pt idx="144">
                  <c:v>0</c:v>
                </c:pt>
                <c:pt idx="145">
                  <c:v>-1.78</c:v>
                </c:pt>
                <c:pt idx="146">
                  <c:v>-0.72</c:v>
                </c:pt>
                <c:pt idx="147">
                  <c:v>0</c:v>
                </c:pt>
                <c:pt idx="148">
                  <c:v>0</c:v>
                </c:pt>
                <c:pt idx="149">
                  <c:v>-1.74</c:v>
                </c:pt>
                <c:pt idx="150">
                  <c:v>-4.54</c:v>
                </c:pt>
                <c:pt idx="151">
                  <c:v>-2.94</c:v>
                </c:pt>
                <c:pt idx="152">
                  <c:v>0</c:v>
                </c:pt>
                <c:pt idx="153">
                  <c:v>0</c:v>
                </c:pt>
                <c:pt idx="154">
                  <c:v>-3.97</c:v>
                </c:pt>
                <c:pt idx="155">
                  <c:v>-4.58</c:v>
                </c:pt>
                <c:pt idx="156">
                  <c:v>-10.18</c:v>
                </c:pt>
                <c:pt idx="157">
                  <c:v>-12.73</c:v>
                </c:pt>
                <c:pt idx="158">
                  <c:v>-13.2</c:v>
                </c:pt>
                <c:pt idx="159">
                  <c:v>-9.33</c:v>
                </c:pt>
                <c:pt idx="160">
                  <c:v>-7.95</c:v>
                </c:pt>
                <c:pt idx="161">
                  <c:v>-15.44</c:v>
                </c:pt>
                <c:pt idx="162">
                  <c:v>-16.04</c:v>
                </c:pt>
                <c:pt idx="163">
                  <c:v>-14.83</c:v>
                </c:pt>
                <c:pt idx="164">
                  <c:v>-22.06</c:v>
                </c:pt>
                <c:pt idx="165">
                  <c:v>-34.62</c:v>
                </c:pt>
                <c:pt idx="166">
                  <c:v>-39.03</c:v>
                </c:pt>
                <c:pt idx="167">
                  <c:v>-38.43</c:v>
                </c:pt>
                <c:pt idx="168">
                  <c:v>-43.39</c:v>
                </c:pt>
                <c:pt idx="169">
                  <c:v>-49.13</c:v>
                </c:pt>
                <c:pt idx="170">
                  <c:v>-44.65</c:v>
                </c:pt>
                <c:pt idx="171">
                  <c:v>-40.01</c:v>
                </c:pt>
                <c:pt idx="172">
                  <c:v>-37.08</c:v>
                </c:pt>
                <c:pt idx="173">
                  <c:v>-36.83</c:v>
                </c:pt>
                <c:pt idx="174">
                  <c:v>-32.16</c:v>
                </c:pt>
                <c:pt idx="175">
                  <c:v>-29.95</c:v>
                </c:pt>
                <c:pt idx="176">
                  <c:v>-27.53</c:v>
                </c:pt>
                <c:pt idx="177">
                  <c:v>-28.84</c:v>
                </c:pt>
                <c:pt idx="178">
                  <c:v>-24.6</c:v>
                </c:pt>
                <c:pt idx="179">
                  <c:v>-23.26</c:v>
                </c:pt>
                <c:pt idx="180">
                  <c:v>-25.82</c:v>
                </c:pt>
                <c:pt idx="181">
                  <c:v>-23.47</c:v>
                </c:pt>
                <c:pt idx="182">
                  <c:v>-18.98</c:v>
                </c:pt>
                <c:pt idx="183">
                  <c:v>-17.86</c:v>
                </c:pt>
                <c:pt idx="184">
                  <c:v>-24.3</c:v>
                </c:pt>
                <c:pt idx="185">
                  <c:v>-28.3</c:v>
                </c:pt>
                <c:pt idx="186">
                  <c:v>-23.36</c:v>
                </c:pt>
                <c:pt idx="187">
                  <c:v>-26.75</c:v>
                </c:pt>
                <c:pt idx="188">
                  <c:v>-20.16</c:v>
                </c:pt>
                <c:pt idx="189">
                  <c:v>-17.06</c:v>
                </c:pt>
                <c:pt idx="190">
                  <c:v>-16.95</c:v>
                </c:pt>
                <c:pt idx="191">
                  <c:v>-11.36</c:v>
                </c:pt>
                <c:pt idx="192">
                  <c:v>-9.38</c:v>
                </c:pt>
                <c:pt idx="193">
                  <c:v>-6.53</c:v>
                </c:pt>
                <c:pt idx="194">
                  <c:v>-6.54</c:v>
                </c:pt>
                <c:pt idx="195">
                  <c:v>-3.9</c:v>
                </c:pt>
                <c:pt idx="196">
                  <c:v>-5.11</c:v>
                </c:pt>
                <c:pt idx="197">
                  <c:v>-6.66</c:v>
                </c:pt>
                <c:pt idx="198">
                  <c:v>-8.58</c:v>
                </c:pt>
                <c:pt idx="199">
                  <c:v>-13.53</c:v>
                </c:pt>
                <c:pt idx="200">
                  <c:v>-19.41</c:v>
                </c:pt>
                <c:pt idx="201">
                  <c:v>-10.88</c:v>
                </c:pt>
                <c:pt idx="202">
                  <c:v>-11.18</c:v>
                </c:pt>
                <c:pt idx="203">
                  <c:v>-10.46</c:v>
                </c:pt>
                <c:pt idx="204">
                  <c:v>-6.32</c:v>
                </c:pt>
                <c:pt idx="205">
                  <c:v>-2.3</c:v>
                </c:pt>
                <c:pt idx="206">
                  <c:v>0</c:v>
                </c:pt>
                <c:pt idx="207">
                  <c:v>-0.77</c:v>
                </c:pt>
                <c:pt idx="208">
                  <c:v>-6.63</c:v>
                </c:pt>
                <c:pt idx="209">
                  <c:v>-2.96</c:v>
                </c:pt>
                <c:pt idx="210">
                  <c:v>-1.84</c:v>
                </c:pt>
                <c:pt idx="211">
                  <c:v>0</c:v>
                </c:pt>
                <c:pt idx="212">
                  <c:v>0</c:v>
                </c:pt>
                <c:pt idx="213">
                  <c:v>-1.82</c:v>
                </c:pt>
                <c:pt idx="214">
                  <c:v>-1.39</c:v>
                </c:pt>
                <c:pt idx="215">
                  <c:v>-0.51</c:v>
                </c:pt>
                <c:pt idx="216">
                  <c:v>0</c:v>
                </c:pt>
                <c:pt idx="217">
                  <c:v>0</c:v>
                </c:pt>
                <c:pt idx="218">
                  <c:v>0</c:v>
                </c:pt>
                <c:pt idx="219">
                  <c:v>0</c:v>
                </c:pt>
                <c:pt idx="220">
                  <c:v>0</c:v>
                </c:pt>
                <c:pt idx="221">
                  <c:v>-1.31</c:v>
                </c:pt>
                <c:pt idx="222">
                  <c:v>0</c:v>
                </c:pt>
                <c:pt idx="223">
                  <c:v>-2.81</c:v>
                </c:pt>
                <c:pt idx="224">
                  <c:v>0</c:v>
                </c:pt>
                <c:pt idx="225">
                  <c:v>0</c:v>
                </c:pt>
                <c:pt idx="226">
                  <c:v>0</c:v>
                </c:pt>
                <c:pt idx="227">
                  <c:v>0</c:v>
                </c:pt>
                <c:pt idx="228">
                  <c:v>-3.59</c:v>
                </c:pt>
                <c:pt idx="229">
                  <c:v>0</c:v>
                </c:pt>
                <c:pt idx="230">
                  <c:v>0</c:v>
                </c:pt>
                <c:pt idx="231">
                  <c:v>0</c:v>
                </c:pt>
                <c:pt idx="232">
                  <c:v>0</c:v>
                </c:pt>
                <c:pt idx="233">
                  <c:v>0</c:v>
                </c:pt>
                <c:pt idx="234">
                  <c:v>-1.4</c:v>
                </c:pt>
                <c:pt idx="235">
                  <c:v>0</c:v>
                </c:pt>
                <c:pt idx="236">
                  <c:v>-1.38</c:v>
                </c:pt>
                <c:pt idx="237">
                  <c:v>0</c:v>
                </c:pt>
                <c:pt idx="238">
                  <c:v>0</c:v>
                </c:pt>
                <c:pt idx="239">
                  <c:v>-0.3</c:v>
                </c:pt>
                <c:pt idx="240">
                  <c:v>-3.31</c:v>
                </c:pt>
                <c:pt idx="241">
                  <c:v>0</c:v>
                </c:pt>
                <c:pt idx="242">
                  <c:v>-1.69</c:v>
                </c:pt>
                <c:pt idx="243">
                  <c:v>-0.71</c:v>
                </c:pt>
                <c:pt idx="244">
                  <c:v>0</c:v>
                </c:pt>
                <c:pt idx="245">
                  <c:v>-1.89</c:v>
                </c:pt>
                <c:pt idx="246">
                  <c:v>0</c:v>
                </c:pt>
                <c:pt idx="247">
                  <c:v>-6.06</c:v>
                </c:pt>
                <c:pt idx="248">
                  <c:v>-8.31</c:v>
                </c:pt>
                <c:pt idx="249">
                  <c:v>-1.04</c:v>
                </c:pt>
                <c:pt idx="250">
                  <c:v>-0.77</c:v>
                </c:pt>
                <c:pt idx="251">
                  <c:v>-2.42</c:v>
                </c:pt>
                <c:pt idx="252">
                  <c:v>-7.67</c:v>
                </c:pt>
                <c:pt idx="253">
                  <c:v>-7.61</c:v>
                </c:pt>
                <c:pt idx="254">
                  <c:v>-1.38</c:v>
                </c:pt>
                <c:pt idx="255">
                  <c:v>-0.7</c:v>
                </c:pt>
                <c:pt idx="256">
                  <c:v>0</c:v>
                </c:pt>
                <c:pt idx="257">
                  <c:v>0</c:v>
                </c:pt>
                <c:pt idx="258">
                  <c:v>0</c:v>
                </c:pt>
                <c:pt idx="259">
                  <c:v>0</c:v>
                </c:pt>
                <c:pt idx="260">
                  <c:v>0</c:v>
                </c:pt>
                <c:pt idx="261">
                  <c:v>-1.63</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-3.45</c:v>
                </c:pt>
                <c:pt idx="278">
                  <c:v>-5.89</c:v>
                </c:pt>
                <c:pt idx="279">
                  <c:v>-5.39</c:v>
                </c:pt>
                <c:pt idx="280">
                  <c:v>-3.2</c:v>
                </c:pt>
                <c:pt idx="281">
                  <c:v>-2.73</c:v>
                </c:pt>
                <c:pt idx="282">
                  <c:v>0</c:v>
                </c:pt>
                <c:pt idx="283">
                  <c:v>0</c:v>
                </c:pt>
                <c:pt idx="284">
                  <c:v>0</c:v>
                </c:pt>
                <c:pt idx="285">
                  <c:v>-6.84</c:v>
                </c:pt>
                <c:pt idx="286">
                  <c:v>-5.07</c:v>
                </c:pt>
                <c:pt idx="287">
                  <c:v>-13.68</c:v>
                </c:pt>
                <c:pt idx="288">
                  <c:v>-6.74</c:v>
                </c:pt>
                <c:pt idx="289">
                  <c:v>-3.63</c:v>
                </c:pt>
                <c:pt idx="290">
                  <c:v>-2.01</c:v>
                </c:pt>
                <c:pt idx="291">
                  <c:v>0</c:v>
                </c:pt>
                <c:pt idx="292">
                  <c:v>-6.35</c:v>
                </c:pt>
                <c:pt idx="293">
                  <c:v>0</c:v>
                </c:pt>
                <c:pt idx="294">
                  <c:v>0</c:v>
                </c:pt>
                <c:pt idx="295">
                  <c:v>-1.79</c:v>
                </c:pt>
                <c:pt idx="296">
                  <c:v>-0.1</c:v>
                </c:pt>
                <c:pt idx="297">
                  <c:v>0</c:v>
                </c:pt>
                <c:pt idx="298">
                  <c:v>0</c:v>
                </c:pt>
                <c:pt idx="299">
                  <c:v>0</c:v>
                </c:pt>
                <c:pt idx="300">
                  <c:v>0</c:v>
                </c:pt>
                <c:pt idx="301">
                  <c:v>-7.99</c:v>
                </c:pt>
                <c:pt idx="302">
                  <c:v>-18.93</c:v>
                </c:pt>
                <c:pt idx="303">
                  <c:v>-8.4</c:v>
                </c:pt>
                <c:pt idx="304">
                  <c:v>-3.83</c:v>
                </c:pt>
                <c:pt idx="305">
                  <c:v>-1.82</c:v>
                </c:pt>
                <c:pt idx="306">
                  <c:v>0</c:v>
                </c:pt>
                <c:pt idx="307">
                  <c:v>0</c:v>
                </c:pt>
                <c:pt idx="308">
                  <c:v>-4</c:v>
                </c:pt>
                <c:pt idx="309">
                  <c:v>-6.56</c:v>
                </c:pt>
                <c:pt idx="310">
                  <c:v>0</c:v>
                </c:pt>
                <c:pt idx="311">
                  <c:v>0</c:v>
                </c:pt>
                <c:pt idx="312">
                  <c:v>-0.97</c:v>
                </c:pt>
                <c:pt idx="313">
                  <c:v>0</c:v>
                </c:pt>
                <c:pt idx="314">
                  <c:v>0</c:v>
                </c:pt>
                <c:pt idx="315">
                  <c:v>0</c:v>
                </c:pt>
                <c:pt idx="316">
                  <c:v>0</c:v>
                </c:pt>
                <c:pt idx="317">
                  <c:v>0</c:v>
                </c:pt>
                <c:pt idx="318">
                  <c:v>0</c:v>
                </c:pt>
                <c:pt idx="319">
                  <c:v>0</c:v>
                </c:pt>
                <c:pt idx="320">
                  <c:v>-4.65</c:v>
                </c:pt>
                <c:pt idx="321">
                  <c:v>0</c:v>
                </c:pt>
                <c:pt idx="322">
                  <c:v>-0.85</c:v>
                </c:pt>
                <c:pt idx="323">
                  <c:v>0</c:v>
                </c:pt>
                <c:pt idx="324">
                  <c:v>-5.15</c:v>
                </c:pt>
                <c:pt idx="325">
                  <c:v>-7.71</c:v>
                </c:pt>
                <c:pt idx="326">
                  <c:v>-4.36</c:v>
                </c:pt>
                <c:pt idx="327">
                  <c:v>-13.05</c:v>
                </c:pt>
                <c:pt idx="328">
                  <c:v>-13.12</c:v>
                </c:pt>
                <c:pt idx="329">
                  <c:v>-20.16</c:v>
                </c:pt>
                <c:pt idx="330">
                  <c:v>-12.62</c:v>
                </c:pt>
                <c:pt idx="331">
                  <c:v>-15.93</c:v>
                </c:pt>
                <c:pt idx="332">
                  <c:v>-23.51</c:v>
                </c:pt>
                <c:pt idx="333">
                  <c:v>-17.43</c:v>
                </c:pt>
                <c:pt idx="334">
                  <c:v>-13.05</c:v>
                </c:pt>
                <c:pt idx="335">
                  <c:v>-18.26</c:v>
                </c:pt>
                <c:pt idx="336">
                  <c:v>-13.13</c:v>
                </c:pt>
                <c:pt idx="337">
                  <c:v>-15.13</c:v>
                </c:pt>
                <c:pt idx="338">
                  <c:v>-11.84</c:v>
                </c:pt>
                <c:pt idx="339">
                  <c:v>-10.52</c:v>
                </c:pt>
                <c:pt idx="340">
                  <c:v>-9.81</c:v>
                </c:pt>
                <c:pt idx="341">
                  <c:v>-3.8</c:v>
                </c:pt>
                <c:pt idx="342">
                  <c:v>-0.68</c:v>
                </c:pt>
                <c:pt idx="343">
                  <c:v>-2.11</c:v>
                </c:pt>
                <c:pt idx="344">
                  <c:v>-6.73</c:v>
                </c:pt>
                <c:pt idx="345">
                  <c:v>-8.66</c:v>
                </c:pt>
                <c:pt idx="346">
                  <c:v>-0.35</c:v>
                </c:pt>
                <c:pt idx="347">
                  <c:v>0</c:v>
                </c:pt>
                <c:pt idx="348">
                  <c:v>0</c:v>
                </c:pt>
                <c:pt idx="349">
                  <c:v>0</c:v>
                </c:pt>
                <c:pt idx="350">
                  <c:v>0</c:v>
                </c:pt>
                <c:pt idx="351">
                  <c:v>-3.81</c:v>
                </c:pt>
                <c:pt idx="352">
                  <c:v>0</c:v>
                </c:pt>
                <c:pt idx="353">
                  <c:v>0</c:v>
                </c:pt>
                <c:pt idx="354">
                  <c:v>0</c:v>
                </c:pt>
                <c:pt idx="355">
                  <c:v>0</c:v>
                </c:pt>
                <c:pt idx="356">
                  <c:v>0</c:v>
                </c:pt>
                <c:pt idx="357">
                  <c:v>-0.67</c:v>
                </c:pt>
                <c:pt idx="358">
                  <c:v>0</c:v>
                </c:pt>
                <c:pt idx="359">
                  <c:v>-2.28</c:v>
                </c:pt>
                <c:pt idx="360">
                  <c:v>0</c:v>
                </c:pt>
                <c:pt idx="361">
                  <c:v>-1.7</c:v>
                </c:pt>
                <c:pt idx="362">
                  <c:v>-7.48</c:v>
                </c:pt>
                <c:pt idx="363">
                  <c:v>-8</c:v>
                </c:pt>
                <c:pt idx="364">
                  <c:v>-2.21</c:v>
                </c:pt>
                <c:pt idx="365">
                  <c:v>0</c:v>
                </c:pt>
                <c:pt idx="366">
                  <c:v>0</c:v>
                </c:pt>
                <c:pt idx="367">
                  <c:v>0</c:v>
                </c:pt>
                <c:pt idx="368">
                  <c:v>0</c:v>
                </c:pt>
                <c:pt idx="369">
                  <c:v>0</c:v>
                </c:pt>
                <c:pt idx="370">
                  <c:v>0</c:v>
                </c:pt>
                <c:pt idx="371">
                  <c:v>-0.02</c:v>
                </c:pt>
              </c:numCache>
            </c:numRef>
          </c:val>
          <c:smooth val="0"/>
        </c:ser>
        <c:ser>
          <c:idx val="2"/>
          <c:order val="2"/>
          <c:tx>
            <c:strRef>
              <c:f>Sheet1!$D$1</c:f>
              <c:strCache>
                <c:ptCount val="1"/>
                <c:pt idx="0">
                  <c:v>Minimum risk</c:v>
                </c:pt>
              </c:strCache>
            </c:strRef>
          </c:tx>
          <c:spPr>
            <a:solidFill>
              <a:srgbClr val="2A78D6"/>
            </a:solidFill>
            <a:ln w="190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Sheet1!$D$2:$D$373</c:f>
              <c:numCache>
                <c:formatCode>General</c:formatCode>
                <c:ptCount val="372"/>
                <c:pt idx="0">
                  <c:v>0</c:v>
                </c:pt>
                <c:pt idx="1">
                  <c:v>0</c:v>
                </c:pt>
                <c:pt idx="2">
                  <c:v>0</c:v>
                </c:pt>
                <c:pt idx="3">
                  <c:v>0</c:v>
                </c:pt>
                <c:pt idx="4">
                  <c:v>0</c:v>
                </c:pt>
                <c:pt idx="5">
                  <c:v>-1.96</c:v>
                </c:pt>
                <c:pt idx="6">
                  <c:v>-0.26</c:v>
                </c:pt>
                <c:pt idx="7">
                  <c:v>0</c:v>
                </c:pt>
                <c:pt idx="8">
                  <c:v>0</c:v>
                </c:pt>
                <c:pt idx="9">
                  <c:v>0</c:v>
                </c:pt>
                <c:pt idx="10">
                  <c:v>0</c:v>
                </c:pt>
                <c:pt idx="11">
                  <c:v>0</c:v>
                </c:pt>
                <c:pt idx="12">
                  <c:v>0</c:v>
                </c:pt>
                <c:pt idx="13">
                  <c:v>-2.39</c:v>
                </c:pt>
                <c:pt idx="14">
                  <c:v>-1.94</c:v>
                </c:pt>
                <c:pt idx="15">
                  <c:v>-5.44</c:v>
                </c:pt>
                <c:pt idx="16">
                  <c:v>-4.22</c:v>
                </c:pt>
                <c:pt idx="17">
                  <c:v>-0.28</c:v>
                </c:pt>
                <c:pt idx="18">
                  <c:v>-5.58</c:v>
                </c:pt>
                <c:pt idx="19">
                  <c:v>-4</c:v>
                </c:pt>
                <c:pt idx="20">
                  <c:v>-3.47</c:v>
                </c:pt>
                <c:pt idx="21">
                  <c:v>-0.71</c:v>
                </c:pt>
                <c:pt idx="22">
                  <c:v>0</c:v>
                </c:pt>
                <c:pt idx="23">
                  <c:v>0</c:v>
                </c:pt>
                <c:pt idx="24">
                  <c:v>0</c:v>
                </c:pt>
                <c:pt idx="25">
                  <c:v>0</c:v>
                </c:pt>
                <c:pt idx="26">
                  <c:v>-3.8</c:v>
                </c:pt>
                <c:pt idx="27">
                  <c:v>-3.65</c:v>
                </c:pt>
                <c:pt idx="28">
                  <c:v>-0.27</c:v>
                </c:pt>
                <c:pt idx="29">
                  <c:v>0</c:v>
                </c:pt>
                <c:pt idx="30">
                  <c:v>0</c:v>
                </c:pt>
                <c:pt idx="31">
                  <c:v>-2.14</c:v>
                </c:pt>
                <c:pt idx="32">
                  <c:v>0</c:v>
                </c:pt>
                <c:pt idx="33">
                  <c:v>-1.38</c:v>
                </c:pt>
                <c:pt idx="34">
                  <c:v>0</c:v>
                </c:pt>
                <c:pt idx="35">
                  <c:v>0</c:v>
                </c:pt>
                <c:pt idx="36">
                  <c:v>-2.84</c:v>
                </c:pt>
                <c:pt idx="37">
                  <c:v>0</c:v>
                </c:pt>
                <c:pt idx="38">
                  <c:v>0</c:v>
                </c:pt>
                <c:pt idx="39">
                  <c:v>-3.48</c:v>
                </c:pt>
                <c:pt idx="40">
                  <c:v>-4.73</c:v>
                </c:pt>
                <c:pt idx="41">
                  <c:v>-2.07</c:v>
                </c:pt>
                <c:pt idx="42">
                  <c:v>-7.48</c:v>
                </c:pt>
                <c:pt idx="43">
                  <c:v>-9.45</c:v>
                </c:pt>
                <c:pt idx="44">
                  <c:v>-2.52</c:v>
                </c:pt>
                <c:pt idx="45">
                  <c:v>-4.76</c:v>
                </c:pt>
                <c:pt idx="46">
                  <c:v>-3.78</c:v>
                </c:pt>
                <c:pt idx="47">
                  <c:v>-0.49</c:v>
                </c:pt>
                <c:pt idx="48">
                  <c:v>-7.88</c:v>
                </c:pt>
                <c:pt idx="49">
                  <c:v>-13.35</c:v>
                </c:pt>
                <c:pt idx="50">
                  <c:v>-14.74</c:v>
                </c:pt>
                <c:pt idx="51">
                  <c:v>-10.51</c:v>
                </c:pt>
                <c:pt idx="52">
                  <c:v>-4.69</c:v>
                </c:pt>
                <c:pt idx="53">
                  <c:v>-9.6</c:v>
                </c:pt>
                <c:pt idx="54">
                  <c:v>-11.81</c:v>
                </c:pt>
                <c:pt idx="55">
                  <c:v>-10.48</c:v>
                </c:pt>
                <c:pt idx="56">
                  <c:v>-15.19</c:v>
                </c:pt>
                <c:pt idx="57">
                  <c:v>-14.44</c:v>
                </c:pt>
                <c:pt idx="58">
                  <c:v>-20.9</c:v>
                </c:pt>
                <c:pt idx="59">
                  <c:v>-22.19</c:v>
                </c:pt>
                <c:pt idx="60">
                  <c:v>-20.36</c:v>
                </c:pt>
                <c:pt idx="61">
                  <c:v>-26.8</c:v>
                </c:pt>
                <c:pt idx="62">
                  <c:v>-22.21</c:v>
                </c:pt>
                <c:pt idx="63">
                  <c:v>-13.44</c:v>
                </c:pt>
                <c:pt idx="64">
                  <c:v>-10.97</c:v>
                </c:pt>
                <c:pt idx="65">
                  <c:v>-16.7</c:v>
                </c:pt>
                <c:pt idx="66">
                  <c:v>-12.23</c:v>
                </c:pt>
                <c:pt idx="67">
                  <c:v>-2.54</c:v>
                </c:pt>
                <c:pt idx="68">
                  <c:v>0</c:v>
                </c:pt>
                <c:pt idx="69">
                  <c:v>-2.37</c:v>
                </c:pt>
                <c:pt idx="70">
                  <c:v>0</c:v>
                </c:pt>
                <c:pt idx="71">
                  <c:v>0</c:v>
                </c:pt>
                <c:pt idx="72">
                  <c:v>-10.48</c:v>
                </c:pt>
                <c:pt idx="73">
                  <c:v>-4.96</c:v>
                </c:pt>
                <c:pt idx="74">
                  <c:v>-3.54</c:v>
                </c:pt>
                <c:pt idx="75">
                  <c:v>-0.08</c:v>
                </c:pt>
                <c:pt idx="76">
                  <c:v>0</c:v>
                </c:pt>
                <c:pt idx="77">
                  <c:v>-3.53</c:v>
                </c:pt>
                <c:pt idx="78">
                  <c:v>-6.97</c:v>
                </c:pt>
                <c:pt idx="79">
                  <c:v>-4.65</c:v>
                </c:pt>
                <c:pt idx="80">
                  <c:v>-8.16</c:v>
                </c:pt>
                <c:pt idx="81">
                  <c:v>-8.39</c:v>
                </c:pt>
                <c:pt idx="82">
                  <c:v>-8.02</c:v>
                </c:pt>
                <c:pt idx="83">
                  <c:v>-4.37</c:v>
                </c:pt>
                <c:pt idx="84">
                  <c:v>-4.8</c:v>
                </c:pt>
                <c:pt idx="85">
                  <c:v>-3.99</c:v>
                </c:pt>
                <c:pt idx="86">
                  <c:v>0</c:v>
                </c:pt>
                <c:pt idx="87">
                  <c:v>0</c:v>
                </c:pt>
                <c:pt idx="88">
                  <c:v>-1.37</c:v>
                </c:pt>
                <c:pt idx="89">
                  <c:v>-4.96</c:v>
                </c:pt>
                <c:pt idx="90">
                  <c:v>-10.94</c:v>
                </c:pt>
                <c:pt idx="91">
                  <c:v>-9.51</c:v>
                </c:pt>
                <c:pt idx="92">
                  <c:v>-16.16</c:v>
                </c:pt>
                <c:pt idx="93">
                  <c:v>-16.67</c:v>
                </c:pt>
                <c:pt idx="94">
                  <c:v>-16.42</c:v>
                </c:pt>
                <c:pt idx="95">
                  <c:v>-13.34</c:v>
                </c:pt>
                <c:pt idx="96">
                  <c:v>-17.08</c:v>
                </c:pt>
                <c:pt idx="97">
                  <c:v>-19.31</c:v>
                </c:pt>
                <c:pt idx="98">
                  <c:v>-17.44</c:v>
                </c:pt>
                <c:pt idx="99">
                  <c:v>-14.15</c:v>
                </c:pt>
                <c:pt idx="100">
                  <c:v>-6.84</c:v>
                </c:pt>
                <c:pt idx="101">
                  <c:v>-7.06</c:v>
                </c:pt>
                <c:pt idx="102">
                  <c:v>-9.32</c:v>
                </c:pt>
                <c:pt idx="103">
                  <c:v>-8.52</c:v>
                </c:pt>
                <c:pt idx="104">
                  <c:v>-7.01</c:v>
                </c:pt>
                <c:pt idx="105">
                  <c:v>-4.03</c:v>
                </c:pt>
                <c:pt idx="106">
                  <c:v>-2.27</c:v>
                </c:pt>
                <c:pt idx="107">
                  <c:v>0</c:v>
                </c:pt>
                <c:pt idx="108">
                  <c:v>0</c:v>
                </c:pt>
                <c:pt idx="109">
                  <c:v>0</c:v>
                </c:pt>
                <c:pt idx="110">
                  <c:v>0</c:v>
                </c:pt>
                <c:pt idx="111">
                  <c:v>0</c:v>
                </c:pt>
                <c:pt idx="112">
                  <c:v>0</c:v>
                </c:pt>
                <c:pt idx="113">
                  <c:v>0</c:v>
                </c:pt>
                <c:pt idx="114">
                  <c:v>-2.04</c:v>
                </c:pt>
                <c:pt idx="115">
                  <c:v>-0.02</c:v>
                </c:pt>
                <c:pt idx="116">
                  <c:v>0</c:v>
                </c:pt>
                <c:pt idx="117">
                  <c:v>0</c:v>
                </c:pt>
                <c:pt idx="118">
                  <c:v>0</c:v>
                </c:pt>
                <c:pt idx="119">
                  <c:v>0</c:v>
                </c:pt>
                <c:pt idx="120">
                  <c:v>0</c:v>
                </c:pt>
                <c:pt idx="121">
                  <c:v>0</c:v>
                </c:pt>
                <c:pt idx="122">
                  <c:v>-0.72</c:v>
                </c:pt>
                <c:pt idx="123">
                  <c:v>0</c:v>
                </c:pt>
                <c:pt idx="124">
                  <c:v>0</c:v>
                </c:pt>
                <c:pt idx="125">
                  <c:v>0</c:v>
                </c:pt>
                <c:pt idx="126">
                  <c:v>0</c:v>
                </c:pt>
                <c:pt idx="127">
                  <c:v>-1.12</c:v>
                </c:pt>
                <c:pt idx="128">
                  <c:v>-0.38</c:v>
                </c:pt>
                <c:pt idx="129">
                  <c:v>-3.02</c:v>
                </c:pt>
                <c:pt idx="130">
                  <c:v>-1.13</c:v>
                </c:pt>
                <c:pt idx="131">
                  <c:v>-0.92</c:v>
                </c:pt>
                <c:pt idx="132">
                  <c:v>-0.14</c:v>
                </c:pt>
                <c:pt idx="133">
                  <c:v>0</c:v>
                </c:pt>
                <c:pt idx="134">
                  <c:v>-0.06</c:v>
                </c:pt>
                <c:pt idx="135">
                  <c:v>-0.89</c:v>
                </c:pt>
                <c:pt idx="136">
                  <c:v>-1.99</c:v>
                </c:pt>
                <c:pt idx="137">
                  <c:v>-2.16</c:v>
                </c:pt>
                <c:pt idx="138">
                  <c:v>0</c:v>
                </c:pt>
                <c:pt idx="139">
                  <c:v>0</c:v>
                </c:pt>
                <c:pt idx="140">
                  <c:v>0</c:v>
                </c:pt>
                <c:pt idx="141">
                  <c:v>0</c:v>
                </c:pt>
                <c:pt idx="142">
                  <c:v>0</c:v>
                </c:pt>
                <c:pt idx="143">
                  <c:v>0</c:v>
                </c:pt>
                <c:pt idx="144">
                  <c:v>0</c:v>
                </c:pt>
                <c:pt idx="145">
                  <c:v>0</c:v>
                </c:pt>
                <c:pt idx="146">
                  <c:v>0</c:v>
                </c:pt>
                <c:pt idx="147">
                  <c:v>0</c:v>
                </c:pt>
                <c:pt idx="148">
                  <c:v>0</c:v>
                </c:pt>
                <c:pt idx="149">
                  <c:v>-2.75</c:v>
                </c:pt>
                <c:pt idx="150">
                  <c:v>-4.9</c:v>
                </c:pt>
                <c:pt idx="151">
                  <c:v>-1.68</c:v>
                </c:pt>
                <c:pt idx="152">
                  <c:v>0</c:v>
                </c:pt>
                <c:pt idx="153">
                  <c:v>0</c:v>
                </c:pt>
                <c:pt idx="154">
                  <c:v>0</c:v>
                </c:pt>
                <c:pt idx="155">
                  <c:v>-0.63</c:v>
                </c:pt>
                <c:pt idx="156">
                  <c:v>-6.53</c:v>
                </c:pt>
                <c:pt idx="157">
                  <c:v>-10.44</c:v>
                </c:pt>
                <c:pt idx="158">
                  <c:v>-9.34</c:v>
                </c:pt>
                <c:pt idx="159">
                  <c:v>-7.06</c:v>
                </c:pt>
                <c:pt idx="160">
                  <c:v>-6.13</c:v>
                </c:pt>
                <c:pt idx="161">
                  <c:v>-12.46</c:v>
                </c:pt>
                <c:pt idx="162">
                  <c:v>-9.76</c:v>
                </c:pt>
                <c:pt idx="163">
                  <c:v>-8.28</c:v>
                </c:pt>
                <c:pt idx="164">
                  <c:v>-10.07</c:v>
                </c:pt>
                <c:pt idx="165">
                  <c:v>-18.12</c:v>
                </c:pt>
                <c:pt idx="166">
                  <c:v>-22.76</c:v>
                </c:pt>
                <c:pt idx="167">
                  <c:v>-24.2</c:v>
                </c:pt>
                <c:pt idx="168">
                  <c:v>-32.03</c:v>
                </c:pt>
                <c:pt idx="169">
                  <c:v>-37.55</c:v>
                </c:pt>
                <c:pt idx="170">
                  <c:v>-35.27</c:v>
                </c:pt>
                <c:pt idx="171">
                  <c:v>-35.94</c:v>
                </c:pt>
                <c:pt idx="172">
                  <c:v>-35.23</c:v>
                </c:pt>
                <c:pt idx="173">
                  <c:v>-32.67</c:v>
                </c:pt>
                <c:pt idx="174">
                  <c:v>-30.09</c:v>
                </c:pt>
                <c:pt idx="175">
                  <c:v>-29.09</c:v>
                </c:pt>
                <c:pt idx="176">
                  <c:v>-28.34</c:v>
                </c:pt>
                <c:pt idx="177">
                  <c:v>-28.71</c:v>
                </c:pt>
                <c:pt idx="178">
                  <c:v>-25.05</c:v>
                </c:pt>
                <c:pt idx="179">
                  <c:v>-23.18</c:v>
                </c:pt>
                <c:pt idx="180">
                  <c:v>-23.35</c:v>
                </c:pt>
                <c:pt idx="181">
                  <c:v>-21.73</c:v>
                </c:pt>
                <c:pt idx="182">
                  <c:v>-20.14</c:v>
                </c:pt>
                <c:pt idx="183">
                  <c:v>-19.28</c:v>
                </c:pt>
                <c:pt idx="184">
                  <c:v>-23.45</c:v>
                </c:pt>
                <c:pt idx="185">
                  <c:v>-24.48</c:v>
                </c:pt>
                <c:pt idx="186">
                  <c:v>-20.57</c:v>
                </c:pt>
                <c:pt idx="187">
                  <c:v>-19.94</c:v>
                </c:pt>
                <c:pt idx="188">
                  <c:v>-17.12</c:v>
                </c:pt>
                <c:pt idx="189">
                  <c:v>-15.16</c:v>
                </c:pt>
                <c:pt idx="190">
                  <c:v>-16.75</c:v>
                </c:pt>
                <c:pt idx="191">
                  <c:v>-13.96</c:v>
                </c:pt>
                <c:pt idx="192">
                  <c:v>-14.47</c:v>
                </c:pt>
                <c:pt idx="193">
                  <c:v>-10.66</c:v>
                </c:pt>
                <c:pt idx="194">
                  <c:v>-10.2</c:v>
                </c:pt>
                <c:pt idx="195">
                  <c:v>-6.25</c:v>
                </c:pt>
                <c:pt idx="196">
                  <c:v>-6</c:v>
                </c:pt>
                <c:pt idx="197">
                  <c:v>-7.11</c:v>
                </c:pt>
                <c:pt idx="198">
                  <c:v>-9.01</c:v>
                </c:pt>
                <c:pt idx="199">
                  <c:v>-8.23</c:v>
                </c:pt>
                <c:pt idx="200">
                  <c:v>-10.08</c:v>
                </c:pt>
                <c:pt idx="201">
                  <c:v>-6.52</c:v>
                </c:pt>
                <c:pt idx="202">
                  <c:v>-5.29</c:v>
                </c:pt>
                <c:pt idx="203">
                  <c:v>-2.2</c:v>
                </c:pt>
                <c:pt idx="204">
                  <c:v>-3.6</c:v>
                </c:pt>
                <c:pt idx="205">
                  <c:v>-3.06</c:v>
                </c:pt>
                <c:pt idx="206">
                  <c:v>-0.53</c:v>
                </c:pt>
                <c:pt idx="207">
                  <c:v>0</c:v>
                </c:pt>
                <c:pt idx="208">
                  <c:v>0</c:v>
                </c:pt>
                <c:pt idx="209">
                  <c:v>0</c:v>
                </c:pt>
                <c:pt idx="210">
                  <c:v>0</c:v>
                </c:pt>
                <c:pt idx="211">
                  <c:v>-2.07</c:v>
                </c:pt>
                <c:pt idx="212">
                  <c:v>-1.26</c:v>
                </c:pt>
                <c:pt idx="213">
                  <c:v>-0.98</c:v>
                </c:pt>
                <c:pt idx="214">
                  <c:v>-2.03</c:v>
                </c:pt>
                <c:pt idx="215">
                  <c:v>-3.41</c:v>
                </c:pt>
                <c:pt idx="216">
                  <c:v>0</c:v>
                </c:pt>
                <c:pt idx="217">
                  <c:v>0</c:v>
                </c:pt>
                <c:pt idx="218">
                  <c:v>0</c:v>
                </c:pt>
                <c:pt idx="219">
                  <c:v>0</c:v>
                </c:pt>
                <c:pt idx="220">
                  <c:v>-6.27</c:v>
                </c:pt>
                <c:pt idx="221">
                  <c:v>-4.69</c:v>
                </c:pt>
                <c:pt idx="222">
                  <c:v>-0.34</c:v>
                </c:pt>
                <c:pt idx="223">
                  <c:v>-5.37</c:v>
                </c:pt>
                <c:pt idx="224">
                  <c:v>-5.48</c:v>
                </c:pt>
                <c:pt idx="225">
                  <c:v>-1.94</c:v>
                </c:pt>
                <c:pt idx="226">
                  <c:v>-3.9</c:v>
                </c:pt>
                <c:pt idx="227">
                  <c:v>-3.74</c:v>
                </c:pt>
                <c:pt idx="228">
                  <c:v>-3.21</c:v>
                </c:pt>
                <c:pt idx="229">
                  <c:v>0</c:v>
                </c:pt>
                <c:pt idx="230">
                  <c:v>0</c:v>
                </c:pt>
                <c:pt idx="231">
                  <c:v>0</c:v>
                </c:pt>
                <c:pt idx="232">
                  <c:v>-0.91</c:v>
                </c:pt>
                <c:pt idx="233">
                  <c:v>0</c:v>
                </c:pt>
                <c:pt idx="234">
                  <c:v>-5.09</c:v>
                </c:pt>
                <c:pt idx="235">
                  <c:v>-0.33</c:v>
                </c:pt>
                <c:pt idx="236">
                  <c:v>-1.94</c:v>
                </c:pt>
                <c:pt idx="237">
                  <c:v>0</c:v>
                </c:pt>
                <c:pt idx="238">
                  <c:v>0</c:v>
                </c:pt>
                <c:pt idx="239">
                  <c:v>0</c:v>
                </c:pt>
                <c:pt idx="240">
                  <c:v>0</c:v>
                </c:pt>
                <c:pt idx="241">
                  <c:v>-3.39</c:v>
                </c:pt>
                <c:pt idx="242">
                  <c:v>-4.31</c:v>
                </c:pt>
                <c:pt idx="243">
                  <c:v>-4.84</c:v>
                </c:pt>
                <c:pt idx="244">
                  <c:v>-4.26</c:v>
                </c:pt>
                <c:pt idx="245">
                  <c:v>-9.2</c:v>
                </c:pt>
                <c:pt idx="246">
                  <c:v>-3.65</c:v>
                </c:pt>
                <c:pt idx="247">
                  <c:v>-7.01</c:v>
                </c:pt>
                <c:pt idx="248">
                  <c:v>-4.08</c:v>
                </c:pt>
                <c:pt idx="249">
                  <c:v>-1.92</c:v>
                </c:pt>
                <c:pt idx="250">
                  <c:v>-3.37</c:v>
                </c:pt>
                <c:pt idx="251">
                  <c:v>-0.76</c:v>
                </c:pt>
                <c:pt idx="252">
                  <c:v>0</c:v>
                </c:pt>
                <c:pt idx="253">
                  <c:v>0</c:v>
                </c:pt>
                <c:pt idx="254">
                  <c:v>0</c:v>
                </c:pt>
                <c:pt idx="255">
                  <c:v>-1.97</c:v>
                </c:pt>
                <c:pt idx="256">
                  <c:v>-0.46</c:v>
                </c:pt>
                <c:pt idx="257">
                  <c:v>0</c:v>
                </c:pt>
                <c:pt idx="258">
                  <c:v>-0.65</c:v>
                </c:pt>
                <c:pt idx="259">
                  <c:v>-5.78</c:v>
                </c:pt>
                <c:pt idx="260">
                  <c:v>-5.74</c:v>
                </c:pt>
                <c:pt idx="261">
                  <c:v>-5.95</c:v>
                </c:pt>
                <c:pt idx="262">
                  <c:v>-9.77</c:v>
                </c:pt>
                <c:pt idx="263">
                  <c:v>-5.42</c:v>
                </c:pt>
                <c:pt idx="264">
                  <c:v>-4.74</c:v>
                </c:pt>
                <c:pt idx="265">
                  <c:v>0</c:v>
                </c:pt>
                <c:pt idx="266">
                  <c:v>-0.02</c:v>
                </c:pt>
                <c:pt idx="267">
                  <c:v>0</c:v>
                </c:pt>
                <c:pt idx="268">
                  <c:v>0</c:v>
                </c:pt>
                <c:pt idx="269">
                  <c:v>-2.49</c:v>
                </c:pt>
                <c:pt idx="270">
                  <c:v>-0.75</c:v>
                </c:pt>
                <c:pt idx="271">
                  <c:v>0</c:v>
                </c:pt>
                <c:pt idx="272">
                  <c:v>-2.27</c:v>
                </c:pt>
                <c:pt idx="273">
                  <c:v>0</c:v>
                </c:pt>
                <c:pt idx="274">
                  <c:v>0</c:v>
                </c:pt>
                <c:pt idx="275">
                  <c:v>-4.1</c:v>
                </c:pt>
                <c:pt idx="276">
                  <c:v>-6.6</c:v>
                </c:pt>
                <c:pt idx="277">
                  <c:v>-10.71</c:v>
                </c:pt>
                <c:pt idx="278">
                  <c:v>-7.77</c:v>
                </c:pt>
                <c:pt idx="279">
                  <c:v>-6.16</c:v>
                </c:pt>
                <c:pt idx="280">
                  <c:v>-7.25</c:v>
                </c:pt>
                <c:pt idx="281">
                  <c:v>-4.5</c:v>
                </c:pt>
                <c:pt idx="282">
                  <c:v>-2.57</c:v>
                </c:pt>
                <c:pt idx="283">
                  <c:v>-0.55</c:v>
                </c:pt>
                <c:pt idx="284">
                  <c:v>-1.26</c:v>
                </c:pt>
                <c:pt idx="285">
                  <c:v>-0.2</c:v>
                </c:pt>
                <c:pt idx="286">
                  <c:v>0</c:v>
                </c:pt>
                <c:pt idx="287">
                  <c:v>-6.02</c:v>
                </c:pt>
                <c:pt idx="288">
                  <c:v>-2.79</c:v>
                </c:pt>
                <c:pt idx="289">
                  <c:v>0</c:v>
                </c:pt>
                <c:pt idx="290">
                  <c:v>0</c:v>
                </c:pt>
                <c:pt idx="291">
                  <c:v>0</c:v>
                </c:pt>
                <c:pt idx="292">
                  <c:v>-0.58</c:v>
                </c:pt>
                <c:pt idx="293">
                  <c:v>0</c:v>
                </c:pt>
                <c:pt idx="294">
                  <c:v>0</c:v>
                </c:pt>
                <c:pt idx="295">
                  <c:v>0</c:v>
                </c:pt>
                <c:pt idx="296">
                  <c:v>0</c:v>
                </c:pt>
                <c:pt idx="297">
                  <c:v>-1.51</c:v>
                </c:pt>
                <c:pt idx="298">
                  <c:v>-3.15</c:v>
                </c:pt>
                <c:pt idx="299">
                  <c:v>-0.03</c:v>
                </c:pt>
                <c:pt idx="300">
                  <c:v>0</c:v>
                </c:pt>
                <c:pt idx="301">
                  <c:v>-9.51</c:v>
                </c:pt>
                <c:pt idx="302">
                  <c:v>-15.6</c:v>
                </c:pt>
                <c:pt idx="303">
                  <c:v>-10.96</c:v>
                </c:pt>
                <c:pt idx="304">
                  <c:v>-7.59</c:v>
                </c:pt>
                <c:pt idx="305">
                  <c:v>-9.92</c:v>
                </c:pt>
                <c:pt idx="306">
                  <c:v>-1.65</c:v>
                </c:pt>
                <c:pt idx="307">
                  <c:v>-2.68</c:v>
                </c:pt>
                <c:pt idx="308">
                  <c:v>-2.52</c:v>
                </c:pt>
                <c:pt idx="309">
                  <c:v>-1.39</c:v>
                </c:pt>
                <c:pt idx="310">
                  <c:v>-1.15</c:v>
                </c:pt>
                <c:pt idx="311">
                  <c:v>-1.09</c:v>
                </c:pt>
                <c:pt idx="312">
                  <c:v>-2.59</c:v>
                </c:pt>
                <c:pt idx="313">
                  <c:v>-7.69</c:v>
                </c:pt>
                <c:pt idx="314">
                  <c:v>0</c:v>
                </c:pt>
                <c:pt idx="315">
                  <c:v>0</c:v>
                </c:pt>
                <c:pt idx="316">
                  <c:v>-0.17</c:v>
                </c:pt>
                <c:pt idx="317">
                  <c:v>-1.95</c:v>
                </c:pt>
                <c:pt idx="318">
                  <c:v>0</c:v>
                </c:pt>
                <c:pt idx="319">
                  <c:v>0</c:v>
                </c:pt>
                <c:pt idx="320">
                  <c:v>-6.83</c:v>
                </c:pt>
                <c:pt idx="321">
                  <c:v>-3.69</c:v>
                </c:pt>
                <c:pt idx="322">
                  <c:v>-5.5</c:v>
                </c:pt>
                <c:pt idx="323">
                  <c:v>0</c:v>
                </c:pt>
                <c:pt idx="324">
                  <c:v>-1.58</c:v>
                </c:pt>
                <c:pt idx="325">
                  <c:v>-3.09</c:v>
                </c:pt>
                <c:pt idx="326">
                  <c:v>0</c:v>
                </c:pt>
                <c:pt idx="327">
                  <c:v>-1.94</c:v>
                </c:pt>
                <c:pt idx="328">
                  <c:v>0</c:v>
                </c:pt>
                <c:pt idx="329">
                  <c:v>-4.37</c:v>
                </c:pt>
                <c:pt idx="330">
                  <c:v>-1.77</c:v>
                </c:pt>
                <c:pt idx="331">
                  <c:v>-2.11</c:v>
                </c:pt>
                <c:pt idx="332">
                  <c:v>-10.66</c:v>
                </c:pt>
                <c:pt idx="333">
                  <c:v>-4.41</c:v>
                </c:pt>
                <c:pt idx="334">
                  <c:v>0</c:v>
                </c:pt>
                <c:pt idx="335">
                  <c:v>-1.2</c:v>
                </c:pt>
                <c:pt idx="336">
                  <c:v>-1.62</c:v>
                </c:pt>
                <c:pt idx="337">
                  <c:v>-4.8</c:v>
                </c:pt>
                <c:pt idx="338">
                  <c:v>-1.56</c:v>
                </c:pt>
                <c:pt idx="339">
                  <c:v>0</c:v>
                </c:pt>
                <c:pt idx="340">
                  <c:v>-6</c:v>
                </c:pt>
                <c:pt idx="341">
                  <c:v>-6.16</c:v>
                </c:pt>
                <c:pt idx="342">
                  <c:v>-6.46</c:v>
                </c:pt>
                <c:pt idx="343">
                  <c:v>-10.27</c:v>
                </c:pt>
                <c:pt idx="344">
                  <c:v>-16.22</c:v>
                </c:pt>
                <c:pt idx="345">
                  <c:v>-17.66</c:v>
                </c:pt>
                <c:pt idx="346">
                  <c:v>-15.9</c:v>
                </c:pt>
                <c:pt idx="347">
                  <c:v>-12.69</c:v>
                </c:pt>
                <c:pt idx="348">
                  <c:v>-11.39</c:v>
                </c:pt>
                <c:pt idx="349">
                  <c:v>-11.79</c:v>
                </c:pt>
                <c:pt idx="350">
                  <c:v>-7.97</c:v>
                </c:pt>
                <c:pt idx="351">
                  <c:v>-9.32</c:v>
                </c:pt>
                <c:pt idx="352">
                  <c:v>-9.48</c:v>
                </c:pt>
                <c:pt idx="353">
                  <c:v>-10.28</c:v>
                </c:pt>
                <c:pt idx="354">
                  <c:v>-6.31</c:v>
                </c:pt>
                <c:pt idx="355">
                  <c:v>-0.26</c:v>
                </c:pt>
                <c:pt idx="356">
                  <c:v>0</c:v>
                </c:pt>
                <c:pt idx="357">
                  <c:v>-4.69</c:v>
                </c:pt>
                <c:pt idx="358">
                  <c:v>-3.05</c:v>
                </c:pt>
                <c:pt idx="359">
                  <c:v>-7.85</c:v>
                </c:pt>
                <c:pt idx="360">
                  <c:v>-9.06</c:v>
                </c:pt>
                <c:pt idx="361">
                  <c:v>-6.09</c:v>
                </c:pt>
                <c:pt idx="362">
                  <c:v>-4.52</c:v>
                </c:pt>
                <c:pt idx="363">
                  <c:v>-7.67</c:v>
                </c:pt>
                <c:pt idx="364">
                  <c:v>-9.43</c:v>
                </c:pt>
                <c:pt idx="365">
                  <c:v>-11.21</c:v>
                </c:pt>
                <c:pt idx="366">
                  <c:v>-10.31</c:v>
                </c:pt>
                <c:pt idx="367">
                  <c:v>-8.62</c:v>
                </c:pt>
                <c:pt idx="368">
                  <c:v>-7.63</c:v>
                </c:pt>
                <c:pt idx="369">
                  <c:v>-10.7</c:v>
                </c:pt>
                <c:pt idx="370">
                  <c:v>-6.9</c:v>
                </c:pt>
                <c:pt idx="371">
                  <c:v>-8.1</c:v>
                </c:pt>
              </c:numCache>
            </c:numRef>
          </c:val>
          <c:smooth val="0"/>
        </c:ser>
        <c:ser>
          <c:idx val="3"/>
          <c:order val="3"/>
          <c:tx>
            <c:strRef>
              <c:f>Sheet1!$E$1</c:f>
              <c:strCache>
                <c:ptCount val="1"/>
                <c:pt idx="0">
                  <c:v>Risk parity</c:v>
                </c:pt>
              </c:strCache>
            </c:strRef>
          </c:tx>
          <c:spPr>
            <a:solidFill>
              <a:srgbClr val="1BAF7A"/>
            </a:solidFill>
            <a:ln w="1905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Sheet1!$E$2:$E$373</c:f>
              <c:numCache>
                <c:formatCode>General</c:formatCode>
                <c:ptCount val="372"/>
                <c:pt idx="0">
                  <c:v>0</c:v>
                </c:pt>
                <c:pt idx="1">
                  <c:v>0</c:v>
                </c:pt>
                <c:pt idx="2">
                  <c:v>0</c:v>
                </c:pt>
                <c:pt idx="3">
                  <c:v>0</c:v>
                </c:pt>
                <c:pt idx="4">
                  <c:v>0</c:v>
                </c:pt>
                <c:pt idx="5">
                  <c:v>0</c:v>
                </c:pt>
                <c:pt idx="6">
                  <c:v>0</c:v>
                </c:pt>
                <c:pt idx="7">
                  <c:v>0</c:v>
                </c:pt>
                <c:pt idx="8">
                  <c:v>0</c:v>
                </c:pt>
                <c:pt idx="9">
                  <c:v>-1.39</c:v>
                </c:pt>
                <c:pt idx="10">
                  <c:v>0</c:v>
                </c:pt>
                <c:pt idx="11">
                  <c:v>0</c:v>
                </c:pt>
                <c:pt idx="12">
                  <c:v>0</c:v>
                </c:pt>
                <c:pt idx="13">
                  <c:v>0</c:v>
                </c:pt>
                <c:pt idx="14">
                  <c:v>0</c:v>
                </c:pt>
                <c:pt idx="15">
                  <c:v>0</c:v>
                </c:pt>
                <c:pt idx="16">
                  <c:v>0</c:v>
                </c:pt>
                <c:pt idx="17">
                  <c:v>-0.5</c:v>
                </c:pt>
                <c:pt idx="18">
                  <c:v>-5.46</c:v>
                </c:pt>
                <c:pt idx="19">
                  <c:v>-2.37</c:v>
                </c:pt>
                <c:pt idx="20">
                  <c:v>0</c:v>
                </c:pt>
                <c:pt idx="21">
                  <c:v>0</c:v>
                </c:pt>
                <c:pt idx="22">
                  <c:v>0</c:v>
                </c:pt>
                <c:pt idx="23">
                  <c:v>-1.34</c:v>
                </c:pt>
                <c:pt idx="24">
                  <c:v>0</c:v>
                </c:pt>
                <c:pt idx="25">
                  <c:v>0</c:v>
                </c:pt>
                <c:pt idx="26">
                  <c:v>-3.82</c:v>
                </c:pt>
                <c:pt idx="27">
                  <c:v>-0.92</c:v>
                </c:pt>
                <c:pt idx="28">
                  <c:v>0</c:v>
                </c:pt>
                <c:pt idx="29">
                  <c:v>0</c:v>
                </c:pt>
                <c:pt idx="30">
                  <c:v>0</c:v>
                </c:pt>
                <c:pt idx="31">
                  <c:v>-2.56</c:v>
                </c:pt>
                <c:pt idx="32">
                  <c:v>0</c:v>
                </c:pt>
                <c:pt idx="33">
                  <c:v>-3.34</c:v>
                </c:pt>
                <c:pt idx="34">
                  <c:v>-0.09</c:v>
                </c:pt>
                <c:pt idx="35">
                  <c:v>0</c:v>
                </c:pt>
                <c:pt idx="36">
                  <c:v>-1.37</c:v>
                </c:pt>
                <c:pt idx="37">
                  <c:v>0</c:v>
                </c:pt>
                <c:pt idx="38">
                  <c:v>0</c:v>
                </c:pt>
                <c:pt idx="39">
                  <c:v>0</c:v>
                </c:pt>
                <c:pt idx="40">
                  <c:v>-2.54</c:v>
                </c:pt>
                <c:pt idx="41">
                  <c:v>-0.8</c:v>
                </c:pt>
                <c:pt idx="42">
                  <c:v>-4.53</c:v>
                </c:pt>
                <c:pt idx="43">
                  <c:v>-17.29</c:v>
                </c:pt>
                <c:pt idx="44">
                  <c:v>-12.08</c:v>
                </c:pt>
                <c:pt idx="45">
                  <c:v>-5.7</c:v>
                </c:pt>
                <c:pt idx="46">
                  <c:v>-1.23</c:v>
                </c:pt>
                <c:pt idx="47">
                  <c:v>0</c:v>
                </c:pt>
                <c:pt idx="48">
                  <c:v>-0.83</c:v>
                </c:pt>
                <c:pt idx="49">
                  <c:v>-3.37</c:v>
                </c:pt>
                <c:pt idx="50">
                  <c:v>-1.1</c:v>
                </c:pt>
                <c:pt idx="51">
                  <c:v>0</c:v>
                </c:pt>
                <c:pt idx="52">
                  <c:v>0</c:v>
                </c:pt>
                <c:pt idx="53">
                  <c:v>0</c:v>
                </c:pt>
                <c:pt idx="54">
                  <c:v>-2.69</c:v>
                </c:pt>
                <c:pt idx="55">
                  <c:v>-5.15</c:v>
                </c:pt>
                <c:pt idx="56">
                  <c:v>-9.05</c:v>
                </c:pt>
                <c:pt idx="57">
                  <c:v>-5.05</c:v>
                </c:pt>
                <c:pt idx="58">
                  <c:v>-5.05</c:v>
                </c:pt>
                <c:pt idx="59">
                  <c:v>-1.86</c:v>
                </c:pt>
                <c:pt idx="60">
                  <c:v>-6.02</c:v>
                </c:pt>
                <c:pt idx="61">
                  <c:v>-9.09</c:v>
                </c:pt>
                <c:pt idx="62">
                  <c:v>-1.02</c:v>
                </c:pt>
                <c:pt idx="63">
                  <c:v>0</c:v>
                </c:pt>
                <c:pt idx="64">
                  <c:v>0</c:v>
                </c:pt>
                <c:pt idx="65">
                  <c:v>-2.32</c:v>
                </c:pt>
                <c:pt idx="66">
                  <c:v>-1.47</c:v>
                </c:pt>
                <c:pt idx="67">
                  <c:v>0</c:v>
                </c:pt>
                <c:pt idx="68">
                  <c:v>0</c:v>
                </c:pt>
                <c:pt idx="69">
                  <c:v>0</c:v>
                </c:pt>
                <c:pt idx="70">
                  <c:v>-3.04</c:v>
                </c:pt>
                <c:pt idx="71">
                  <c:v>0</c:v>
                </c:pt>
                <c:pt idx="72">
                  <c:v>-0.57</c:v>
                </c:pt>
                <c:pt idx="73">
                  <c:v>-2.06</c:v>
                </c:pt>
                <c:pt idx="74">
                  <c:v>-5.5</c:v>
                </c:pt>
                <c:pt idx="75">
                  <c:v>0</c:v>
                </c:pt>
                <c:pt idx="76">
                  <c:v>0</c:v>
                </c:pt>
                <c:pt idx="77">
                  <c:v>-1.52</c:v>
                </c:pt>
                <c:pt idx="78">
                  <c:v>-2.25</c:v>
                </c:pt>
                <c:pt idx="79">
                  <c:v>-4.84</c:v>
                </c:pt>
                <c:pt idx="80">
                  <c:v>-12.57</c:v>
                </c:pt>
                <c:pt idx="81">
                  <c:v>-11.71</c:v>
                </c:pt>
                <c:pt idx="82">
                  <c:v>-6.3</c:v>
                </c:pt>
                <c:pt idx="83">
                  <c:v>-3.39</c:v>
                </c:pt>
                <c:pt idx="84">
                  <c:v>-3.36</c:v>
                </c:pt>
                <c:pt idx="85">
                  <c:v>-3.28</c:v>
                </c:pt>
                <c:pt idx="86">
                  <c:v>0</c:v>
                </c:pt>
                <c:pt idx="87">
                  <c:v>-1.45</c:v>
                </c:pt>
                <c:pt idx="88">
                  <c:v>-1.93</c:v>
                </c:pt>
                <c:pt idx="89">
                  <c:v>-7.57</c:v>
                </c:pt>
                <c:pt idx="90">
                  <c:v>-14.83</c:v>
                </c:pt>
                <c:pt idx="91">
                  <c:v>-14.07</c:v>
                </c:pt>
                <c:pt idx="92">
                  <c:v>-21.59</c:v>
                </c:pt>
                <c:pt idx="93">
                  <c:v>-18.4</c:v>
                </c:pt>
                <c:pt idx="94">
                  <c:v>-15.01</c:v>
                </c:pt>
                <c:pt idx="95">
                  <c:v>-16.87</c:v>
                </c:pt>
                <c:pt idx="96">
                  <c:v>-18.85</c:v>
                </c:pt>
                <c:pt idx="97">
                  <c:v>-20.7</c:v>
                </c:pt>
                <c:pt idx="98">
                  <c:v>-20</c:v>
                </c:pt>
                <c:pt idx="99">
                  <c:v>-14.69</c:v>
                </c:pt>
                <c:pt idx="100">
                  <c:v>-8.4</c:v>
                </c:pt>
                <c:pt idx="101">
                  <c:v>-7.76</c:v>
                </c:pt>
                <c:pt idx="102">
                  <c:v>-6.23</c:v>
                </c:pt>
                <c:pt idx="103">
                  <c:v>-3.71</c:v>
                </c:pt>
                <c:pt idx="104">
                  <c:v>-4.47</c:v>
                </c:pt>
                <c:pt idx="105">
                  <c:v>0</c:v>
                </c:pt>
                <c:pt idx="106">
                  <c:v>0</c:v>
                </c:pt>
                <c:pt idx="107">
                  <c:v>0</c:v>
                </c:pt>
                <c:pt idx="108">
                  <c:v>0</c:v>
                </c:pt>
                <c:pt idx="109">
                  <c:v>0</c:v>
                </c:pt>
                <c:pt idx="110">
                  <c:v>-0.4</c:v>
                </c:pt>
                <c:pt idx="111">
                  <c:v>-1</c:v>
                </c:pt>
                <c:pt idx="112">
                  <c:v>0</c:v>
                </c:pt>
                <c:pt idx="113">
                  <c:v>0</c:v>
                </c:pt>
                <c:pt idx="114">
                  <c:v>-3.31</c:v>
                </c:pt>
                <c:pt idx="115">
                  <c:v>-2.61</c:v>
                </c:pt>
                <c:pt idx="116">
                  <c:v>-0.33</c:v>
                </c:pt>
                <c:pt idx="117">
                  <c:v>0</c:v>
                </c:pt>
                <c:pt idx="118">
                  <c:v>0</c:v>
                </c:pt>
                <c:pt idx="119">
                  <c:v>0</c:v>
                </c:pt>
                <c:pt idx="120">
                  <c:v>-1.57</c:v>
                </c:pt>
                <c:pt idx="121">
                  <c:v>0</c:v>
                </c:pt>
                <c:pt idx="122">
                  <c:v>-0.69</c:v>
                </c:pt>
                <c:pt idx="123">
                  <c:v>-2.19</c:v>
                </c:pt>
                <c:pt idx="124">
                  <c:v>0</c:v>
                </c:pt>
                <c:pt idx="125">
                  <c:v>0</c:v>
                </c:pt>
                <c:pt idx="126">
                  <c:v>0</c:v>
                </c:pt>
                <c:pt idx="127">
                  <c:v>-0.86</c:v>
                </c:pt>
                <c:pt idx="128">
                  <c:v>-0.24</c:v>
                </c:pt>
                <c:pt idx="129">
                  <c:v>-2.39</c:v>
                </c:pt>
                <c:pt idx="130">
                  <c:v>0</c:v>
                </c:pt>
                <c:pt idx="131">
                  <c:v>0</c:v>
                </c:pt>
                <c:pt idx="132">
                  <c:v>0</c:v>
                </c:pt>
                <c:pt idx="133">
                  <c:v>0</c:v>
                </c:pt>
                <c:pt idx="134">
                  <c:v>0</c:v>
                </c:pt>
                <c:pt idx="135">
                  <c:v>0</c:v>
                </c:pt>
                <c:pt idx="136">
                  <c:v>-2.49</c:v>
                </c:pt>
                <c:pt idx="137">
                  <c:v>-2.22</c:v>
                </c:pt>
                <c:pt idx="138">
                  <c:v>-2.33</c:v>
                </c:pt>
                <c:pt idx="139">
                  <c:v>-0.51</c:v>
                </c:pt>
                <c:pt idx="140">
                  <c:v>0</c:v>
                </c:pt>
                <c:pt idx="141">
                  <c:v>0</c:v>
                </c:pt>
                <c:pt idx="142">
                  <c:v>0</c:v>
                </c:pt>
                <c:pt idx="143">
                  <c:v>0</c:v>
                </c:pt>
                <c:pt idx="144">
                  <c:v>0</c:v>
                </c:pt>
                <c:pt idx="145">
                  <c:v>-0.2</c:v>
                </c:pt>
                <c:pt idx="146">
                  <c:v>0</c:v>
                </c:pt>
                <c:pt idx="147">
                  <c:v>0</c:v>
                </c:pt>
                <c:pt idx="148">
                  <c:v>0</c:v>
                </c:pt>
                <c:pt idx="149">
                  <c:v>-2.11</c:v>
                </c:pt>
                <c:pt idx="150">
                  <c:v>-5.29</c:v>
                </c:pt>
                <c:pt idx="151">
                  <c:v>-4.27</c:v>
                </c:pt>
                <c:pt idx="152">
                  <c:v>-1</c:v>
                </c:pt>
                <c:pt idx="153">
                  <c:v>0</c:v>
                </c:pt>
                <c:pt idx="154">
                  <c:v>-3.6</c:v>
                </c:pt>
                <c:pt idx="155">
                  <c:v>-4.65</c:v>
                </c:pt>
                <c:pt idx="156">
                  <c:v>-9.69</c:v>
                </c:pt>
                <c:pt idx="157">
                  <c:v>-11.95</c:v>
                </c:pt>
                <c:pt idx="158">
                  <c:v>-13.2</c:v>
                </c:pt>
                <c:pt idx="159">
                  <c:v>-8.84</c:v>
                </c:pt>
                <c:pt idx="160">
                  <c:v>-6.16</c:v>
                </c:pt>
                <c:pt idx="161">
                  <c:v>-13.7</c:v>
                </c:pt>
                <c:pt idx="162">
                  <c:v>-14.39</c:v>
                </c:pt>
                <c:pt idx="163">
                  <c:v>-13.14</c:v>
                </c:pt>
                <c:pt idx="164">
                  <c:v>-21.68</c:v>
                </c:pt>
                <c:pt idx="165">
                  <c:v>-35.28</c:v>
                </c:pt>
                <c:pt idx="166">
                  <c:v>-40.08</c:v>
                </c:pt>
                <c:pt idx="167">
                  <c:v>-38.9</c:v>
                </c:pt>
                <c:pt idx="168">
                  <c:v>-43.4</c:v>
                </c:pt>
                <c:pt idx="169">
                  <c:v>-48.9</c:v>
                </c:pt>
                <c:pt idx="170">
                  <c:v>-44.73</c:v>
                </c:pt>
                <c:pt idx="171">
                  <c:v>-39.26</c:v>
                </c:pt>
                <c:pt idx="172">
                  <c:v>-36.99</c:v>
                </c:pt>
                <c:pt idx="173">
                  <c:v>-36.46</c:v>
                </c:pt>
                <c:pt idx="174">
                  <c:v>-31.93</c:v>
                </c:pt>
                <c:pt idx="175">
                  <c:v>-29.74</c:v>
                </c:pt>
                <c:pt idx="176">
                  <c:v>-26.77</c:v>
                </c:pt>
                <c:pt idx="177">
                  <c:v>-28.77</c:v>
                </c:pt>
                <c:pt idx="178">
                  <c:v>-25.07</c:v>
                </c:pt>
                <c:pt idx="179">
                  <c:v>-22.07</c:v>
                </c:pt>
                <c:pt idx="180">
                  <c:v>-24.17</c:v>
                </c:pt>
                <c:pt idx="181">
                  <c:v>-21.14</c:v>
                </c:pt>
                <c:pt idx="182">
                  <c:v>-16.75</c:v>
                </c:pt>
                <c:pt idx="183">
                  <c:v>-14.88</c:v>
                </c:pt>
                <c:pt idx="184">
                  <c:v>-20.76</c:v>
                </c:pt>
                <c:pt idx="185">
                  <c:v>-24.57</c:v>
                </c:pt>
                <c:pt idx="186">
                  <c:v>-19.72</c:v>
                </c:pt>
                <c:pt idx="187">
                  <c:v>-22.68</c:v>
                </c:pt>
                <c:pt idx="188">
                  <c:v>-15.47</c:v>
                </c:pt>
                <c:pt idx="189">
                  <c:v>-12.38</c:v>
                </c:pt>
                <c:pt idx="190">
                  <c:v>-11.48</c:v>
                </c:pt>
                <c:pt idx="191">
                  <c:v>-5.96</c:v>
                </c:pt>
                <c:pt idx="192">
                  <c:v>-4.34</c:v>
                </c:pt>
                <c:pt idx="193">
                  <c:v>-0.72</c:v>
                </c:pt>
                <c:pt idx="194">
                  <c:v>0</c:v>
                </c:pt>
                <c:pt idx="195">
                  <c:v>0</c:v>
                </c:pt>
                <c:pt idx="196">
                  <c:v>-0.19</c:v>
                </c:pt>
                <c:pt idx="197">
                  <c:v>-1.75</c:v>
                </c:pt>
                <c:pt idx="198">
                  <c:v>-4.71</c:v>
                </c:pt>
                <c:pt idx="199">
                  <c:v>-9.51</c:v>
                </c:pt>
                <c:pt idx="200">
                  <c:v>-16.24</c:v>
                </c:pt>
                <c:pt idx="201">
                  <c:v>-7.04</c:v>
                </c:pt>
                <c:pt idx="202">
                  <c:v>-7.28</c:v>
                </c:pt>
                <c:pt idx="203">
                  <c:v>-7.2</c:v>
                </c:pt>
                <c:pt idx="204">
                  <c:v>-2.94</c:v>
                </c:pt>
                <c:pt idx="205">
                  <c:v>0</c:v>
                </c:pt>
                <c:pt idx="206">
                  <c:v>0</c:v>
                </c:pt>
                <c:pt idx="207">
                  <c:v>-0.38</c:v>
                </c:pt>
                <c:pt idx="208">
                  <c:v>-5.8</c:v>
                </c:pt>
                <c:pt idx="209">
                  <c:v>-2.66</c:v>
                </c:pt>
                <c:pt idx="210">
                  <c:v>-2.39</c:v>
                </c:pt>
                <c:pt idx="211">
                  <c:v>-0.1</c:v>
                </c:pt>
                <c:pt idx="212">
                  <c:v>0</c:v>
                </c:pt>
                <c:pt idx="213">
                  <c:v>-0.8</c:v>
                </c:pt>
                <c:pt idx="214">
                  <c:v>0</c:v>
                </c:pt>
                <c:pt idx="215">
                  <c:v>0</c:v>
                </c:pt>
                <c:pt idx="216">
                  <c:v>0</c:v>
                </c:pt>
                <c:pt idx="217">
                  <c:v>0</c:v>
                </c:pt>
                <c:pt idx="218">
                  <c:v>0</c:v>
                </c:pt>
                <c:pt idx="219">
                  <c:v>0</c:v>
                </c:pt>
                <c:pt idx="220">
                  <c:v>0</c:v>
                </c:pt>
                <c:pt idx="221">
                  <c:v>-0.83</c:v>
                </c:pt>
                <c:pt idx="222">
                  <c:v>0</c:v>
                </c:pt>
                <c:pt idx="223">
                  <c:v>-2.72</c:v>
                </c:pt>
                <c:pt idx="224">
                  <c:v>0</c:v>
                </c:pt>
                <c:pt idx="225">
                  <c:v>0</c:v>
                </c:pt>
                <c:pt idx="226">
                  <c:v>0</c:v>
                </c:pt>
                <c:pt idx="227">
                  <c:v>0</c:v>
                </c:pt>
                <c:pt idx="228">
                  <c:v>-2.55</c:v>
                </c:pt>
                <c:pt idx="229">
                  <c:v>0</c:v>
                </c:pt>
                <c:pt idx="230">
                  <c:v>0</c:v>
                </c:pt>
                <c:pt idx="231">
                  <c:v>0</c:v>
                </c:pt>
                <c:pt idx="232">
                  <c:v>0</c:v>
                </c:pt>
                <c:pt idx="233">
                  <c:v>0</c:v>
                </c:pt>
                <c:pt idx="234">
                  <c:v>-2.43</c:v>
                </c:pt>
                <c:pt idx="235">
                  <c:v>0</c:v>
                </c:pt>
                <c:pt idx="236">
                  <c:v>-1.93</c:v>
                </c:pt>
                <c:pt idx="237">
                  <c:v>0</c:v>
                </c:pt>
                <c:pt idx="238">
                  <c:v>0</c:v>
                </c:pt>
                <c:pt idx="239">
                  <c:v>0</c:v>
                </c:pt>
                <c:pt idx="240">
                  <c:v>-1.52</c:v>
                </c:pt>
                <c:pt idx="241">
                  <c:v>0</c:v>
                </c:pt>
                <c:pt idx="242">
                  <c:v>-0.59</c:v>
                </c:pt>
                <c:pt idx="243">
                  <c:v>-0.73</c:v>
                </c:pt>
                <c:pt idx="244">
                  <c:v>0</c:v>
                </c:pt>
                <c:pt idx="245">
                  <c:v>-2.02</c:v>
                </c:pt>
                <c:pt idx="246">
                  <c:v>-0.12</c:v>
                </c:pt>
                <c:pt idx="247">
                  <c:v>-5.31</c:v>
                </c:pt>
                <c:pt idx="248">
                  <c:v>-7.71</c:v>
                </c:pt>
                <c:pt idx="249">
                  <c:v>-1.83</c:v>
                </c:pt>
                <c:pt idx="250">
                  <c:v>-1.68</c:v>
                </c:pt>
                <c:pt idx="251">
                  <c:v>-3.28</c:v>
                </c:pt>
                <c:pt idx="252">
                  <c:v>-7.68</c:v>
                </c:pt>
                <c:pt idx="253">
                  <c:v>-6.39</c:v>
                </c:pt>
                <c:pt idx="254">
                  <c:v>0</c:v>
                </c:pt>
                <c:pt idx="255">
                  <c:v>0</c:v>
                </c:pt>
                <c:pt idx="256">
                  <c:v>0</c:v>
                </c:pt>
                <c:pt idx="257">
                  <c:v>0</c:v>
                </c:pt>
                <c:pt idx="258">
                  <c:v>0</c:v>
                </c:pt>
                <c:pt idx="259">
                  <c:v>-0.34</c:v>
                </c:pt>
                <c:pt idx="260">
                  <c:v>-0.45</c:v>
                </c:pt>
                <c:pt idx="261">
                  <c:v>-2.42</c:v>
                </c:pt>
                <c:pt idx="262">
                  <c:v>0</c:v>
                </c:pt>
                <c:pt idx="263">
                  <c:v>0</c:v>
                </c:pt>
                <c:pt idx="264">
                  <c:v>0</c:v>
                </c:pt>
                <c:pt idx="265">
                  <c:v>0</c:v>
                </c:pt>
                <c:pt idx="266">
                  <c:v>0</c:v>
                </c:pt>
                <c:pt idx="267">
                  <c:v>0</c:v>
                </c:pt>
                <c:pt idx="268">
                  <c:v>0</c:v>
                </c:pt>
                <c:pt idx="269">
                  <c:v>0</c:v>
                </c:pt>
                <c:pt idx="270">
                  <c:v>0</c:v>
                </c:pt>
                <c:pt idx="271">
                  <c:v>-0.17</c:v>
                </c:pt>
                <c:pt idx="272">
                  <c:v>0</c:v>
                </c:pt>
                <c:pt idx="273">
                  <c:v>0</c:v>
                </c:pt>
                <c:pt idx="274">
                  <c:v>0</c:v>
                </c:pt>
                <c:pt idx="275">
                  <c:v>0</c:v>
                </c:pt>
                <c:pt idx="276">
                  <c:v>0</c:v>
                </c:pt>
                <c:pt idx="277">
                  <c:v>-3.9</c:v>
                </c:pt>
                <c:pt idx="278">
                  <c:v>-4.32</c:v>
                </c:pt>
                <c:pt idx="279">
                  <c:v>-3.82</c:v>
                </c:pt>
                <c:pt idx="280">
                  <c:v>-2.51</c:v>
                </c:pt>
                <c:pt idx="281">
                  <c:v>-1.4</c:v>
                </c:pt>
                <c:pt idx="282">
                  <c:v>0</c:v>
                </c:pt>
                <c:pt idx="283">
                  <c:v>0</c:v>
                </c:pt>
                <c:pt idx="284">
                  <c:v>0</c:v>
                </c:pt>
                <c:pt idx="285">
                  <c:v>-6.47</c:v>
                </c:pt>
                <c:pt idx="286">
                  <c:v>-4.12</c:v>
                </c:pt>
                <c:pt idx="287">
                  <c:v>-12.75</c:v>
                </c:pt>
                <c:pt idx="288">
                  <c:v>-5.46</c:v>
                </c:pt>
                <c:pt idx="289">
                  <c:v>-1.87</c:v>
                </c:pt>
                <c:pt idx="290">
                  <c:v>-0.66</c:v>
                </c:pt>
                <c:pt idx="291">
                  <c:v>0</c:v>
                </c:pt>
                <c:pt idx="292">
                  <c:v>-5.46</c:v>
                </c:pt>
                <c:pt idx="293">
                  <c:v>0</c:v>
                </c:pt>
                <c:pt idx="294">
                  <c:v>0</c:v>
                </c:pt>
                <c:pt idx="295">
                  <c:v>-1.55</c:v>
                </c:pt>
                <c:pt idx="296">
                  <c:v>0</c:v>
                </c:pt>
                <c:pt idx="297">
                  <c:v>0</c:v>
                </c:pt>
                <c:pt idx="298">
                  <c:v>0</c:v>
                </c:pt>
                <c:pt idx="299">
                  <c:v>0</c:v>
                </c:pt>
                <c:pt idx="300">
                  <c:v>0</c:v>
                </c:pt>
                <c:pt idx="301">
                  <c:v>-8.18</c:v>
                </c:pt>
                <c:pt idx="302">
                  <c:v>-22</c:v>
                </c:pt>
                <c:pt idx="303">
                  <c:v>-12.51</c:v>
                </c:pt>
                <c:pt idx="304">
                  <c:v>-6.94</c:v>
                </c:pt>
                <c:pt idx="305">
                  <c:v>-6.62</c:v>
                </c:pt>
                <c:pt idx="306">
                  <c:v>-1.15</c:v>
                </c:pt>
                <c:pt idx="307">
                  <c:v>0</c:v>
                </c:pt>
                <c:pt idx="308">
                  <c:v>-1.92</c:v>
                </c:pt>
                <c:pt idx="309">
                  <c:v>-2.45</c:v>
                </c:pt>
                <c:pt idx="310">
                  <c:v>0</c:v>
                </c:pt>
                <c:pt idx="311">
                  <c:v>0</c:v>
                </c:pt>
                <c:pt idx="312">
                  <c:v>-1.24</c:v>
                </c:pt>
                <c:pt idx="313">
                  <c:v>0</c:v>
                </c:pt>
                <c:pt idx="314">
                  <c:v>0</c:v>
                </c:pt>
                <c:pt idx="315">
                  <c:v>0</c:v>
                </c:pt>
                <c:pt idx="316">
                  <c:v>0</c:v>
                </c:pt>
                <c:pt idx="317">
                  <c:v>0</c:v>
                </c:pt>
                <c:pt idx="318">
                  <c:v>0</c:v>
                </c:pt>
                <c:pt idx="319">
                  <c:v>0</c:v>
                </c:pt>
                <c:pt idx="320">
                  <c:v>-4.55</c:v>
                </c:pt>
                <c:pt idx="321">
                  <c:v>0</c:v>
                </c:pt>
                <c:pt idx="322">
                  <c:v>-2.56</c:v>
                </c:pt>
                <c:pt idx="323">
                  <c:v>0</c:v>
                </c:pt>
                <c:pt idx="324">
                  <c:v>-5.11</c:v>
                </c:pt>
                <c:pt idx="325">
                  <c:v>-5.94</c:v>
                </c:pt>
                <c:pt idx="326">
                  <c:v>-3.06</c:v>
                </c:pt>
                <c:pt idx="327">
                  <c:v>-9.15</c:v>
                </c:pt>
                <c:pt idx="328">
                  <c:v>-8.27</c:v>
                </c:pt>
                <c:pt idx="329">
                  <c:v>-15.42</c:v>
                </c:pt>
                <c:pt idx="330">
                  <c:v>-8.71</c:v>
                </c:pt>
                <c:pt idx="331">
                  <c:v>-11.07</c:v>
                </c:pt>
                <c:pt idx="332">
                  <c:v>-18.66</c:v>
                </c:pt>
                <c:pt idx="333">
                  <c:v>-11.32</c:v>
                </c:pt>
                <c:pt idx="334">
                  <c:v>-5.62</c:v>
                </c:pt>
                <c:pt idx="335">
                  <c:v>-9.8</c:v>
                </c:pt>
                <c:pt idx="336">
                  <c:v>-4.63</c:v>
                </c:pt>
                <c:pt idx="337">
                  <c:v>-7.55</c:v>
                </c:pt>
                <c:pt idx="338">
                  <c:v>-6.94</c:v>
                </c:pt>
                <c:pt idx="339">
                  <c:v>-6.47</c:v>
                </c:pt>
                <c:pt idx="340">
                  <c:v>-9.71</c:v>
                </c:pt>
                <c:pt idx="341">
                  <c:v>-3.62</c:v>
                </c:pt>
                <c:pt idx="342">
                  <c:v>-0.86</c:v>
                </c:pt>
                <c:pt idx="343">
                  <c:v>-3.49</c:v>
                </c:pt>
                <c:pt idx="344">
                  <c:v>-7.99</c:v>
                </c:pt>
                <c:pt idx="345">
                  <c:v>-11.1</c:v>
                </c:pt>
                <c:pt idx="346">
                  <c:v>-3.65</c:v>
                </c:pt>
                <c:pt idx="347">
                  <c:v>0</c:v>
                </c:pt>
                <c:pt idx="348">
                  <c:v>-0.1</c:v>
                </c:pt>
                <c:pt idx="349">
                  <c:v>0</c:v>
                </c:pt>
                <c:pt idx="350">
                  <c:v>0</c:v>
                </c:pt>
                <c:pt idx="351">
                  <c:v>-4.46</c:v>
                </c:pt>
                <c:pt idx="352">
                  <c:v>-2.04</c:v>
                </c:pt>
                <c:pt idx="353">
                  <c:v>-2.23</c:v>
                </c:pt>
                <c:pt idx="354">
                  <c:v>0</c:v>
                </c:pt>
                <c:pt idx="355">
                  <c:v>0</c:v>
                </c:pt>
                <c:pt idx="356">
                  <c:v>0</c:v>
                </c:pt>
                <c:pt idx="357">
                  <c:v>-1.14</c:v>
                </c:pt>
                <c:pt idx="358">
                  <c:v>0</c:v>
                </c:pt>
                <c:pt idx="359">
                  <c:v>-6.16</c:v>
                </c:pt>
                <c:pt idx="360">
                  <c:v>-2.52</c:v>
                </c:pt>
                <c:pt idx="361">
                  <c:v>-3.27</c:v>
                </c:pt>
                <c:pt idx="362">
                  <c:v>-6.17</c:v>
                </c:pt>
                <c:pt idx="363">
                  <c:v>-8.03</c:v>
                </c:pt>
                <c:pt idx="364">
                  <c:v>-4.68</c:v>
                </c:pt>
                <c:pt idx="365">
                  <c:v>-1.85</c:v>
                </c:pt>
                <c:pt idx="366">
                  <c:v>-1.55</c:v>
                </c:pt>
                <c:pt idx="367">
                  <c:v>0</c:v>
                </c:pt>
                <c:pt idx="368">
                  <c:v>0</c:v>
                </c:pt>
                <c:pt idx="369">
                  <c:v>-0.66</c:v>
                </c:pt>
                <c:pt idx="370">
                  <c:v>0</c:v>
                </c:pt>
                <c:pt idx="371">
                  <c:v>0</c:v>
                </c:pt>
              </c:numCache>
            </c:numRef>
          </c:val>
          <c:smooth val="0"/>
        </c:ser>
        <c:ser>
          <c:idx val="4"/>
          <c:order val="4"/>
          <c:tx>
            <c:strRef>
              <c:f>Sheet1!$F$1</c:f>
              <c:strCache>
                <c:ptCount val="1"/>
                <c:pt idx="0">
                  <c:v>Maximum diversification</c:v>
                </c:pt>
              </c:strCache>
            </c:strRef>
          </c:tx>
          <c:spPr>
            <a:solidFill>
              <a:srgbClr val="EB6834"/>
            </a:solidFill>
            <a:ln w="190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Sheet1!$F$2:$F$373</c:f>
              <c:numCache>
                <c:formatCode>General</c:formatCode>
                <c:ptCount val="372"/>
                <c:pt idx="0">
                  <c:v>-1.19</c:v>
                </c:pt>
                <c:pt idx="1">
                  <c:v>0</c:v>
                </c:pt>
                <c:pt idx="2">
                  <c:v>0</c:v>
                </c:pt>
                <c:pt idx="3">
                  <c:v>0</c:v>
                </c:pt>
                <c:pt idx="4">
                  <c:v>0</c:v>
                </c:pt>
                <c:pt idx="5">
                  <c:v>0</c:v>
                </c:pt>
                <c:pt idx="6">
                  <c:v>0</c:v>
                </c:pt>
                <c:pt idx="7">
                  <c:v>0</c:v>
                </c:pt>
                <c:pt idx="8">
                  <c:v>0</c:v>
                </c:pt>
                <c:pt idx="9">
                  <c:v>-4.17</c:v>
                </c:pt>
                <c:pt idx="10">
                  <c:v>0</c:v>
                </c:pt>
                <c:pt idx="11">
                  <c:v>0</c:v>
                </c:pt>
                <c:pt idx="12">
                  <c:v>0</c:v>
                </c:pt>
                <c:pt idx="13">
                  <c:v>0</c:v>
                </c:pt>
                <c:pt idx="14">
                  <c:v>-0.37</c:v>
                </c:pt>
                <c:pt idx="15">
                  <c:v>0</c:v>
                </c:pt>
                <c:pt idx="16">
                  <c:v>0</c:v>
                </c:pt>
                <c:pt idx="17">
                  <c:v>-4.64</c:v>
                </c:pt>
                <c:pt idx="18">
                  <c:v>-9.77</c:v>
                </c:pt>
                <c:pt idx="19">
                  <c:v>-6.69</c:v>
                </c:pt>
                <c:pt idx="20">
                  <c:v>-2.92</c:v>
                </c:pt>
                <c:pt idx="21">
                  <c:v>-2.27</c:v>
                </c:pt>
                <c:pt idx="22">
                  <c:v>0</c:v>
                </c:pt>
                <c:pt idx="23">
                  <c:v>0</c:v>
                </c:pt>
                <c:pt idx="24">
                  <c:v>0</c:v>
                </c:pt>
                <c:pt idx="25">
                  <c:v>-0.47</c:v>
                </c:pt>
                <c:pt idx="26">
                  <c:v>-4.88</c:v>
                </c:pt>
                <c:pt idx="27">
                  <c:v>-5.33</c:v>
                </c:pt>
                <c:pt idx="28">
                  <c:v>0</c:v>
                </c:pt>
                <c:pt idx="29">
                  <c:v>0</c:v>
                </c:pt>
                <c:pt idx="30">
                  <c:v>0</c:v>
                </c:pt>
                <c:pt idx="31">
                  <c:v>0</c:v>
                </c:pt>
                <c:pt idx="32">
                  <c:v>0</c:v>
                </c:pt>
                <c:pt idx="33">
                  <c:v>-5.66</c:v>
                </c:pt>
                <c:pt idx="34">
                  <c:v>-9.45</c:v>
                </c:pt>
                <c:pt idx="35">
                  <c:v>-10.74</c:v>
                </c:pt>
                <c:pt idx="36">
                  <c:v>-13.19</c:v>
                </c:pt>
                <c:pt idx="37">
                  <c:v>-5</c:v>
                </c:pt>
                <c:pt idx="38">
                  <c:v>0</c:v>
                </c:pt>
                <c:pt idx="39">
                  <c:v>-2.16</c:v>
                </c:pt>
                <c:pt idx="40">
                  <c:v>-7.14</c:v>
                </c:pt>
                <c:pt idx="41">
                  <c:v>-4.76</c:v>
                </c:pt>
                <c:pt idx="42">
                  <c:v>-10.37</c:v>
                </c:pt>
                <c:pt idx="43">
                  <c:v>-25.18</c:v>
                </c:pt>
                <c:pt idx="44">
                  <c:v>-19.7</c:v>
                </c:pt>
                <c:pt idx="45">
                  <c:v>-16.97</c:v>
                </c:pt>
                <c:pt idx="46">
                  <c:v>-12</c:v>
                </c:pt>
                <c:pt idx="47">
                  <c:v>-6.37</c:v>
                </c:pt>
                <c:pt idx="48">
                  <c:v>-6.75</c:v>
                </c:pt>
                <c:pt idx="49">
                  <c:v>-12.2</c:v>
                </c:pt>
                <c:pt idx="50">
                  <c:v>-8.51</c:v>
                </c:pt>
                <c:pt idx="51">
                  <c:v>-3.73</c:v>
                </c:pt>
                <c:pt idx="52">
                  <c:v>-0.75</c:v>
                </c:pt>
                <c:pt idx="53">
                  <c:v>-0.86</c:v>
                </c:pt>
                <c:pt idx="54">
                  <c:v>-2.58</c:v>
                </c:pt>
                <c:pt idx="55">
                  <c:v>-2.88</c:v>
                </c:pt>
                <c:pt idx="56">
                  <c:v>-7.61</c:v>
                </c:pt>
                <c:pt idx="57">
                  <c:v>-5.12</c:v>
                </c:pt>
                <c:pt idx="58">
                  <c:v>-5.37</c:v>
                </c:pt>
                <c:pt idx="59">
                  <c:v>-2.52</c:v>
                </c:pt>
                <c:pt idx="60">
                  <c:v>-4.9</c:v>
                </c:pt>
                <c:pt idx="61">
                  <c:v>-4.33</c:v>
                </c:pt>
                <c:pt idx="62">
                  <c:v>-2.52</c:v>
                </c:pt>
                <c:pt idx="63">
                  <c:v>0</c:v>
                </c:pt>
                <c:pt idx="64">
                  <c:v>0</c:v>
                </c:pt>
                <c:pt idx="65">
                  <c:v>-3.05</c:v>
                </c:pt>
                <c:pt idx="66">
                  <c:v>-1.16</c:v>
                </c:pt>
                <c:pt idx="67">
                  <c:v>0</c:v>
                </c:pt>
                <c:pt idx="68">
                  <c:v>0</c:v>
                </c:pt>
                <c:pt idx="69">
                  <c:v>-2.08</c:v>
                </c:pt>
                <c:pt idx="70">
                  <c:v>-0.33</c:v>
                </c:pt>
                <c:pt idx="71">
                  <c:v>0</c:v>
                </c:pt>
                <c:pt idx="72">
                  <c:v>-7.95</c:v>
                </c:pt>
                <c:pt idx="73">
                  <c:v>-3.41</c:v>
                </c:pt>
                <c:pt idx="74">
                  <c:v>-4.7</c:v>
                </c:pt>
                <c:pt idx="75">
                  <c:v>-0.54</c:v>
                </c:pt>
                <c:pt idx="76">
                  <c:v>0</c:v>
                </c:pt>
                <c:pt idx="77">
                  <c:v>-2.03</c:v>
                </c:pt>
                <c:pt idx="78">
                  <c:v>-4.02</c:v>
                </c:pt>
                <c:pt idx="79">
                  <c:v>-2.9</c:v>
                </c:pt>
                <c:pt idx="80">
                  <c:v>-7.72</c:v>
                </c:pt>
                <c:pt idx="81">
                  <c:v>-7.88</c:v>
                </c:pt>
                <c:pt idx="82">
                  <c:v>-6.61</c:v>
                </c:pt>
                <c:pt idx="83">
                  <c:v>-3.58</c:v>
                </c:pt>
                <c:pt idx="84">
                  <c:v>-3.71</c:v>
                </c:pt>
                <c:pt idx="85">
                  <c:v>-3.35</c:v>
                </c:pt>
                <c:pt idx="86">
                  <c:v>0</c:v>
                </c:pt>
                <c:pt idx="87">
                  <c:v>0</c:v>
                </c:pt>
                <c:pt idx="88">
                  <c:v>-1.42</c:v>
                </c:pt>
                <c:pt idx="89">
                  <c:v>-5.51</c:v>
                </c:pt>
                <c:pt idx="90">
                  <c:v>-12.28</c:v>
                </c:pt>
                <c:pt idx="91">
                  <c:v>-10.89</c:v>
                </c:pt>
                <c:pt idx="92">
                  <c:v>-16.59</c:v>
                </c:pt>
                <c:pt idx="93">
                  <c:v>-17.19</c:v>
                </c:pt>
                <c:pt idx="94">
                  <c:v>-17.09</c:v>
                </c:pt>
                <c:pt idx="95">
                  <c:v>-14.78</c:v>
                </c:pt>
                <c:pt idx="96">
                  <c:v>-17.02</c:v>
                </c:pt>
                <c:pt idx="97">
                  <c:v>-19.39</c:v>
                </c:pt>
                <c:pt idx="98">
                  <c:v>-17.37</c:v>
                </c:pt>
                <c:pt idx="99">
                  <c:v>-14.49</c:v>
                </c:pt>
                <c:pt idx="100">
                  <c:v>-7.51</c:v>
                </c:pt>
                <c:pt idx="101">
                  <c:v>-6.76</c:v>
                </c:pt>
                <c:pt idx="102">
                  <c:v>-6.77</c:v>
                </c:pt>
                <c:pt idx="103">
                  <c:v>-5.61</c:v>
                </c:pt>
                <c:pt idx="104">
                  <c:v>-5</c:v>
                </c:pt>
                <c:pt idx="105">
                  <c:v>-1.29</c:v>
                </c:pt>
                <c:pt idx="106">
                  <c:v>0</c:v>
                </c:pt>
                <c:pt idx="107">
                  <c:v>0</c:v>
                </c:pt>
                <c:pt idx="108">
                  <c:v>0</c:v>
                </c:pt>
                <c:pt idx="109">
                  <c:v>0</c:v>
                </c:pt>
                <c:pt idx="110">
                  <c:v>-0.15</c:v>
                </c:pt>
                <c:pt idx="111">
                  <c:v>0</c:v>
                </c:pt>
                <c:pt idx="112">
                  <c:v>0</c:v>
                </c:pt>
                <c:pt idx="113">
                  <c:v>0</c:v>
                </c:pt>
                <c:pt idx="114">
                  <c:v>-3.71</c:v>
                </c:pt>
                <c:pt idx="115">
                  <c:v>-2.7</c:v>
                </c:pt>
                <c:pt idx="116">
                  <c:v>-0.75</c:v>
                </c:pt>
                <c:pt idx="117">
                  <c:v>0</c:v>
                </c:pt>
                <c:pt idx="118">
                  <c:v>0</c:v>
                </c:pt>
                <c:pt idx="119">
                  <c:v>0</c:v>
                </c:pt>
                <c:pt idx="120">
                  <c:v>-0.44</c:v>
                </c:pt>
                <c:pt idx="121">
                  <c:v>0</c:v>
                </c:pt>
                <c:pt idx="122">
                  <c:v>0</c:v>
                </c:pt>
                <c:pt idx="123">
                  <c:v>0</c:v>
                </c:pt>
                <c:pt idx="124">
                  <c:v>0</c:v>
                </c:pt>
                <c:pt idx="125">
                  <c:v>0</c:v>
                </c:pt>
                <c:pt idx="126">
                  <c:v>0</c:v>
                </c:pt>
                <c:pt idx="127">
                  <c:v>-0.49</c:v>
                </c:pt>
                <c:pt idx="128">
                  <c:v>-0.12</c:v>
                </c:pt>
                <c:pt idx="129">
                  <c:v>-2.52</c:v>
                </c:pt>
                <c:pt idx="130">
                  <c:v>0</c:v>
                </c:pt>
                <c:pt idx="131">
                  <c:v>0</c:v>
                </c:pt>
                <c:pt idx="132">
                  <c:v>0</c:v>
                </c:pt>
                <c:pt idx="133">
                  <c:v>0</c:v>
                </c:pt>
                <c:pt idx="134">
                  <c:v>0</c:v>
                </c:pt>
                <c:pt idx="135">
                  <c:v>-1.49</c:v>
                </c:pt>
                <c:pt idx="136">
                  <c:v>-3.84</c:v>
                </c:pt>
                <c:pt idx="137">
                  <c:v>-3.98</c:v>
                </c:pt>
                <c:pt idx="138">
                  <c:v>-1.8</c:v>
                </c:pt>
                <c:pt idx="139">
                  <c:v>-0.74</c:v>
                </c:pt>
                <c:pt idx="140">
                  <c:v>-0.99</c:v>
                </c:pt>
                <c:pt idx="141">
                  <c:v>-0.74</c:v>
                </c:pt>
                <c:pt idx="142">
                  <c:v>0</c:v>
                </c:pt>
                <c:pt idx="143">
                  <c:v>-0.43</c:v>
                </c:pt>
                <c:pt idx="144">
                  <c:v>0</c:v>
                </c:pt>
                <c:pt idx="145">
                  <c:v>0</c:v>
                </c:pt>
                <c:pt idx="146">
                  <c:v>0</c:v>
                </c:pt>
                <c:pt idx="147">
                  <c:v>0</c:v>
                </c:pt>
                <c:pt idx="148">
                  <c:v>0</c:v>
                </c:pt>
                <c:pt idx="149">
                  <c:v>-1.27</c:v>
                </c:pt>
                <c:pt idx="150">
                  <c:v>-2.42</c:v>
                </c:pt>
                <c:pt idx="151">
                  <c:v>-0.55</c:v>
                </c:pt>
                <c:pt idx="152">
                  <c:v>0</c:v>
                </c:pt>
                <c:pt idx="153">
                  <c:v>0</c:v>
                </c:pt>
                <c:pt idx="154">
                  <c:v>-3.46</c:v>
                </c:pt>
                <c:pt idx="155">
                  <c:v>-5.04</c:v>
                </c:pt>
                <c:pt idx="156">
                  <c:v>-10.46</c:v>
                </c:pt>
                <c:pt idx="157">
                  <c:v>-15.08</c:v>
                </c:pt>
                <c:pt idx="158">
                  <c:v>-17.33</c:v>
                </c:pt>
                <c:pt idx="159">
                  <c:v>-13.69</c:v>
                </c:pt>
                <c:pt idx="160">
                  <c:v>-12.39</c:v>
                </c:pt>
                <c:pt idx="161">
                  <c:v>-18.27</c:v>
                </c:pt>
                <c:pt idx="162">
                  <c:v>-19.94</c:v>
                </c:pt>
                <c:pt idx="163">
                  <c:v>-21.28</c:v>
                </c:pt>
                <c:pt idx="164">
                  <c:v>-29.94</c:v>
                </c:pt>
                <c:pt idx="165">
                  <c:v>-37.83</c:v>
                </c:pt>
                <c:pt idx="166">
                  <c:v>-42.39</c:v>
                </c:pt>
                <c:pt idx="167">
                  <c:v>-43.49</c:v>
                </c:pt>
                <c:pt idx="168">
                  <c:v>-49.32</c:v>
                </c:pt>
                <c:pt idx="169">
                  <c:v>-53.62</c:v>
                </c:pt>
                <c:pt idx="170">
                  <c:v>-48.99</c:v>
                </c:pt>
                <c:pt idx="171">
                  <c:v>-47.93</c:v>
                </c:pt>
                <c:pt idx="172">
                  <c:v>-47.3</c:v>
                </c:pt>
                <c:pt idx="173">
                  <c:v>-46.74</c:v>
                </c:pt>
                <c:pt idx="174">
                  <c:v>-44.67</c:v>
                </c:pt>
                <c:pt idx="175">
                  <c:v>-43.54</c:v>
                </c:pt>
                <c:pt idx="176">
                  <c:v>-41.2</c:v>
                </c:pt>
                <c:pt idx="177">
                  <c:v>-45.01</c:v>
                </c:pt>
                <c:pt idx="178">
                  <c:v>-42.36</c:v>
                </c:pt>
                <c:pt idx="179">
                  <c:v>-40.28</c:v>
                </c:pt>
                <c:pt idx="180">
                  <c:v>-39.74</c:v>
                </c:pt>
                <c:pt idx="181">
                  <c:v>-36.95</c:v>
                </c:pt>
                <c:pt idx="182">
                  <c:v>-34.29</c:v>
                </c:pt>
                <c:pt idx="183">
                  <c:v>-32.96</c:v>
                </c:pt>
                <c:pt idx="184">
                  <c:v>-38.08</c:v>
                </c:pt>
                <c:pt idx="185">
                  <c:v>-41.38</c:v>
                </c:pt>
                <c:pt idx="186">
                  <c:v>-38.33</c:v>
                </c:pt>
                <c:pt idx="187">
                  <c:v>-39.79</c:v>
                </c:pt>
                <c:pt idx="188">
                  <c:v>-34.38</c:v>
                </c:pt>
                <c:pt idx="189">
                  <c:v>-32.59</c:v>
                </c:pt>
                <c:pt idx="190">
                  <c:v>-32.42</c:v>
                </c:pt>
                <c:pt idx="191">
                  <c:v>-29.1</c:v>
                </c:pt>
                <c:pt idx="192">
                  <c:v>-26.5</c:v>
                </c:pt>
                <c:pt idx="193">
                  <c:v>-23.19</c:v>
                </c:pt>
                <c:pt idx="194">
                  <c:v>-21.09</c:v>
                </c:pt>
                <c:pt idx="195">
                  <c:v>-19.19</c:v>
                </c:pt>
                <c:pt idx="196">
                  <c:v>-18.38</c:v>
                </c:pt>
                <c:pt idx="197">
                  <c:v>-20.02</c:v>
                </c:pt>
                <c:pt idx="198">
                  <c:v>-19.15</c:v>
                </c:pt>
                <c:pt idx="199">
                  <c:v>-22.39</c:v>
                </c:pt>
                <c:pt idx="200">
                  <c:v>-30.94</c:v>
                </c:pt>
                <c:pt idx="201">
                  <c:v>-25.2</c:v>
                </c:pt>
                <c:pt idx="202">
                  <c:v>-27.72</c:v>
                </c:pt>
                <c:pt idx="203">
                  <c:v>-29.2</c:v>
                </c:pt>
                <c:pt idx="204">
                  <c:v>-24.42</c:v>
                </c:pt>
                <c:pt idx="205">
                  <c:v>-22.99</c:v>
                </c:pt>
                <c:pt idx="206">
                  <c:v>-22.44</c:v>
                </c:pt>
                <c:pt idx="207">
                  <c:v>-24.77</c:v>
                </c:pt>
                <c:pt idx="208">
                  <c:v>-26.29</c:v>
                </c:pt>
                <c:pt idx="209">
                  <c:v>-25.15</c:v>
                </c:pt>
                <c:pt idx="210">
                  <c:v>-28.3</c:v>
                </c:pt>
                <c:pt idx="211">
                  <c:v>-26.11</c:v>
                </c:pt>
                <c:pt idx="212">
                  <c:v>-22.57</c:v>
                </c:pt>
                <c:pt idx="213">
                  <c:v>-25.72</c:v>
                </c:pt>
                <c:pt idx="214">
                  <c:v>-24.93</c:v>
                </c:pt>
                <c:pt idx="215">
                  <c:v>-22.91</c:v>
                </c:pt>
                <c:pt idx="216">
                  <c:v>-18.4</c:v>
                </c:pt>
                <c:pt idx="217">
                  <c:v>-16.1</c:v>
                </c:pt>
                <c:pt idx="218">
                  <c:v>-10.69</c:v>
                </c:pt>
                <c:pt idx="219">
                  <c:v>-4.56</c:v>
                </c:pt>
                <c:pt idx="220">
                  <c:v>-0.8</c:v>
                </c:pt>
                <c:pt idx="221">
                  <c:v>-2.08</c:v>
                </c:pt>
                <c:pt idx="222">
                  <c:v>0</c:v>
                </c:pt>
                <c:pt idx="223">
                  <c:v>-0.86</c:v>
                </c:pt>
                <c:pt idx="224">
                  <c:v>0</c:v>
                </c:pt>
                <c:pt idx="225">
                  <c:v>0</c:v>
                </c:pt>
                <c:pt idx="226">
                  <c:v>-0.79</c:v>
                </c:pt>
                <c:pt idx="227">
                  <c:v>0</c:v>
                </c:pt>
                <c:pt idx="228">
                  <c:v>0</c:v>
                </c:pt>
                <c:pt idx="229">
                  <c:v>0</c:v>
                </c:pt>
                <c:pt idx="230">
                  <c:v>-4.54</c:v>
                </c:pt>
                <c:pt idx="231">
                  <c:v>-6.04</c:v>
                </c:pt>
                <c:pt idx="232">
                  <c:v>-2.29</c:v>
                </c:pt>
                <c:pt idx="233">
                  <c:v>0</c:v>
                </c:pt>
                <c:pt idx="234">
                  <c:v>0</c:v>
                </c:pt>
                <c:pt idx="235">
                  <c:v>0</c:v>
                </c:pt>
                <c:pt idx="236">
                  <c:v>-1.03</c:v>
                </c:pt>
                <c:pt idx="237">
                  <c:v>0</c:v>
                </c:pt>
                <c:pt idx="238">
                  <c:v>0</c:v>
                </c:pt>
                <c:pt idx="239">
                  <c:v>-0.93</c:v>
                </c:pt>
                <c:pt idx="240">
                  <c:v>0</c:v>
                </c:pt>
                <c:pt idx="241">
                  <c:v>0</c:v>
                </c:pt>
                <c:pt idx="242">
                  <c:v>-0.45</c:v>
                </c:pt>
                <c:pt idx="243">
                  <c:v>0</c:v>
                </c:pt>
                <c:pt idx="244">
                  <c:v>0</c:v>
                </c:pt>
                <c:pt idx="245">
                  <c:v>-2.78</c:v>
                </c:pt>
                <c:pt idx="246">
                  <c:v>-0.13</c:v>
                </c:pt>
                <c:pt idx="247">
                  <c:v>-5.42</c:v>
                </c:pt>
                <c:pt idx="248">
                  <c:v>-8.74</c:v>
                </c:pt>
                <c:pt idx="249">
                  <c:v>-5.4</c:v>
                </c:pt>
                <c:pt idx="250">
                  <c:v>-5.57</c:v>
                </c:pt>
                <c:pt idx="251">
                  <c:v>-4</c:v>
                </c:pt>
                <c:pt idx="252">
                  <c:v>-7.15</c:v>
                </c:pt>
                <c:pt idx="253">
                  <c:v>-4.17</c:v>
                </c:pt>
                <c:pt idx="254">
                  <c:v>0</c:v>
                </c:pt>
                <c:pt idx="255">
                  <c:v>-0.12</c:v>
                </c:pt>
                <c:pt idx="256">
                  <c:v>0</c:v>
                </c:pt>
                <c:pt idx="257">
                  <c:v>0</c:v>
                </c:pt>
                <c:pt idx="258">
                  <c:v>0</c:v>
                </c:pt>
                <c:pt idx="259">
                  <c:v>-3.63</c:v>
                </c:pt>
                <c:pt idx="260">
                  <c:v>-3.81</c:v>
                </c:pt>
                <c:pt idx="261">
                  <c:v>-6.22</c:v>
                </c:pt>
                <c:pt idx="262">
                  <c:v>-8.41</c:v>
                </c:pt>
                <c:pt idx="263">
                  <c:v>-4.74</c:v>
                </c:pt>
                <c:pt idx="264">
                  <c:v>-2.55</c:v>
                </c:pt>
                <c:pt idx="265">
                  <c:v>0</c:v>
                </c:pt>
                <c:pt idx="266">
                  <c:v>0</c:v>
                </c:pt>
                <c:pt idx="267">
                  <c:v>0</c:v>
                </c:pt>
                <c:pt idx="268">
                  <c:v>0</c:v>
                </c:pt>
                <c:pt idx="269">
                  <c:v>-1.4</c:v>
                </c:pt>
                <c:pt idx="270">
                  <c:v>0</c:v>
                </c:pt>
                <c:pt idx="271">
                  <c:v>0</c:v>
                </c:pt>
                <c:pt idx="272">
                  <c:v>-1.18</c:v>
                </c:pt>
                <c:pt idx="273">
                  <c:v>0</c:v>
                </c:pt>
                <c:pt idx="274">
                  <c:v>0</c:v>
                </c:pt>
                <c:pt idx="275">
                  <c:v>-1.75</c:v>
                </c:pt>
                <c:pt idx="276">
                  <c:v>0</c:v>
                </c:pt>
                <c:pt idx="277">
                  <c:v>-3.09</c:v>
                </c:pt>
                <c:pt idx="278">
                  <c:v>-1.34</c:v>
                </c:pt>
                <c:pt idx="279">
                  <c:v>0</c:v>
                </c:pt>
                <c:pt idx="280">
                  <c:v>0</c:v>
                </c:pt>
                <c:pt idx="281">
                  <c:v>0</c:v>
                </c:pt>
                <c:pt idx="282">
                  <c:v>-0.21</c:v>
                </c:pt>
                <c:pt idx="283">
                  <c:v>0</c:v>
                </c:pt>
                <c:pt idx="284">
                  <c:v>-0.12</c:v>
                </c:pt>
                <c:pt idx="285">
                  <c:v>-2.97</c:v>
                </c:pt>
                <c:pt idx="286">
                  <c:v>-2.83</c:v>
                </c:pt>
                <c:pt idx="287">
                  <c:v>-9.81</c:v>
                </c:pt>
                <c:pt idx="288">
                  <c:v>-5.77</c:v>
                </c:pt>
                <c:pt idx="289">
                  <c:v>-2.71</c:v>
                </c:pt>
                <c:pt idx="290">
                  <c:v>-1.17</c:v>
                </c:pt>
                <c:pt idx="291">
                  <c:v>0</c:v>
                </c:pt>
                <c:pt idx="292">
                  <c:v>-4.57</c:v>
                </c:pt>
                <c:pt idx="293">
                  <c:v>0</c:v>
                </c:pt>
                <c:pt idx="294">
                  <c:v>0</c:v>
                </c:pt>
                <c:pt idx="295">
                  <c:v>0</c:v>
                </c:pt>
                <c:pt idx="296">
                  <c:v>-0.71</c:v>
                </c:pt>
                <c:pt idx="297">
                  <c:v>-0.93</c:v>
                </c:pt>
                <c:pt idx="298">
                  <c:v>0</c:v>
                </c:pt>
                <c:pt idx="299">
                  <c:v>0</c:v>
                </c:pt>
                <c:pt idx="300">
                  <c:v>0</c:v>
                </c:pt>
                <c:pt idx="301">
                  <c:v>-4.49</c:v>
                </c:pt>
                <c:pt idx="302">
                  <c:v>-13.56</c:v>
                </c:pt>
                <c:pt idx="303">
                  <c:v>-0.51</c:v>
                </c:pt>
                <c:pt idx="304">
                  <c:v>0</c:v>
                </c:pt>
                <c:pt idx="305">
                  <c:v>-0.67</c:v>
                </c:pt>
                <c:pt idx="306">
                  <c:v>0</c:v>
                </c:pt>
                <c:pt idx="307">
                  <c:v>0</c:v>
                </c:pt>
                <c:pt idx="308">
                  <c:v>-1.49</c:v>
                </c:pt>
                <c:pt idx="309">
                  <c:v>-2.33</c:v>
                </c:pt>
                <c:pt idx="310">
                  <c:v>0</c:v>
                </c:pt>
                <c:pt idx="311">
                  <c:v>0</c:v>
                </c:pt>
                <c:pt idx="312">
                  <c:v>0</c:v>
                </c:pt>
                <c:pt idx="313">
                  <c:v>-2.19</c:v>
                </c:pt>
                <c:pt idx="314">
                  <c:v>-4.32</c:v>
                </c:pt>
                <c:pt idx="315">
                  <c:v>-2.95</c:v>
                </c:pt>
                <c:pt idx="316">
                  <c:v>-3.77</c:v>
                </c:pt>
                <c:pt idx="317">
                  <c:v>0</c:v>
                </c:pt>
                <c:pt idx="318">
                  <c:v>-1.72</c:v>
                </c:pt>
                <c:pt idx="319">
                  <c:v>-1.21</c:v>
                </c:pt>
                <c:pt idx="320">
                  <c:v>-7.51</c:v>
                </c:pt>
                <c:pt idx="321">
                  <c:v>-3.34</c:v>
                </c:pt>
                <c:pt idx="322">
                  <c:v>-8.45</c:v>
                </c:pt>
                <c:pt idx="323">
                  <c:v>-7.81</c:v>
                </c:pt>
                <c:pt idx="324">
                  <c:v>-13.61</c:v>
                </c:pt>
                <c:pt idx="325">
                  <c:v>-12.46</c:v>
                </c:pt>
                <c:pt idx="326">
                  <c:v>-7.72</c:v>
                </c:pt>
                <c:pt idx="327">
                  <c:v>-15.32</c:v>
                </c:pt>
                <c:pt idx="328">
                  <c:v>-15.4</c:v>
                </c:pt>
                <c:pt idx="329">
                  <c:v>-21.44</c:v>
                </c:pt>
                <c:pt idx="330">
                  <c:v>-16.37</c:v>
                </c:pt>
                <c:pt idx="331">
                  <c:v>-15.99</c:v>
                </c:pt>
                <c:pt idx="332">
                  <c:v>-18.05</c:v>
                </c:pt>
                <c:pt idx="333">
                  <c:v>-11.15</c:v>
                </c:pt>
                <c:pt idx="334">
                  <c:v>-6.5</c:v>
                </c:pt>
                <c:pt idx="335">
                  <c:v>-10.42</c:v>
                </c:pt>
                <c:pt idx="336">
                  <c:v>-5.65</c:v>
                </c:pt>
                <c:pt idx="337">
                  <c:v>-9.43</c:v>
                </c:pt>
                <c:pt idx="338">
                  <c:v>-5.27</c:v>
                </c:pt>
                <c:pt idx="339">
                  <c:v>-6.09</c:v>
                </c:pt>
                <c:pt idx="340">
                  <c:v>-7.02</c:v>
                </c:pt>
                <c:pt idx="341">
                  <c:v>-3.07</c:v>
                </c:pt>
                <c:pt idx="342">
                  <c:v>-3.3</c:v>
                </c:pt>
                <c:pt idx="343">
                  <c:v>-3.36</c:v>
                </c:pt>
                <c:pt idx="344">
                  <c:v>-6.98</c:v>
                </c:pt>
                <c:pt idx="345">
                  <c:v>-11.6</c:v>
                </c:pt>
                <c:pt idx="346">
                  <c:v>-6.71</c:v>
                </c:pt>
                <c:pt idx="347">
                  <c:v>0</c:v>
                </c:pt>
                <c:pt idx="348">
                  <c:v>-2.1</c:v>
                </c:pt>
                <c:pt idx="349">
                  <c:v>-1.22</c:v>
                </c:pt>
                <c:pt idx="350">
                  <c:v>0</c:v>
                </c:pt>
                <c:pt idx="351">
                  <c:v>-2.84</c:v>
                </c:pt>
                <c:pt idx="352">
                  <c:v>0</c:v>
                </c:pt>
                <c:pt idx="353">
                  <c:v>0</c:v>
                </c:pt>
                <c:pt idx="354">
                  <c:v>-0.17</c:v>
                </c:pt>
                <c:pt idx="355">
                  <c:v>0</c:v>
                </c:pt>
                <c:pt idx="356">
                  <c:v>-0.92</c:v>
                </c:pt>
                <c:pt idx="357">
                  <c:v>-3.74</c:v>
                </c:pt>
                <c:pt idx="358">
                  <c:v>-0.06</c:v>
                </c:pt>
                <c:pt idx="359">
                  <c:v>-4.15</c:v>
                </c:pt>
                <c:pt idx="360">
                  <c:v>-0.14</c:v>
                </c:pt>
                <c:pt idx="361">
                  <c:v>0</c:v>
                </c:pt>
                <c:pt idx="362">
                  <c:v>-0.19</c:v>
                </c:pt>
                <c:pt idx="363">
                  <c:v>-6.34</c:v>
                </c:pt>
                <c:pt idx="364">
                  <c:v>-4.05</c:v>
                </c:pt>
                <c:pt idx="365">
                  <c:v>-0.77</c:v>
                </c:pt>
                <c:pt idx="366">
                  <c:v>-0.27</c:v>
                </c:pt>
                <c:pt idx="367">
                  <c:v>0</c:v>
                </c:pt>
                <c:pt idx="368">
                  <c:v>0</c:v>
                </c:pt>
                <c:pt idx="369">
                  <c:v>0</c:v>
                </c:pt>
                <c:pt idx="370">
                  <c:v>0</c:v>
                </c:pt>
                <c:pt idx="37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orientation val="minMax"/>
          <c:max val="0"/>
          <c:min val="-60"/>
        </c:scaling>
        <c:delete val="0"/>
        <c:axPos val="l"/>
        <c:majorGridlines>
          <c:spPr>
            <a:ln w="6350" cap="flat">
              <a:solidFill>
                <a:srgbClr val="E3E7ED"/>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Maximum diversification: growth of $1 (log scale)</a:t>
            </a:r>
          </a:p>
        </c:rich>
      </c:tx>
      <c:layout/>
      <c:overlay val="0"/>
    </c:title>
    <c:autoTitleDeleted val="0"/>
    <c:plotArea>
      <c:layout/>
      <c:lineChart>
        <c:varyColors val="0"/>
        <c:ser>
          <c:idx val="0"/>
          <c:order val="0"/>
          <c:tx>
            <c:strRef>
              <c:f>Sheet1!$B$1</c:f>
              <c:strCache>
                <c:ptCount val="1"/>
                <c:pt idx="0">
                  <c:v>Single factor</c:v>
                </c:pt>
              </c:strCache>
            </c:strRef>
          </c:tx>
          <c:spPr>
            <a:solidFill>
              <a:srgbClr val="1F2D5C"/>
            </a:solidFill>
            <a:ln w="19050" cap="flat">
              <a:solidFill>
                <a:srgbClr val="1F2D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2D5C"/>
              </a:solidFill>
              <a:ln w="9525" cap="flat">
                <a:solidFill>
                  <a:srgbClr val="1F2D5C"/>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0.9881</c:v>
                </c:pt>
                <c:pt idx="1">
                  <c:v>1.0571</c:v>
                </c:pt>
                <c:pt idx="2">
                  <c:v>1.1229</c:v>
                </c:pt>
                <c:pt idx="3">
                  <c:v>1.1288</c:v>
                </c:pt>
                <c:pt idx="4">
                  <c:v>1.1672</c:v>
                </c:pt>
                <c:pt idx="5">
                  <c:v>1.1712</c:v>
                </c:pt>
                <c:pt idx="6">
                  <c:v>1.2282</c:v>
                </c:pt>
                <c:pt idx="7">
                  <c:v>1.2571</c:v>
                </c:pt>
                <c:pt idx="8">
                  <c:v>1.2622</c:v>
                </c:pt>
                <c:pt idx="9">
                  <c:v>1.2095</c:v>
                </c:pt>
                <c:pt idx="10">
                  <c:v>1.2916</c:v>
                </c:pt>
                <c:pt idx="11">
                  <c:v>1.3038</c:v>
                </c:pt>
                <c:pt idx="12">
                  <c:v>1.363</c:v>
                </c:pt>
                <c:pt idx="13">
                  <c:v>1.3949</c:v>
                </c:pt>
                <c:pt idx="14">
                  <c:v>1.3897</c:v>
                </c:pt>
                <c:pt idx="15">
                  <c:v>1.4516</c:v>
                </c:pt>
                <c:pt idx="16">
                  <c:v>1.4858</c:v>
                </c:pt>
                <c:pt idx="17">
                  <c:v>1.4168</c:v>
                </c:pt>
                <c:pt idx="18">
                  <c:v>1.3407</c:v>
                </c:pt>
                <c:pt idx="19">
                  <c:v>1.3863</c:v>
                </c:pt>
                <c:pt idx="20">
                  <c:v>1.4424</c:v>
                </c:pt>
                <c:pt idx="21">
                  <c:v>1.452</c:v>
                </c:pt>
                <c:pt idx="22">
                  <c:v>1.5361</c:v>
                </c:pt>
                <c:pt idx="23">
                  <c:v>1.5372</c:v>
                </c:pt>
                <c:pt idx="24">
                  <c:v>1.6036</c:v>
                </c:pt>
                <c:pt idx="25">
                  <c:v>1.596</c:v>
                </c:pt>
                <c:pt idx="26">
                  <c:v>1.5253</c:v>
                </c:pt>
                <c:pt idx="27">
                  <c:v>1.5181</c:v>
                </c:pt>
                <c:pt idx="28">
                  <c:v>1.6244</c:v>
                </c:pt>
                <c:pt idx="29">
                  <c:v>1.6624</c:v>
                </c:pt>
                <c:pt idx="30">
                  <c:v>1.8542</c:v>
                </c:pt>
                <c:pt idx="31">
                  <c:v>1.8673</c:v>
                </c:pt>
                <c:pt idx="32">
                  <c:v>1.9537</c:v>
                </c:pt>
                <c:pt idx="33">
                  <c:v>1.8431</c:v>
                </c:pt>
                <c:pt idx="34">
                  <c:v>1.7691</c:v>
                </c:pt>
                <c:pt idx="35">
                  <c:v>1.7438</c:v>
                </c:pt>
                <c:pt idx="36">
                  <c:v>1.6959</c:v>
                </c:pt>
                <c:pt idx="37">
                  <c:v>1.856</c:v>
                </c:pt>
                <c:pt idx="38">
                  <c:v>1.9678</c:v>
                </c:pt>
                <c:pt idx="39">
                  <c:v>1.9253</c:v>
                </c:pt>
                <c:pt idx="40">
                  <c:v>1.8273</c:v>
                </c:pt>
                <c:pt idx="41">
                  <c:v>1.8742</c:v>
                </c:pt>
                <c:pt idx="42">
                  <c:v>1.7638</c:v>
                </c:pt>
                <c:pt idx="43">
                  <c:v>1.4724</c:v>
                </c:pt>
                <c:pt idx="44">
                  <c:v>1.5802</c:v>
                </c:pt>
                <c:pt idx="45">
                  <c:v>1.634</c:v>
                </c:pt>
                <c:pt idx="46">
                  <c:v>1.7316</c:v>
                </c:pt>
                <c:pt idx="47">
                  <c:v>1.8426</c:v>
                </c:pt>
                <c:pt idx="48">
                  <c:v>1.8351</c:v>
                </c:pt>
                <c:pt idx="49">
                  <c:v>1.7278</c:v>
                </c:pt>
                <c:pt idx="50">
                  <c:v>1.8003</c:v>
                </c:pt>
                <c:pt idx="51">
                  <c:v>1.8945</c:v>
                </c:pt>
                <c:pt idx="52">
                  <c:v>1.9531</c:v>
                </c:pt>
                <c:pt idx="53">
                  <c:v>1.9509</c:v>
                </c:pt>
                <c:pt idx="54">
                  <c:v>1.9172</c:v>
                </c:pt>
                <c:pt idx="55">
                  <c:v>1.9113</c:v>
                </c:pt>
                <c:pt idx="56">
                  <c:v>1.8182</c:v>
                </c:pt>
                <c:pt idx="57">
                  <c:v>1.8671</c:v>
                </c:pt>
                <c:pt idx="58">
                  <c:v>1.8622</c:v>
                </c:pt>
                <c:pt idx="59">
                  <c:v>1.9182</c:v>
                </c:pt>
                <c:pt idx="60">
                  <c:v>1.8714</c:v>
                </c:pt>
                <c:pt idx="61">
                  <c:v>1.8826</c:v>
                </c:pt>
                <c:pt idx="62">
                  <c:v>1.9182</c:v>
                </c:pt>
                <c:pt idx="63">
                  <c:v>1.9854</c:v>
                </c:pt>
                <c:pt idx="64">
                  <c:v>1.9973</c:v>
                </c:pt>
                <c:pt idx="65">
                  <c:v>1.9363</c:v>
                </c:pt>
                <c:pt idx="66">
                  <c:v>1.9741</c:v>
                </c:pt>
                <c:pt idx="67">
                  <c:v>2.1701</c:v>
                </c:pt>
                <c:pt idx="68">
                  <c:v>2.3856</c:v>
                </c:pt>
                <c:pt idx="69">
                  <c:v>2.3361</c:v>
                </c:pt>
                <c:pt idx="70">
                  <c:v>2.3777</c:v>
                </c:pt>
                <c:pt idx="71">
                  <c:v>2.487</c:v>
                </c:pt>
                <c:pt idx="72">
                  <c:v>2.2893</c:v>
                </c:pt>
                <c:pt idx="73">
                  <c:v>2.4022</c:v>
                </c:pt>
                <c:pt idx="74">
                  <c:v>2.3702</c:v>
                </c:pt>
                <c:pt idx="75">
                  <c:v>2.4735</c:v>
                </c:pt>
                <c:pt idx="76">
                  <c:v>2.5558</c:v>
                </c:pt>
                <c:pt idx="77">
                  <c:v>2.5039</c:v>
                </c:pt>
                <c:pt idx="78">
                  <c:v>2.453</c:v>
                </c:pt>
                <c:pt idx="79">
                  <c:v>2.4817</c:v>
                </c:pt>
                <c:pt idx="80">
                  <c:v>2.3585</c:v>
                </c:pt>
                <c:pt idx="81">
                  <c:v>2.3543</c:v>
                </c:pt>
                <c:pt idx="82">
                  <c:v>2.3868</c:v>
                </c:pt>
                <c:pt idx="83">
                  <c:v>2.4642</c:v>
                </c:pt>
                <c:pt idx="84">
                  <c:v>2.461</c:v>
                </c:pt>
                <c:pt idx="85">
                  <c:v>2.4701</c:v>
                </c:pt>
                <c:pt idx="86">
                  <c:v>2.6266</c:v>
                </c:pt>
                <c:pt idx="87">
                  <c:v>2.6845</c:v>
                </c:pt>
                <c:pt idx="88">
                  <c:v>2.6464</c:v>
                </c:pt>
                <c:pt idx="89">
                  <c:v>2.5367</c:v>
                </c:pt>
                <c:pt idx="90">
                  <c:v>2.3548</c:v>
                </c:pt>
                <c:pt idx="91">
                  <c:v>2.3923</c:v>
                </c:pt>
                <c:pt idx="92">
                  <c:v>2.2392</c:v>
                </c:pt>
                <c:pt idx="93">
                  <c:v>2.223</c:v>
                </c:pt>
                <c:pt idx="94">
                  <c:v>2.2258</c:v>
                </c:pt>
                <c:pt idx="95">
                  <c:v>2.2878</c:v>
                </c:pt>
                <c:pt idx="96">
                  <c:v>2.2276</c:v>
                </c:pt>
                <c:pt idx="97">
                  <c:v>2.164</c:v>
                </c:pt>
                <c:pt idx="98">
                  <c:v>2.2181</c:v>
                </c:pt>
                <c:pt idx="99">
                  <c:v>2.2956</c:v>
                </c:pt>
                <c:pt idx="100">
                  <c:v>2.4829</c:v>
                </c:pt>
                <c:pt idx="101">
                  <c:v>2.5031</c:v>
                </c:pt>
                <c:pt idx="102">
                  <c:v>2.5028</c:v>
                </c:pt>
                <c:pt idx="103">
                  <c:v>2.534</c:v>
                </c:pt>
                <c:pt idx="104">
                  <c:v>2.5503</c:v>
                </c:pt>
                <c:pt idx="105">
                  <c:v>2.6498</c:v>
                </c:pt>
                <c:pt idx="106">
                  <c:v>2.7355</c:v>
                </c:pt>
                <c:pt idx="107">
                  <c:v>2.8262</c:v>
                </c:pt>
                <c:pt idx="108">
                  <c:v>2.8658</c:v>
                </c:pt>
                <c:pt idx="109">
                  <c:v>2.9566</c:v>
                </c:pt>
                <c:pt idx="110">
                  <c:v>2.952</c:v>
                </c:pt>
                <c:pt idx="111">
                  <c:v>2.9894</c:v>
                </c:pt>
                <c:pt idx="112">
                  <c:v>3.0256</c:v>
                </c:pt>
                <c:pt idx="113">
                  <c:v>3.107</c:v>
                </c:pt>
                <c:pt idx="114">
                  <c:v>2.9916</c:v>
                </c:pt>
                <c:pt idx="115">
                  <c:v>3.0231</c:v>
                </c:pt>
                <c:pt idx="116">
                  <c:v>3.0835</c:v>
                </c:pt>
                <c:pt idx="117">
                  <c:v>3.1135</c:v>
                </c:pt>
                <c:pt idx="118">
                  <c:v>3.292</c:v>
                </c:pt>
                <c:pt idx="119">
                  <c:v>3.4114</c:v>
                </c:pt>
                <c:pt idx="120">
                  <c:v>3.3963</c:v>
                </c:pt>
                <c:pt idx="121">
                  <c:v>3.4648</c:v>
                </c:pt>
                <c:pt idx="122">
                  <c:v>3.471</c:v>
                </c:pt>
                <c:pt idx="123">
                  <c:v>3.5033</c:v>
                </c:pt>
                <c:pt idx="124">
                  <c:v>3.5873</c:v>
                </c:pt>
                <c:pt idx="125">
                  <c:v>3.648</c:v>
                </c:pt>
                <c:pt idx="126">
                  <c:v>3.6852</c:v>
                </c:pt>
                <c:pt idx="127">
                  <c:v>3.6672</c:v>
                </c:pt>
                <c:pt idx="128">
                  <c:v>3.6807</c:v>
                </c:pt>
                <c:pt idx="129">
                  <c:v>3.5921</c:v>
                </c:pt>
                <c:pt idx="130">
                  <c:v>3.7174</c:v>
                </c:pt>
                <c:pt idx="131">
                  <c:v>3.7479</c:v>
                </c:pt>
                <c:pt idx="132">
                  <c:v>3.8517</c:v>
                </c:pt>
                <c:pt idx="133">
                  <c:v>3.8727</c:v>
                </c:pt>
                <c:pt idx="134">
                  <c:v>3.8889</c:v>
                </c:pt>
                <c:pt idx="135">
                  <c:v>3.8307</c:v>
                </c:pt>
                <c:pt idx="136">
                  <c:v>3.7394</c:v>
                </c:pt>
                <c:pt idx="137">
                  <c:v>3.7343</c:v>
                </c:pt>
                <c:pt idx="138">
                  <c:v>3.8189</c:v>
                </c:pt>
                <c:pt idx="139">
                  <c:v>3.86</c:v>
                </c:pt>
                <c:pt idx="140">
                  <c:v>3.8505</c:v>
                </c:pt>
                <c:pt idx="141">
                  <c:v>3.8599</c:v>
                </c:pt>
                <c:pt idx="142">
                  <c:v>3.9906</c:v>
                </c:pt>
                <c:pt idx="143">
                  <c:v>3.9735</c:v>
                </c:pt>
                <c:pt idx="144">
                  <c:v>4.1255</c:v>
                </c:pt>
                <c:pt idx="145">
                  <c:v>4.1506</c:v>
                </c:pt>
                <c:pt idx="146">
                  <c:v>4.1742</c:v>
                </c:pt>
                <c:pt idx="147">
                  <c:v>4.3404</c:v>
                </c:pt>
                <c:pt idx="148">
                  <c:v>4.49</c:v>
                </c:pt>
                <c:pt idx="149">
                  <c:v>4.4331</c:v>
                </c:pt>
                <c:pt idx="150">
                  <c:v>4.3814</c:v>
                </c:pt>
                <c:pt idx="151">
                  <c:v>4.4652</c:v>
                </c:pt>
                <c:pt idx="152">
                  <c:v>4.7032</c:v>
                </c:pt>
                <c:pt idx="153">
                  <c:v>4.9352</c:v>
                </c:pt>
                <c:pt idx="154">
                  <c:v>4.7645</c:v>
                </c:pt>
                <c:pt idx="155">
                  <c:v>4.6863</c:v>
                </c:pt>
                <c:pt idx="156">
                  <c:v>4.4191</c:v>
                </c:pt>
                <c:pt idx="157">
                  <c:v>4.191</c:v>
                </c:pt>
                <c:pt idx="158">
                  <c:v>4.08</c:v>
                </c:pt>
                <c:pt idx="159">
                  <c:v>4.2597</c:v>
                </c:pt>
                <c:pt idx="160">
                  <c:v>4.3236</c:v>
                </c:pt>
                <c:pt idx="161">
                  <c:v>4.0337</c:v>
                </c:pt>
                <c:pt idx="162">
                  <c:v>3.9514</c:v>
                </c:pt>
                <c:pt idx="163">
                  <c:v>3.8848</c:v>
                </c:pt>
                <c:pt idx="164">
                  <c:v>3.4574</c:v>
                </c:pt>
                <c:pt idx="165">
                  <c:v>3.0682</c:v>
                </c:pt>
                <c:pt idx="166">
                  <c:v>2.8431</c:v>
                </c:pt>
                <c:pt idx="167">
                  <c:v>2.7887</c:v>
                </c:pt>
                <c:pt idx="168">
                  <c:v>2.501</c:v>
                </c:pt>
                <c:pt idx="169">
                  <c:v>2.2889</c:v>
                </c:pt>
                <c:pt idx="170">
                  <c:v>2.5175</c:v>
                </c:pt>
                <c:pt idx="171">
                  <c:v>2.5695</c:v>
                </c:pt>
                <c:pt idx="172">
                  <c:v>2.6007</c:v>
                </c:pt>
                <c:pt idx="173">
                  <c:v>2.6284</c:v>
                </c:pt>
                <c:pt idx="174">
                  <c:v>2.7309</c:v>
                </c:pt>
                <c:pt idx="175">
                  <c:v>2.7863</c:v>
                </c:pt>
                <c:pt idx="176">
                  <c:v>2.9018</c:v>
                </c:pt>
                <c:pt idx="177">
                  <c:v>2.7137</c:v>
                </c:pt>
                <c:pt idx="178">
                  <c:v>2.8446</c:v>
                </c:pt>
                <c:pt idx="179">
                  <c:v>2.9472</c:v>
                </c:pt>
                <c:pt idx="180">
                  <c:v>2.9741</c:v>
                </c:pt>
                <c:pt idx="181">
                  <c:v>3.1118</c:v>
                </c:pt>
                <c:pt idx="182">
                  <c:v>3.2428</c:v>
                </c:pt>
                <c:pt idx="183">
                  <c:v>3.3086</c:v>
                </c:pt>
                <c:pt idx="184">
                  <c:v>3.0561</c:v>
                </c:pt>
                <c:pt idx="185">
                  <c:v>2.8929</c:v>
                </c:pt>
                <c:pt idx="186">
                  <c:v>3.0434</c:v>
                </c:pt>
                <c:pt idx="187">
                  <c:v>2.9714</c:v>
                </c:pt>
                <c:pt idx="188">
                  <c:v>3.2383</c:v>
                </c:pt>
                <c:pt idx="189">
                  <c:v>3.3266</c:v>
                </c:pt>
                <c:pt idx="190">
                  <c:v>3.335</c:v>
                </c:pt>
                <c:pt idx="191">
                  <c:v>3.4989</c:v>
                </c:pt>
                <c:pt idx="192">
                  <c:v>3.6276</c:v>
                </c:pt>
                <c:pt idx="193">
                  <c:v>3.7906</c:v>
                </c:pt>
                <c:pt idx="194">
                  <c:v>3.8943</c:v>
                </c:pt>
                <c:pt idx="195">
                  <c:v>3.9881</c:v>
                </c:pt>
                <c:pt idx="196">
                  <c:v>4.0282</c:v>
                </c:pt>
                <c:pt idx="197">
                  <c:v>3.9471</c:v>
                </c:pt>
                <c:pt idx="198">
                  <c:v>3.9899</c:v>
                </c:pt>
                <c:pt idx="199">
                  <c:v>3.8302</c:v>
                </c:pt>
                <c:pt idx="200">
                  <c:v>3.4084</c:v>
                </c:pt>
                <c:pt idx="201">
                  <c:v>3.6917</c:v>
                </c:pt>
                <c:pt idx="202">
                  <c:v>3.5674</c:v>
                </c:pt>
                <c:pt idx="203">
                  <c:v>3.494</c:v>
                </c:pt>
                <c:pt idx="204">
                  <c:v>3.7301</c:v>
                </c:pt>
                <c:pt idx="205">
                  <c:v>3.8006</c:v>
                </c:pt>
                <c:pt idx="206">
                  <c:v>3.8278</c:v>
                </c:pt>
                <c:pt idx="207">
                  <c:v>3.7127</c:v>
                </c:pt>
                <c:pt idx="208">
                  <c:v>3.6378</c:v>
                </c:pt>
                <c:pt idx="209">
                  <c:v>3.6938</c:v>
                </c:pt>
                <c:pt idx="210">
                  <c:v>3.5384</c:v>
                </c:pt>
                <c:pt idx="211">
                  <c:v>3.6464</c:v>
                </c:pt>
                <c:pt idx="212">
                  <c:v>3.8214</c:v>
                </c:pt>
                <c:pt idx="213">
                  <c:v>3.666</c:v>
                </c:pt>
                <c:pt idx="214">
                  <c:v>3.7049</c:v>
                </c:pt>
                <c:pt idx="215">
                  <c:v>3.8045</c:v>
                </c:pt>
                <c:pt idx="216">
                  <c:v>4.0272</c:v>
                </c:pt>
                <c:pt idx="217">
                  <c:v>4.1406</c:v>
                </c:pt>
                <c:pt idx="218">
                  <c:v>4.4076</c:v>
                </c:pt>
                <c:pt idx="219">
                  <c:v>4.7101</c:v>
                </c:pt>
                <c:pt idx="220">
                  <c:v>4.8955</c:v>
                </c:pt>
                <c:pt idx="221">
                  <c:v>4.8327</c:v>
                </c:pt>
                <c:pt idx="222">
                  <c:v>5.2081</c:v>
                </c:pt>
                <c:pt idx="223">
                  <c:v>5.1634</c:v>
                </c:pt>
                <c:pt idx="224">
                  <c:v>5.4424</c:v>
                </c:pt>
                <c:pt idx="225">
                  <c:v>5.5467</c:v>
                </c:pt>
                <c:pt idx="226">
                  <c:v>5.5031</c:v>
                </c:pt>
                <c:pt idx="227">
                  <c:v>5.6657</c:v>
                </c:pt>
                <c:pt idx="228">
                  <c:v>5.7007</c:v>
                </c:pt>
                <c:pt idx="229">
                  <c:v>6.1536</c:v>
                </c:pt>
                <c:pt idx="230">
                  <c:v>5.8739</c:v>
                </c:pt>
                <c:pt idx="231">
                  <c:v>5.7818</c:v>
                </c:pt>
                <c:pt idx="232">
                  <c:v>6.0126</c:v>
                </c:pt>
                <c:pt idx="233">
                  <c:v>6.3159</c:v>
                </c:pt>
                <c:pt idx="234">
                  <c:v>6.3186</c:v>
                </c:pt>
                <c:pt idx="235">
                  <c:v>6.8292</c:v>
                </c:pt>
                <c:pt idx="236">
                  <c:v>6.759</c:v>
                </c:pt>
                <c:pt idx="237">
                  <c:v>7.0681</c:v>
                </c:pt>
                <c:pt idx="238">
                  <c:v>7.3978</c:v>
                </c:pt>
                <c:pt idx="239">
                  <c:v>7.3286</c:v>
                </c:pt>
                <c:pt idx="240">
                  <c:v>7.7176</c:v>
                </c:pt>
                <c:pt idx="241">
                  <c:v>8.102</c:v>
                </c:pt>
                <c:pt idx="242">
                  <c:v>8.0657</c:v>
                </c:pt>
                <c:pt idx="243">
                  <c:v>8.1613</c:v>
                </c:pt>
                <c:pt idx="244">
                  <c:v>8.3364</c:v>
                </c:pt>
                <c:pt idx="245">
                  <c:v>8.105</c:v>
                </c:pt>
                <c:pt idx="246">
                  <c:v>8.3254</c:v>
                </c:pt>
                <c:pt idx="247">
                  <c:v>7.8849</c:v>
                </c:pt>
                <c:pt idx="248">
                  <c:v>7.6077</c:v>
                </c:pt>
                <c:pt idx="249">
                  <c:v>7.8861</c:v>
                </c:pt>
                <c:pt idx="250">
                  <c:v>7.8721</c:v>
                </c:pt>
                <c:pt idx="251">
                  <c:v>8.0031</c:v>
                </c:pt>
                <c:pt idx="252">
                  <c:v>7.7401</c:v>
                </c:pt>
                <c:pt idx="253">
                  <c:v>7.9887</c:v>
                </c:pt>
                <c:pt idx="254">
                  <c:v>8.4874</c:v>
                </c:pt>
                <c:pt idx="255">
                  <c:v>8.4768</c:v>
                </c:pt>
                <c:pt idx="256">
                  <c:v>8.6452</c:v>
                </c:pt>
                <c:pt idx="257">
                  <c:v>9.0249</c:v>
                </c:pt>
                <c:pt idx="258">
                  <c:v>9.299</c:v>
                </c:pt>
                <c:pt idx="259">
                  <c:v>8.961</c:v>
                </c:pt>
                <c:pt idx="260">
                  <c:v>8.9446</c:v>
                </c:pt>
                <c:pt idx="261">
                  <c:v>8.7205</c:v>
                </c:pt>
                <c:pt idx="262">
                  <c:v>8.5167</c:v>
                </c:pt>
                <c:pt idx="263">
                  <c:v>8.8587</c:v>
                </c:pt>
                <c:pt idx="264">
                  <c:v>9.0614</c:v>
                </c:pt>
                <c:pt idx="265">
                  <c:v>9.4065</c:v>
                </c:pt>
                <c:pt idx="266">
                  <c:v>9.5129</c:v>
                </c:pt>
                <c:pt idx="267">
                  <c:v>9.6757</c:v>
                </c:pt>
                <c:pt idx="268">
                  <c:v>9.887</c:v>
                </c:pt>
                <c:pt idx="269">
                  <c:v>9.7489</c:v>
                </c:pt>
                <c:pt idx="270">
                  <c:v>9.9435</c:v>
                </c:pt>
                <c:pt idx="271">
                  <c:v>10.0203</c:v>
                </c:pt>
                <c:pt idx="272">
                  <c:v>9.9024</c:v>
                </c:pt>
                <c:pt idx="273">
                  <c:v>10.164</c:v>
                </c:pt>
                <c:pt idx="274">
                  <c:v>10.5991</c:v>
                </c:pt>
                <c:pt idx="275">
                  <c:v>10.4134</c:v>
                </c:pt>
                <c:pt idx="276">
                  <c:v>10.658</c:v>
                </c:pt>
                <c:pt idx="277">
                  <c:v>10.3291</c:v>
                </c:pt>
                <c:pt idx="278">
                  <c:v>10.5154</c:v>
                </c:pt>
                <c:pt idx="279">
                  <c:v>10.7314</c:v>
                </c:pt>
                <c:pt idx="280">
                  <c:v>10.7813</c:v>
                </c:pt>
                <c:pt idx="281">
                  <c:v>11.1329</c:v>
                </c:pt>
                <c:pt idx="282">
                  <c:v>11.1098</c:v>
                </c:pt>
                <c:pt idx="283">
                  <c:v>11.6318</c:v>
                </c:pt>
                <c:pt idx="284">
                  <c:v>11.6181</c:v>
                </c:pt>
                <c:pt idx="285">
                  <c:v>11.2861</c:v>
                </c:pt>
                <c:pt idx="286">
                  <c:v>11.3026</c:v>
                </c:pt>
                <c:pt idx="287">
                  <c:v>10.4908</c:v>
                </c:pt>
                <c:pt idx="288">
                  <c:v>10.9603</c:v>
                </c:pt>
                <c:pt idx="289">
                  <c:v>11.3172</c:v>
                </c:pt>
                <c:pt idx="290">
                  <c:v>11.4962</c:v>
                </c:pt>
                <c:pt idx="291">
                  <c:v>11.8182</c:v>
                </c:pt>
                <c:pt idx="292">
                  <c:v>11.2777</c:v>
                </c:pt>
                <c:pt idx="293">
                  <c:v>12.0378</c:v>
                </c:pt>
                <c:pt idx="294">
                  <c:v>12.3029</c:v>
                </c:pt>
                <c:pt idx="295">
                  <c:v>12.3307</c:v>
                </c:pt>
                <c:pt idx="296">
                  <c:v>12.2426</c:v>
                </c:pt>
                <c:pt idx="297">
                  <c:v>12.2157</c:v>
                </c:pt>
                <c:pt idx="298">
                  <c:v>12.5387</c:v>
                </c:pt>
                <c:pt idx="299">
                  <c:v>12.8784</c:v>
                </c:pt>
                <c:pt idx="300">
                  <c:v>13.3264</c:v>
                </c:pt>
                <c:pt idx="301">
                  <c:v>12.7275</c:v>
                </c:pt>
                <c:pt idx="302">
                  <c:v>11.52</c:v>
                </c:pt>
                <c:pt idx="303">
                  <c:v>13.2581</c:v>
                </c:pt>
                <c:pt idx="304">
                  <c:v>14.1797</c:v>
                </c:pt>
                <c:pt idx="305">
                  <c:v>14.0851</c:v>
                </c:pt>
                <c:pt idx="306">
                  <c:v>15.2053</c:v>
                </c:pt>
                <c:pt idx="307">
                  <c:v>15.6154</c:v>
                </c:pt>
                <c:pt idx="308">
                  <c:v>15.3834</c:v>
                </c:pt>
                <c:pt idx="309">
                  <c:v>15.2512</c:v>
                </c:pt>
                <c:pt idx="310">
                  <c:v>15.8634</c:v>
                </c:pt>
                <c:pt idx="311">
                  <c:v>16.726</c:v>
                </c:pt>
                <c:pt idx="312">
                  <c:v>17.0401</c:v>
                </c:pt>
                <c:pt idx="313">
                  <c:v>16.6674</c:v>
                </c:pt>
                <c:pt idx="314">
                  <c:v>16.3038</c:v>
                </c:pt>
                <c:pt idx="315">
                  <c:v>16.538</c:v>
                </c:pt>
                <c:pt idx="316">
                  <c:v>16.3983</c:v>
                </c:pt>
                <c:pt idx="317">
                  <c:v>17.4773</c:v>
                </c:pt>
                <c:pt idx="318">
                  <c:v>17.1762</c:v>
                </c:pt>
                <c:pt idx="319">
                  <c:v>17.2655</c:v>
                </c:pt>
                <c:pt idx="320">
                  <c:v>16.1653</c:v>
                </c:pt>
                <c:pt idx="321">
                  <c:v>16.8933</c:v>
                </c:pt>
                <c:pt idx="322">
                  <c:v>16.0002</c:v>
                </c:pt>
                <c:pt idx="323">
                  <c:v>16.1118</c:v>
                </c:pt>
                <c:pt idx="324">
                  <c:v>15.0979</c:v>
                </c:pt>
                <c:pt idx="325">
                  <c:v>15.2991</c:v>
                </c:pt>
                <c:pt idx="326">
                  <c:v>16.1276</c:v>
                </c:pt>
                <c:pt idx="327">
                  <c:v>14.8</c:v>
                </c:pt>
                <c:pt idx="328">
                  <c:v>14.786</c:v>
                </c:pt>
                <c:pt idx="329">
                  <c:v>13.7305</c:v>
                </c:pt>
                <c:pt idx="330">
                  <c:v>14.6154</c:v>
                </c:pt>
                <c:pt idx="331">
                  <c:v>14.6821</c:v>
                </c:pt>
                <c:pt idx="332">
                  <c:v>14.3221</c:v>
                </c:pt>
                <c:pt idx="333">
                  <c:v>15.5286</c:v>
                </c:pt>
                <c:pt idx="334">
                  <c:v>16.3417</c:v>
                </c:pt>
                <c:pt idx="335">
                  <c:v>15.6553</c:v>
                </c:pt>
                <c:pt idx="336">
                  <c:v>16.4906</c:v>
                </c:pt>
                <c:pt idx="337">
                  <c:v>15.8293</c:v>
                </c:pt>
                <c:pt idx="338">
                  <c:v>16.5566</c:v>
                </c:pt>
                <c:pt idx="339">
                  <c:v>16.4131</c:v>
                </c:pt>
                <c:pt idx="340">
                  <c:v>16.2496</c:v>
                </c:pt>
                <c:pt idx="341">
                  <c:v>16.94</c:v>
                </c:pt>
                <c:pt idx="342">
                  <c:v>16.9003</c:v>
                </c:pt>
                <c:pt idx="343">
                  <c:v>16.8903</c:v>
                </c:pt>
                <c:pt idx="344">
                  <c:v>16.2576</c:v>
                </c:pt>
                <c:pt idx="345">
                  <c:v>15.4497</c:v>
                </c:pt>
                <c:pt idx="346">
                  <c:v>16.3052</c:v>
                </c:pt>
                <c:pt idx="347">
                  <c:v>17.5133</c:v>
                </c:pt>
                <c:pt idx="348">
                  <c:v>17.1458</c:v>
                </c:pt>
                <c:pt idx="349">
                  <c:v>17.2989</c:v>
                </c:pt>
                <c:pt idx="350">
                  <c:v>17.5943</c:v>
                </c:pt>
                <c:pt idx="351">
                  <c:v>17.0944</c:v>
                </c:pt>
                <c:pt idx="352">
                  <c:v>17.6112</c:v>
                </c:pt>
                <c:pt idx="353">
                  <c:v>18.4959</c:v>
                </c:pt>
                <c:pt idx="354">
                  <c:v>18.4638</c:v>
                </c:pt>
                <c:pt idx="355">
                  <c:v>18.9496</c:v>
                </c:pt>
                <c:pt idx="356">
                  <c:v>18.7757</c:v>
                </c:pt>
                <c:pt idx="357">
                  <c:v>18.2415</c:v>
                </c:pt>
                <c:pt idx="358">
                  <c:v>18.9378</c:v>
                </c:pt>
                <c:pt idx="359">
                  <c:v>18.1641</c:v>
                </c:pt>
                <c:pt idx="360">
                  <c:v>18.9234</c:v>
                </c:pt>
                <c:pt idx="361">
                  <c:v>19.0221</c:v>
                </c:pt>
                <c:pt idx="362">
                  <c:v>18.9863</c:v>
                </c:pt>
                <c:pt idx="363">
                  <c:v>17.8154</c:v>
                </c:pt>
                <c:pt idx="364">
                  <c:v>18.2508</c:v>
                </c:pt>
                <c:pt idx="365">
                  <c:v>18.8752</c:v>
                </c:pt>
                <c:pt idx="366">
                  <c:v>18.9714</c:v>
                </c:pt>
                <c:pt idx="367">
                  <c:v>19.5466</c:v>
                </c:pt>
                <c:pt idx="368">
                  <c:v>20.117</c:v>
                </c:pt>
                <c:pt idx="369">
                  <c:v>20.2483</c:v>
                </c:pt>
                <c:pt idx="370">
                  <c:v>21.0894</c:v>
                </c:pt>
                <c:pt idx="371">
                  <c:v>21.1562</c:v>
                </c:pt>
              </c:numCache>
            </c:numRef>
          </c:val>
          <c:smooth val="0"/>
        </c:ser>
        <c:ser>
          <c:idx val="1"/>
          <c:order val="1"/>
          <c:tx>
            <c:strRef>
              <c:f>Sheet1!$C$1</c:f>
              <c:strCache>
                <c:ptCount val="1"/>
                <c:pt idx="0">
                  <c:v>Constant correlation</c:v>
                </c:pt>
              </c:strCache>
            </c:strRef>
          </c:tx>
          <c:spPr>
            <a:solidFill>
              <a:srgbClr val="8E44AD"/>
            </a:solidFill>
            <a:ln w="19050" cap="flat">
              <a:solidFill>
                <a:srgbClr val="8E44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44AD"/>
              </a:solidFill>
              <a:ln w="9525" cap="flat">
                <a:solidFill>
                  <a:srgbClr val="8E44AD"/>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Sheet1!$C$2:$C$373</c:f>
              <c:numCache>
                <c:formatCode>General</c:formatCode>
                <c:ptCount val="372"/>
                <c:pt idx="0">
                  <c:v>1.0289</c:v>
                </c:pt>
                <c:pt idx="1">
                  <c:v>1.0717</c:v>
                </c:pt>
                <c:pt idx="2">
                  <c:v>1.0955</c:v>
                </c:pt>
                <c:pt idx="3">
                  <c:v>1.1144</c:v>
                </c:pt>
                <c:pt idx="4">
                  <c:v>1.1559</c:v>
                </c:pt>
                <c:pt idx="5">
                  <c:v>1.182</c:v>
                </c:pt>
                <c:pt idx="6">
                  <c:v>1.2225</c:v>
                </c:pt>
                <c:pt idx="7">
                  <c:v>1.2396</c:v>
                </c:pt>
                <c:pt idx="8">
                  <c:v>1.2788</c:v>
                </c:pt>
                <c:pt idx="9">
                  <c:v>1.2626</c:v>
                </c:pt>
                <c:pt idx="10">
                  <c:v>1.3226</c:v>
                </c:pt>
                <c:pt idx="11">
                  <c:v>1.3431</c:v>
                </c:pt>
                <c:pt idx="12">
                  <c:v>1.3835</c:v>
                </c:pt>
                <c:pt idx="13">
                  <c:v>1.4008</c:v>
                </c:pt>
                <c:pt idx="14">
                  <c:v>1.4207</c:v>
                </c:pt>
                <c:pt idx="15">
                  <c:v>1.4403</c:v>
                </c:pt>
                <c:pt idx="16">
                  <c:v>1.4648</c:v>
                </c:pt>
                <c:pt idx="17">
                  <c:v>1.4597</c:v>
                </c:pt>
                <c:pt idx="18">
                  <c:v>1.3885</c:v>
                </c:pt>
                <c:pt idx="19">
                  <c:v>1.4346</c:v>
                </c:pt>
                <c:pt idx="20">
                  <c:v>1.5058</c:v>
                </c:pt>
                <c:pt idx="21">
                  <c:v>1.5345</c:v>
                </c:pt>
                <c:pt idx="22">
                  <c:v>1.6374</c:v>
                </c:pt>
                <c:pt idx="23">
                  <c:v>1.6117</c:v>
                </c:pt>
                <c:pt idx="24">
                  <c:v>1.6774</c:v>
                </c:pt>
                <c:pt idx="25">
                  <c:v>1.6943</c:v>
                </c:pt>
                <c:pt idx="26">
                  <c:v>1.6302</c:v>
                </c:pt>
                <c:pt idx="27">
                  <c:v>1.6866</c:v>
                </c:pt>
                <c:pt idx="28">
                  <c:v>1.7971</c:v>
                </c:pt>
                <c:pt idx="29">
                  <c:v>1.866</c:v>
                </c:pt>
                <c:pt idx="30">
                  <c:v>2.0152</c:v>
                </c:pt>
                <c:pt idx="31">
                  <c:v>1.9565</c:v>
                </c:pt>
                <c:pt idx="32">
                  <c:v>2.0595</c:v>
                </c:pt>
                <c:pt idx="33">
                  <c:v>1.9919</c:v>
                </c:pt>
                <c:pt idx="34">
                  <c:v>2.0663</c:v>
                </c:pt>
                <c:pt idx="35">
                  <c:v>2.134</c:v>
                </c:pt>
                <c:pt idx="36">
                  <c:v>2.1069</c:v>
                </c:pt>
                <c:pt idx="37">
                  <c:v>2.2604</c:v>
                </c:pt>
                <c:pt idx="38">
                  <c:v>2.3751</c:v>
                </c:pt>
                <c:pt idx="39">
                  <c:v>2.3813</c:v>
                </c:pt>
                <c:pt idx="40">
                  <c:v>2.3227</c:v>
                </c:pt>
                <c:pt idx="41">
                  <c:v>2.3629</c:v>
                </c:pt>
                <c:pt idx="42">
                  <c:v>2.279</c:v>
                </c:pt>
                <c:pt idx="43">
                  <c:v>1.9691</c:v>
                </c:pt>
                <c:pt idx="44">
                  <c:v>2.0892</c:v>
                </c:pt>
                <c:pt idx="45">
                  <c:v>2.254</c:v>
                </c:pt>
                <c:pt idx="46">
                  <c:v>2.3616</c:v>
                </c:pt>
                <c:pt idx="47">
                  <c:v>2.4638</c:v>
                </c:pt>
                <c:pt idx="48">
                  <c:v>2.4484</c:v>
                </c:pt>
                <c:pt idx="49">
                  <c:v>2.394</c:v>
                </c:pt>
                <c:pt idx="50">
                  <c:v>2.4531</c:v>
                </c:pt>
                <c:pt idx="51">
                  <c:v>2.6358</c:v>
                </c:pt>
                <c:pt idx="52">
                  <c:v>2.6338</c:v>
                </c:pt>
                <c:pt idx="53">
                  <c:v>2.7085</c:v>
                </c:pt>
                <c:pt idx="54">
                  <c:v>2.6314</c:v>
                </c:pt>
                <c:pt idx="55">
                  <c:v>2.5584</c:v>
                </c:pt>
                <c:pt idx="56">
                  <c:v>2.4549</c:v>
                </c:pt>
                <c:pt idx="57">
                  <c:v>2.5759</c:v>
                </c:pt>
                <c:pt idx="58">
                  <c:v>2.5812</c:v>
                </c:pt>
                <c:pt idx="59">
                  <c:v>2.6757</c:v>
                </c:pt>
                <c:pt idx="60">
                  <c:v>2.5513</c:v>
                </c:pt>
                <c:pt idx="61">
                  <c:v>2.4699</c:v>
                </c:pt>
                <c:pt idx="62">
                  <c:v>2.7036</c:v>
                </c:pt>
                <c:pt idx="63">
                  <c:v>2.7107</c:v>
                </c:pt>
                <c:pt idx="64">
                  <c:v>2.749</c:v>
                </c:pt>
                <c:pt idx="65">
                  <c:v>2.6928</c:v>
                </c:pt>
                <c:pt idx="66">
                  <c:v>2.7127</c:v>
                </c:pt>
                <c:pt idx="67">
                  <c:v>2.9242</c:v>
                </c:pt>
                <c:pt idx="68">
                  <c:v>2.9325</c:v>
                </c:pt>
                <c:pt idx="69">
                  <c:v>2.984</c:v>
                </c:pt>
                <c:pt idx="70">
                  <c:v>2.847</c:v>
                </c:pt>
                <c:pt idx="71">
                  <c:v>3.0428</c:v>
                </c:pt>
                <c:pt idx="72">
                  <c:v>3.0933</c:v>
                </c:pt>
                <c:pt idx="73">
                  <c:v>2.9837</c:v>
                </c:pt>
                <c:pt idx="74">
                  <c:v>2.8516</c:v>
                </c:pt>
                <c:pt idx="75">
                  <c:v>3.0565</c:v>
                </c:pt>
                <c:pt idx="76">
                  <c:v>3.1263</c:v>
                </c:pt>
                <c:pt idx="77">
                  <c:v>3.0822</c:v>
                </c:pt>
                <c:pt idx="78">
                  <c:v>3.0577</c:v>
                </c:pt>
                <c:pt idx="79">
                  <c:v>2.939</c:v>
                </c:pt>
                <c:pt idx="80">
                  <c:v>2.6556</c:v>
                </c:pt>
                <c:pt idx="81">
                  <c:v>2.702</c:v>
                </c:pt>
                <c:pt idx="82">
                  <c:v>2.9108</c:v>
                </c:pt>
                <c:pt idx="83">
                  <c:v>2.9987</c:v>
                </c:pt>
                <c:pt idx="84">
                  <c:v>2.9987</c:v>
                </c:pt>
                <c:pt idx="85">
                  <c:v>2.983</c:v>
                </c:pt>
                <c:pt idx="86">
                  <c:v>3.1416</c:v>
                </c:pt>
                <c:pt idx="87">
                  <c:v>3.0644</c:v>
                </c:pt>
                <c:pt idx="88">
                  <c:v>3.0504</c:v>
                </c:pt>
                <c:pt idx="89">
                  <c:v>2.8515</c:v>
                </c:pt>
                <c:pt idx="90">
                  <c:v>2.6107</c:v>
                </c:pt>
                <c:pt idx="91">
                  <c:v>2.6286</c:v>
                </c:pt>
                <c:pt idx="92">
                  <c:v>2.384</c:v>
                </c:pt>
                <c:pt idx="93">
                  <c:v>2.5112</c:v>
                </c:pt>
                <c:pt idx="94">
                  <c:v>2.6517</c:v>
                </c:pt>
                <c:pt idx="95">
                  <c:v>2.549</c:v>
                </c:pt>
                <c:pt idx="96">
                  <c:v>2.4903</c:v>
                </c:pt>
                <c:pt idx="97">
                  <c:v>2.4395</c:v>
                </c:pt>
                <c:pt idx="98">
                  <c:v>2.452</c:v>
                </c:pt>
                <c:pt idx="99">
                  <c:v>2.6387</c:v>
                </c:pt>
                <c:pt idx="100">
                  <c:v>2.8369</c:v>
                </c:pt>
                <c:pt idx="101">
                  <c:v>2.8554</c:v>
                </c:pt>
                <c:pt idx="102">
                  <c:v>2.9222</c:v>
                </c:pt>
                <c:pt idx="103">
                  <c:v>3.0177</c:v>
                </c:pt>
                <c:pt idx="104">
                  <c:v>2.9762</c:v>
                </c:pt>
                <c:pt idx="105">
                  <c:v>3.1869</c:v>
                </c:pt>
                <c:pt idx="106">
                  <c:v>3.2434</c:v>
                </c:pt>
                <c:pt idx="107">
                  <c:v>3.3722</c:v>
                </c:pt>
                <c:pt idx="108">
                  <c:v>3.4216</c:v>
                </c:pt>
                <c:pt idx="109">
                  <c:v>3.4949</c:v>
                </c:pt>
                <c:pt idx="110">
                  <c:v>3.4771</c:v>
                </c:pt>
                <c:pt idx="111">
                  <c:v>3.424</c:v>
                </c:pt>
                <c:pt idx="112">
                  <c:v>3.4824</c:v>
                </c:pt>
                <c:pt idx="113">
                  <c:v>3.5582</c:v>
                </c:pt>
                <c:pt idx="114">
                  <c:v>3.4324</c:v>
                </c:pt>
                <c:pt idx="115">
                  <c:v>3.4452</c:v>
                </c:pt>
                <c:pt idx="116">
                  <c:v>3.5359</c:v>
                </c:pt>
                <c:pt idx="117">
                  <c:v>3.5953</c:v>
                </c:pt>
                <c:pt idx="118">
                  <c:v>3.775</c:v>
                </c:pt>
                <c:pt idx="119">
                  <c:v>3.9101</c:v>
                </c:pt>
                <c:pt idx="120">
                  <c:v>3.8299</c:v>
                </c:pt>
                <c:pt idx="121">
                  <c:v>3.9103</c:v>
                </c:pt>
                <c:pt idx="122">
                  <c:v>3.8746</c:v>
                </c:pt>
                <c:pt idx="123">
                  <c:v>3.7802</c:v>
                </c:pt>
                <c:pt idx="124">
                  <c:v>3.9299</c:v>
                </c:pt>
                <c:pt idx="125">
                  <c:v>3.9891</c:v>
                </c:pt>
                <c:pt idx="126">
                  <c:v>4.1694</c:v>
                </c:pt>
                <c:pt idx="127">
                  <c:v>4.1305</c:v>
                </c:pt>
                <c:pt idx="128">
                  <c:v>4.1642</c:v>
                </c:pt>
                <c:pt idx="129">
                  <c:v>4.0853</c:v>
                </c:pt>
                <c:pt idx="130">
                  <c:v>4.2446</c:v>
                </c:pt>
                <c:pt idx="131">
                  <c:v>4.2717</c:v>
                </c:pt>
                <c:pt idx="132">
                  <c:v>4.4105</c:v>
                </c:pt>
                <c:pt idx="133">
                  <c:v>4.4211</c:v>
                </c:pt>
                <c:pt idx="134">
                  <c:v>4.495</c:v>
                </c:pt>
                <c:pt idx="135">
                  <c:v>4.5514</c:v>
                </c:pt>
                <c:pt idx="136">
                  <c:v>4.4263</c:v>
                </c:pt>
                <c:pt idx="137">
                  <c:v>4.4354</c:v>
                </c:pt>
                <c:pt idx="138">
                  <c:v>4.4018</c:v>
                </c:pt>
                <c:pt idx="139">
                  <c:v>4.4925</c:v>
                </c:pt>
                <c:pt idx="140">
                  <c:v>4.5804</c:v>
                </c:pt>
                <c:pt idx="141">
                  <c:v>4.7372</c:v>
                </c:pt>
                <c:pt idx="142">
                  <c:v>4.8434</c:v>
                </c:pt>
                <c:pt idx="143">
                  <c:v>4.8817</c:v>
                </c:pt>
                <c:pt idx="144">
                  <c:v>4.9903</c:v>
                </c:pt>
                <c:pt idx="145">
                  <c:v>4.9747</c:v>
                </c:pt>
                <c:pt idx="146">
                  <c:v>5.024</c:v>
                </c:pt>
                <c:pt idx="147">
                  <c:v>5.2304</c:v>
                </c:pt>
                <c:pt idx="148">
                  <c:v>5.4126</c:v>
                </c:pt>
                <c:pt idx="149">
                  <c:v>5.3003</c:v>
                </c:pt>
                <c:pt idx="150">
                  <c:v>5.112</c:v>
                </c:pt>
                <c:pt idx="151">
                  <c:v>5.1518</c:v>
                </c:pt>
                <c:pt idx="152">
                  <c:v>5.3112</c:v>
                </c:pt>
                <c:pt idx="153">
                  <c:v>5.4189</c:v>
                </c:pt>
                <c:pt idx="154">
                  <c:v>5.2041</c:v>
                </c:pt>
                <c:pt idx="155">
                  <c:v>5.1395</c:v>
                </c:pt>
                <c:pt idx="156">
                  <c:v>4.8685</c:v>
                </c:pt>
                <c:pt idx="157">
                  <c:v>4.7489</c:v>
                </c:pt>
                <c:pt idx="158">
                  <c:v>4.6852</c:v>
                </c:pt>
                <c:pt idx="159">
                  <c:v>4.9284</c:v>
                </c:pt>
                <c:pt idx="160">
                  <c:v>5.0845</c:v>
                </c:pt>
                <c:pt idx="161">
                  <c:v>4.6607</c:v>
                </c:pt>
                <c:pt idx="162">
                  <c:v>4.6254</c:v>
                </c:pt>
                <c:pt idx="163">
                  <c:v>4.7062</c:v>
                </c:pt>
                <c:pt idx="164">
                  <c:v>4.2267</c:v>
                </c:pt>
                <c:pt idx="165">
                  <c:v>3.436</c:v>
                </c:pt>
                <c:pt idx="166">
                  <c:v>3.1764</c:v>
                </c:pt>
                <c:pt idx="167">
                  <c:v>3.2618</c:v>
                </c:pt>
                <c:pt idx="168">
                  <c:v>3.0296</c:v>
                </c:pt>
                <c:pt idx="169">
                  <c:v>2.7254</c:v>
                </c:pt>
                <c:pt idx="170">
                  <c:v>2.9521</c:v>
                </c:pt>
                <c:pt idx="171">
                  <c:v>3.2822</c:v>
                </c:pt>
                <c:pt idx="172">
                  <c:v>3.4112</c:v>
                </c:pt>
                <c:pt idx="173">
                  <c:v>3.4327</c:v>
                </c:pt>
                <c:pt idx="174">
                  <c:v>3.6966</c:v>
                </c:pt>
                <c:pt idx="175">
                  <c:v>3.8243</c:v>
                </c:pt>
                <c:pt idx="176">
                  <c:v>3.9911</c:v>
                </c:pt>
                <c:pt idx="177">
                  <c:v>3.8858</c:v>
                </c:pt>
                <c:pt idx="178">
                  <c:v>4.0916</c:v>
                </c:pt>
                <c:pt idx="179">
                  <c:v>4.2575</c:v>
                </c:pt>
                <c:pt idx="180">
                  <c:v>4.1277</c:v>
                </c:pt>
                <c:pt idx="181">
                  <c:v>4.2996</c:v>
                </c:pt>
                <c:pt idx="182">
                  <c:v>4.5515</c:v>
                </c:pt>
                <c:pt idx="183">
                  <c:v>4.6627</c:v>
                </c:pt>
                <c:pt idx="184">
                  <c:v>4.3335</c:v>
                </c:pt>
                <c:pt idx="185">
                  <c:v>4.1147</c:v>
                </c:pt>
                <c:pt idx="186">
                  <c:v>4.3933</c:v>
                </c:pt>
                <c:pt idx="187">
                  <c:v>4.2207</c:v>
                </c:pt>
                <c:pt idx="188">
                  <c:v>4.6254</c:v>
                </c:pt>
                <c:pt idx="189">
                  <c:v>4.8012</c:v>
                </c:pt>
                <c:pt idx="190">
                  <c:v>4.8547</c:v>
                </c:pt>
                <c:pt idx="191">
                  <c:v>5.1639</c:v>
                </c:pt>
                <c:pt idx="192">
                  <c:v>5.2569</c:v>
                </c:pt>
                <c:pt idx="193">
                  <c:v>5.4533</c:v>
                </c:pt>
                <c:pt idx="194">
                  <c:v>5.518</c:v>
                </c:pt>
                <c:pt idx="195">
                  <c:v>5.6921</c:v>
                </c:pt>
                <c:pt idx="196">
                  <c:v>5.6738</c:v>
                </c:pt>
                <c:pt idx="197">
                  <c:v>5.5848</c:v>
                </c:pt>
                <c:pt idx="198">
                  <c:v>5.4023</c:v>
                </c:pt>
                <c:pt idx="199">
                  <c:v>5.1136</c:v>
                </c:pt>
                <c:pt idx="200">
                  <c:v>4.7253</c:v>
                </c:pt>
                <c:pt idx="201">
                  <c:v>5.2665</c:v>
                </c:pt>
                <c:pt idx="202">
                  <c:v>5.2561</c:v>
                </c:pt>
                <c:pt idx="203">
                  <c:v>5.2565</c:v>
                </c:pt>
                <c:pt idx="204">
                  <c:v>5.5096</c:v>
                </c:pt>
                <c:pt idx="205">
                  <c:v>5.722</c:v>
                </c:pt>
                <c:pt idx="206">
                  <c:v>5.8601</c:v>
                </c:pt>
                <c:pt idx="207">
                  <c:v>5.8351</c:v>
                </c:pt>
                <c:pt idx="208">
                  <c:v>5.4938</c:v>
                </c:pt>
                <c:pt idx="209">
                  <c:v>5.6736</c:v>
                </c:pt>
                <c:pt idx="210">
                  <c:v>5.6923</c:v>
                </c:pt>
                <c:pt idx="211">
                  <c:v>5.8333</c:v>
                </c:pt>
                <c:pt idx="212">
                  <c:v>5.9656</c:v>
                </c:pt>
                <c:pt idx="213">
                  <c:v>5.925</c:v>
                </c:pt>
                <c:pt idx="214">
                  <c:v>5.9883</c:v>
                </c:pt>
                <c:pt idx="215">
                  <c:v>6.0809</c:v>
                </c:pt>
                <c:pt idx="216">
                  <c:v>6.4712</c:v>
                </c:pt>
                <c:pt idx="217">
                  <c:v>6.5705</c:v>
                </c:pt>
                <c:pt idx="218">
                  <c:v>6.873</c:v>
                </c:pt>
                <c:pt idx="219">
                  <c:v>6.9837</c:v>
                </c:pt>
                <c:pt idx="220">
                  <c:v>7.108</c:v>
                </c:pt>
                <c:pt idx="221">
                  <c:v>7.0419</c:v>
                </c:pt>
                <c:pt idx="222">
                  <c:v>7.4396</c:v>
                </c:pt>
                <c:pt idx="223">
                  <c:v>7.2403</c:v>
                </c:pt>
                <c:pt idx="224">
                  <c:v>7.5282</c:v>
                </c:pt>
                <c:pt idx="225">
                  <c:v>7.8191</c:v>
                </c:pt>
                <c:pt idx="226">
                  <c:v>7.9842</c:v>
                </c:pt>
                <c:pt idx="227">
                  <c:v>8.2093</c:v>
                </c:pt>
                <c:pt idx="228">
                  <c:v>7.973</c:v>
                </c:pt>
                <c:pt idx="229">
                  <c:v>8.3831</c:v>
                </c:pt>
                <c:pt idx="230">
                  <c:v>8.4384</c:v>
                </c:pt>
                <c:pt idx="231">
                  <c:v>8.4496</c:v>
                </c:pt>
                <c:pt idx="232">
                  <c:v>8.6334</c:v>
                </c:pt>
                <c:pt idx="233">
                  <c:v>8.8597</c:v>
                </c:pt>
                <c:pt idx="234">
                  <c:v>8.6402</c:v>
                </c:pt>
                <c:pt idx="235">
                  <c:v>9.0126</c:v>
                </c:pt>
                <c:pt idx="236">
                  <c:v>8.8263</c:v>
                </c:pt>
                <c:pt idx="237">
                  <c:v>9.1028</c:v>
                </c:pt>
                <c:pt idx="238">
                  <c:v>9.3716</c:v>
                </c:pt>
                <c:pt idx="239">
                  <c:v>9.4063</c:v>
                </c:pt>
                <c:pt idx="240">
                  <c:v>9.1974</c:v>
                </c:pt>
                <c:pt idx="241">
                  <c:v>9.7114</c:v>
                </c:pt>
                <c:pt idx="242">
                  <c:v>9.6488</c:v>
                </c:pt>
                <c:pt idx="243">
                  <c:v>9.6371</c:v>
                </c:pt>
                <c:pt idx="244">
                  <c:v>9.7734</c:v>
                </c:pt>
                <c:pt idx="245">
                  <c:v>9.5952</c:v>
                </c:pt>
                <c:pt idx="246">
                  <c:v>9.7489</c:v>
                </c:pt>
                <c:pt idx="247">
                  <c:v>9.2271</c:v>
                </c:pt>
                <c:pt idx="248">
                  <c:v>8.9685</c:v>
                </c:pt>
                <c:pt idx="249">
                  <c:v>9.584</c:v>
                </c:pt>
                <c:pt idx="250">
                  <c:v>9.6169</c:v>
                </c:pt>
                <c:pt idx="251">
                  <c:v>9.3998</c:v>
                </c:pt>
                <c:pt idx="252">
                  <c:v>8.8962</c:v>
                </c:pt>
                <c:pt idx="253">
                  <c:v>9.0031</c:v>
                </c:pt>
                <c:pt idx="254">
                  <c:v>9.6546</c:v>
                </c:pt>
                <c:pt idx="255">
                  <c:v>9.7577</c:v>
                </c:pt>
                <c:pt idx="256">
                  <c:v>9.9284</c:v>
                </c:pt>
                <c:pt idx="257">
                  <c:v>9.9937</c:v>
                </c:pt>
                <c:pt idx="258">
                  <c:v>10.3475</c:v>
                </c:pt>
                <c:pt idx="259">
                  <c:v>10.379</c:v>
                </c:pt>
                <c:pt idx="260">
                  <c:v>10.3691</c:v>
                </c:pt>
                <c:pt idx="261">
                  <c:v>10.1634</c:v>
                </c:pt>
                <c:pt idx="262">
                  <c:v>10.7054</c:v>
                </c:pt>
                <c:pt idx="263">
                  <c:v>10.8385</c:v>
                </c:pt>
                <c:pt idx="264">
                  <c:v>11.0842</c:v>
                </c:pt>
                <c:pt idx="265">
                  <c:v>11.5015</c:v>
                </c:pt>
                <c:pt idx="266">
                  <c:v>11.4996</c:v>
                </c:pt>
                <c:pt idx="267">
                  <c:v>11.6122</c:v>
                </c:pt>
                <c:pt idx="268">
                  <c:v>11.7554</c:v>
                </c:pt>
                <c:pt idx="269">
                  <c:v>11.8563</c:v>
                </c:pt>
                <c:pt idx="270">
                  <c:v>12.0575</c:v>
                </c:pt>
                <c:pt idx="271">
                  <c:v>12.023</c:v>
                </c:pt>
                <c:pt idx="272">
                  <c:v>12.36</c:v>
                </c:pt>
                <c:pt idx="273">
                  <c:v>12.5941</c:v>
                </c:pt>
                <c:pt idx="274">
                  <c:v>13.1007</c:v>
                </c:pt>
                <c:pt idx="275">
                  <c:v>13.2356</c:v>
                </c:pt>
                <c:pt idx="276">
                  <c:v>13.8822</c:v>
                </c:pt>
                <c:pt idx="277">
                  <c:v>13.3366</c:v>
                </c:pt>
                <c:pt idx="278">
                  <c:v>13.227</c:v>
                </c:pt>
                <c:pt idx="279">
                  <c:v>13.2549</c:v>
                </c:pt>
                <c:pt idx="280">
                  <c:v>13.4531</c:v>
                </c:pt>
                <c:pt idx="281">
                  <c:v>13.538</c:v>
                </c:pt>
                <c:pt idx="282">
                  <c:v>14.0264</c:v>
                </c:pt>
                <c:pt idx="283">
                  <c:v>14.3705</c:v>
                </c:pt>
                <c:pt idx="284">
                  <c:v>14.4065</c:v>
                </c:pt>
                <c:pt idx="285">
                  <c:v>13.3687</c:v>
                </c:pt>
                <c:pt idx="286">
                  <c:v>13.7513</c:v>
                </c:pt>
                <c:pt idx="287">
                  <c:v>12.4636</c:v>
                </c:pt>
                <c:pt idx="288">
                  <c:v>13.5773</c:v>
                </c:pt>
                <c:pt idx="289">
                  <c:v>14.1142</c:v>
                </c:pt>
                <c:pt idx="290">
                  <c:v>14.2529</c:v>
                </c:pt>
                <c:pt idx="291">
                  <c:v>14.82</c:v>
                </c:pt>
                <c:pt idx="292">
                  <c:v>13.9625</c:v>
                </c:pt>
                <c:pt idx="293">
                  <c:v>14.9823</c:v>
                </c:pt>
                <c:pt idx="294">
                  <c:v>15.1748</c:v>
                </c:pt>
                <c:pt idx="295">
                  <c:v>14.8581</c:v>
                </c:pt>
                <c:pt idx="296">
                  <c:v>15.1781</c:v>
                </c:pt>
                <c:pt idx="297">
                  <c:v>15.3602</c:v>
                </c:pt>
                <c:pt idx="298">
                  <c:v>15.9458</c:v>
                </c:pt>
                <c:pt idx="299">
                  <c:v>16.307</c:v>
                </c:pt>
                <c:pt idx="300">
                  <c:v>16.2232</c:v>
                </c:pt>
                <c:pt idx="301">
                  <c:v>14.8437</c:v>
                </c:pt>
                <c:pt idx="302">
                  <c:v>12.4581</c:v>
                </c:pt>
                <c:pt idx="303">
                  <c:v>14.0209</c:v>
                </c:pt>
                <c:pt idx="304">
                  <c:v>14.9198</c:v>
                </c:pt>
                <c:pt idx="305">
                  <c:v>14.9979</c:v>
                </c:pt>
                <c:pt idx="306">
                  <c:v>15.8451</c:v>
                </c:pt>
                <c:pt idx="307">
                  <c:v>16.4698</c:v>
                </c:pt>
                <c:pt idx="308">
                  <c:v>16.148</c:v>
                </c:pt>
                <c:pt idx="309">
                  <c:v>16.0663</c:v>
                </c:pt>
                <c:pt idx="310">
                  <c:v>18.0236</c:v>
                </c:pt>
                <c:pt idx="311">
                  <c:v>18.7607</c:v>
                </c:pt>
                <c:pt idx="312">
                  <c:v>18.4891</c:v>
                </c:pt>
                <c:pt idx="313">
                  <c:v>19.2411</c:v>
                </c:pt>
                <c:pt idx="314">
                  <c:v>20.2437</c:v>
                </c:pt>
                <c:pt idx="315">
                  <c:v>21.2073</c:v>
                </c:pt>
                <c:pt idx="316">
                  <c:v>21.4375</c:v>
                </c:pt>
                <c:pt idx="317">
                  <c:v>21.5256</c:v>
                </c:pt>
                <c:pt idx="318">
                  <c:v>21.8401</c:v>
                </c:pt>
                <c:pt idx="319">
                  <c:v>22.3452</c:v>
                </c:pt>
                <c:pt idx="320">
                  <c:v>21.3908</c:v>
                </c:pt>
                <c:pt idx="321">
                  <c:v>22.589</c:v>
                </c:pt>
                <c:pt idx="322">
                  <c:v>22.015</c:v>
                </c:pt>
                <c:pt idx="323">
                  <c:v>23.2613</c:v>
                </c:pt>
                <c:pt idx="324">
                  <c:v>22.0795</c:v>
                </c:pt>
                <c:pt idx="325">
                  <c:v>21.8559</c:v>
                </c:pt>
                <c:pt idx="326">
                  <c:v>22.4493</c:v>
                </c:pt>
                <c:pt idx="327">
                  <c:v>21.002</c:v>
                </c:pt>
                <c:pt idx="328">
                  <c:v>21.2031</c:v>
                </c:pt>
                <c:pt idx="329">
                  <c:v>19.4732</c:v>
                </c:pt>
                <c:pt idx="330">
                  <c:v>21.1115</c:v>
                </c:pt>
                <c:pt idx="331">
                  <c:v>20.528</c:v>
                </c:pt>
                <c:pt idx="332">
                  <c:v>18.7213</c:v>
                </c:pt>
                <c:pt idx="333">
                  <c:v>20.4285</c:v>
                </c:pt>
                <c:pt idx="334">
                  <c:v>21.7707</c:v>
                </c:pt>
                <c:pt idx="335">
                  <c:v>20.7789</c:v>
                </c:pt>
                <c:pt idx="336">
                  <c:v>22.0548</c:v>
                </c:pt>
                <c:pt idx="337">
                  <c:v>21.3959</c:v>
                </c:pt>
                <c:pt idx="338">
                  <c:v>21.4705</c:v>
                </c:pt>
                <c:pt idx="339">
                  <c:v>21.5559</c:v>
                </c:pt>
                <c:pt idx="340">
                  <c:v>20.8418</c:v>
                </c:pt>
                <c:pt idx="341">
                  <c:v>22.3393</c:v>
                </c:pt>
                <c:pt idx="342">
                  <c:v>23.0133</c:v>
                </c:pt>
                <c:pt idx="343">
                  <c:v>22.4138</c:v>
                </c:pt>
                <c:pt idx="344">
                  <c:v>21.353</c:v>
                </c:pt>
                <c:pt idx="345">
                  <c:v>20.6027</c:v>
                </c:pt>
                <c:pt idx="346">
                  <c:v>22.416</c:v>
                </c:pt>
                <c:pt idx="347">
                  <c:v>23.8233</c:v>
                </c:pt>
                <c:pt idx="348">
                  <c:v>23.7959</c:v>
                </c:pt>
                <c:pt idx="349">
                  <c:v>24.8469</c:v>
                </c:pt>
                <c:pt idx="350">
                  <c:v>25.9575</c:v>
                </c:pt>
                <c:pt idx="351">
                  <c:v>24.7473</c:v>
                </c:pt>
                <c:pt idx="352">
                  <c:v>25.3896</c:v>
                </c:pt>
                <c:pt idx="353">
                  <c:v>25.3196</c:v>
                </c:pt>
                <c:pt idx="354">
                  <c:v>26.3826</c:v>
                </c:pt>
                <c:pt idx="355">
                  <c:v>27.0519</c:v>
                </c:pt>
                <c:pt idx="356">
                  <c:v>27.5742</c:v>
                </c:pt>
                <c:pt idx="357">
                  <c:v>27.29</c:v>
                </c:pt>
                <c:pt idx="358">
                  <c:v>29.0765</c:v>
                </c:pt>
                <c:pt idx="359">
                  <c:v>27.256</c:v>
                </c:pt>
                <c:pt idx="360">
                  <c:v>28.3397</c:v>
                </c:pt>
                <c:pt idx="361">
                  <c:v>28.0577</c:v>
                </c:pt>
                <c:pt idx="362">
                  <c:v>27.0807</c:v>
                </c:pt>
                <c:pt idx="363">
                  <c:v>26.5891</c:v>
                </c:pt>
                <c:pt idx="364">
                  <c:v>27.6849</c:v>
                </c:pt>
                <c:pt idx="365">
                  <c:v>28.5874</c:v>
                </c:pt>
                <c:pt idx="366">
                  <c:v>28.7434</c:v>
                </c:pt>
                <c:pt idx="367">
                  <c:v>29.4553</c:v>
                </c:pt>
                <c:pt idx="368">
                  <c:v>29.7439</c:v>
                </c:pt>
                <c:pt idx="369">
                  <c:v>29.5846</c:v>
                </c:pt>
                <c:pt idx="370">
                  <c:v>30.1761</c:v>
                </c:pt>
                <c:pt idx="371">
                  <c:v>30.2529</c:v>
                </c:pt>
              </c:numCache>
            </c:numRef>
          </c:val>
          <c:smooth val="0"/>
        </c:ser>
        <c:ser>
          <c:idx val="2"/>
          <c:order val="2"/>
          <c:tx>
            <c:strRef>
              <c:f>Sheet1!$D$1</c:f>
              <c:strCache>
                <c:ptCount val="1"/>
                <c:pt idx="0">
                  <c:v>Shrunk sample</c:v>
                </c:pt>
              </c:strCache>
            </c:strRef>
          </c:tx>
          <c:spPr>
            <a:solidFill>
              <a:srgbClr val="16A3B8"/>
            </a:solidFill>
            <a:ln w="19050" cap="flat">
              <a:solidFill>
                <a:srgbClr val="16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A3B8"/>
              </a:solidFill>
              <a:ln w="9525" cap="flat">
                <a:solidFill>
                  <a:srgbClr val="16A3B8"/>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Sheet1!$D$2:$D$373</c:f>
              <c:numCache>
                <c:formatCode>General</c:formatCode>
                <c:ptCount val="372"/>
                <c:pt idx="0">
                  <c:v>1.002</c:v>
                </c:pt>
                <c:pt idx="1">
                  <c:v>1.0555</c:v>
                </c:pt>
                <c:pt idx="2">
                  <c:v>1.1258</c:v>
                </c:pt>
                <c:pt idx="3">
                  <c:v>1.1662</c:v>
                </c:pt>
                <c:pt idx="4">
                  <c:v>1.2052</c:v>
                </c:pt>
                <c:pt idx="5">
                  <c:v>1.231</c:v>
                </c:pt>
                <c:pt idx="6">
                  <c:v>1.2655</c:v>
                </c:pt>
                <c:pt idx="7">
                  <c:v>1.303</c:v>
                </c:pt>
                <c:pt idx="8">
                  <c:v>1.3148</c:v>
                </c:pt>
                <c:pt idx="9">
                  <c:v>1.2601</c:v>
                </c:pt>
                <c:pt idx="10">
                  <c:v>1.337</c:v>
                </c:pt>
                <c:pt idx="11">
                  <c:v>1.357</c:v>
                </c:pt>
                <c:pt idx="12">
                  <c:v>1.3824</c:v>
                </c:pt>
                <c:pt idx="13">
                  <c:v>1.4053</c:v>
                </c:pt>
                <c:pt idx="14">
                  <c:v>1.3866</c:v>
                </c:pt>
                <c:pt idx="15">
                  <c:v>1.4573</c:v>
                </c:pt>
                <c:pt idx="16">
                  <c:v>1.4806</c:v>
                </c:pt>
                <c:pt idx="17">
                  <c:v>1.4479</c:v>
                </c:pt>
                <c:pt idx="18">
                  <c:v>1.3532</c:v>
                </c:pt>
                <c:pt idx="19">
                  <c:v>1.403</c:v>
                </c:pt>
                <c:pt idx="20">
                  <c:v>1.4633</c:v>
                </c:pt>
                <c:pt idx="21">
                  <c:v>1.4638</c:v>
                </c:pt>
                <c:pt idx="22">
                  <c:v>1.5692</c:v>
                </c:pt>
                <c:pt idx="23">
                  <c:v>1.5576</c:v>
                </c:pt>
                <c:pt idx="24">
                  <c:v>1.6207</c:v>
                </c:pt>
                <c:pt idx="25">
                  <c:v>1.6195</c:v>
                </c:pt>
                <c:pt idx="26">
                  <c:v>1.5499</c:v>
                </c:pt>
                <c:pt idx="27">
                  <c:v>1.5177</c:v>
                </c:pt>
                <c:pt idx="28">
                  <c:v>1.6035</c:v>
                </c:pt>
                <c:pt idx="29">
                  <c:v>1.6293</c:v>
                </c:pt>
                <c:pt idx="30">
                  <c:v>1.7708</c:v>
                </c:pt>
                <c:pt idx="31">
                  <c:v>1.806</c:v>
                </c:pt>
                <c:pt idx="32">
                  <c:v>1.873</c:v>
                </c:pt>
                <c:pt idx="33">
                  <c:v>1.7717</c:v>
                </c:pt>
                <c:pt idx="34">
                  <c:v>1.7803</c:v>
                </c:pt>
                <c:pt idx="35">
                  <c:v>1.7476</c:v>
                </c:pt>
                <c:pt idx="36">
                  <c:v>1.7479</c:v>
                </c:pt>
                <c:pt idx="37">
                  <c:v>1.9006</c:v>
                </c:pt>
                <c:pt idx="38">
                  <c:v>2.0321</c:v>
                </c:pt>
                <c:pt idx="39">
                  <c:v>1.9436</c:v>
                </c:pt>
                <c:pt idx="40">
                  <c:v>1.8295</c:v>
                </c:pt>
                <c:pt idx="41">
                  <c:v>1.8559</c:v>
                </c:pt>
                <c:pt idx="42">
                  <c:v>1.7856</c:v>
                </c:pt>
                <c:pt idx="43">
                  <c:v>1.5142</c:v>
                </c:pt>
                <c:pt idx="44">
                  <c:v>1.6876</c:v>
                </c:pt>
                <c:pt idx="45">
                  <c:v>1.8423</c:v>
                </c:pt>
                <c:pt idx="46">
                  <c:v>1.96</c:v>
                </c:pt>
                <c:pt idx="47">
                  <c:v>2.0579</c:v>
                </c:pt>
                <c:pt idx="48">
                  <c:v>2.0967</c:v>
                </c:pt>
                <c:pt idx="49">
                  <c:v>1.9677</c:v>
                </c:pt>
                <c:pt idx="50">
                  <c:v>2.067</c:v>
                </c:pt>
                <c:pt idx="51">
                  <c:v>2.1978</c:v>
                </c:pt>
                <c:pt idx="52">
                  <c:v>2.2461</c:v>
                </c:pt>
                <c:pt idx="53">
                  <c:v>2.2893</c:v>
                </c:pt>
                <c:pt idx="54">
                  <c:v>2.2746</c:v>
                </c:pt>
                <c:pt idx="55">
                  <c:v>2.2662</c:v>
                </c:pt>
                <c:pt idx="56">
                  <c:v>2.1513</c:v>
                </c:pt>
                <c:pt idx="57">
                  <c:v>2.1407</c:v>
                </c:pt>
                <c:pt idx="58">
                  <c:v>2.1921</c:v>
                </c:pt>
                <c:pt idx="59">
                  <c:v>2.2682</c:v>
                </c:pt>
                <c:pt idx="60">
                  <c:v>2.0874</c:v>
                </c:pt>
                <c:pt idx="61">
                  <c:v>2.1678</c:v>
                </c:pt>
                <c:pt idx="62">
                  <c:v>2.3174</c:v>
                </c:pt>
                <c:pt idx="63">
                  <c:v>2.2909</c:v>
                </c:pt>
                <c:pt idx="64">
                  <c:v>2.2776</c:v>
                </c:pt>
                <c:pt idx="65">
                  <c:v>2.3105</c:v>
                </c:pt>
                <c:pt idx="66">
                  <c:v>2.2966</c:v>
                </c:pt>
                <c:pt idx="67">
                  <c:v>2.5013</c:v>
                </c:pt>
                <c:pt idx="68">
                  <c:v>2.5766</c:v>
                </c:pt>
                <c:pt idx="69">
                  <c:v>2.6238</c:v>
                </c:pt>
                <c:pt idx="70">
                  <c:v>2.4725</c:v>
                </c:pt>
                <c:pt idx="71">
                  <c:v>2.5618</c:v>
                </c:pt>
                <c:pt idx="72">
                  <c:v>2.6981</c:v>
                </c:pt>
                <c:pt idx="73">
                  <c:v>2.6204</c:v>
                </c:pt>
                <c:pt idx="74">
                  <c:v>2.5223</c:v>
                </c:pt>
                <c:pt idx="75">
                  <c:v>2.691</c:v>
                </c:pt>
                <c:pt idx="76">
                  <c:v>2.7808</c:v>
                </c:pt>
                <c:pt idx="77">
                  <c:v>2.8526</c:v>
                </c:pt>
                <c:pt idx="78">
                  <c:v>2.8215</c:v>
                </c:pt>
                <c:pt idx="79">
                  <c:v>2.7542</c:v>
                </c:pt>
                <c:pt idx="80">
                  <c:v>2.4709</c:v>
                </c:pt>
                <c:pt idx="81">
                  <c:v>2.486</c:v>
                </c:pt>
                <c:pt idx="82">
                  <c:v>2.6306</c:v>
                </c:pt>
                <c:pt idx="83">
                  <c:v>2.6505</c:v>
                </c:pt>
                <c:pt idx="84">
                  <c:v>2.604</c:v>
                </c:pt>
                <c:pt idx="85">
                  <c:v>2.5104</c:v>
                </c:pt>
                <c:pt idx="86">
                  <c:v>2.6656</c:v>
                </c:pt>
                <c:pt idx="87">
                  <c:v>2.6263</c:v>
                </c:pt>
                <c:pt idx="88">
                  <c:v>2.5972</c:v>
                </c:pt>
                <c:pt idx="89">
                  <c:v>2.3675</c:v>
                </c:pt>
                <c:pt idx="90">
                  <c:v>2.1803</c:v>
                </c:pt>
                <c:pt idx="91">
                  <c:v>2.1996</c:v>
                </c:pt>
                <c:pt idx="92">
                  <c:v>2.0411</c:v>
                </c:pt>
                <c:pt idx="93">
                  <c:v>2.1704</c:v>
                </c:pt>
                <c:pt idx="94">
                  <c:v>2.2859</c:v>
                </c:pt>
                <c:pt idx="95">
                  <c:v>2.2786</c:v>
                </c:pt>
                <c:pt idx="96">
                  <c:v>2.2676</c:v>
                </c:pt>
                <c:pt idx="97">
                  <c:v>2.2283</c:v>
                </c:pt>
                <c:pt idx="98">
                  <c:v>2.2329</c:v>
                </c:pt>
                <c:pt idx="99">
                  <c:v>2.3371</c:v>
                </c:pt>
                <c:pt idx="100">
                  <c:v>2.5663</c:v>
                </c:pt>
                <c:pt idx="101">
                  <c:v>2.6169</c:v>
                </c:pt>
                <c:pt idx="102">
                  <c:v>2.6037</c:v>
                </c:pt>
                <c:pt idx="103">
                  <c:v>2.7242</c:v>
                </c:pt>
                <c:pt idx="104">
                  <c:v>2.7407</c:v>
                </c:pt>
                <c:pt idx="105">
                  <c:v>2.8671</c:v>
                </c:pt>
                <c:pt idx="106">
                  <c:v>2.9518</c:v>
                </c:pt>
                <c:pt idx="107">
                  <c:v>3.0758</c:v>
                </c:pt>
                <c:pt idx="108">
                  <c:v>3.1089</c:v>
                </c:pt>
                <c:pt idx="109">
                  <c:v>3.1836</c:v>
                </c:pt>
                <c:pt idx="110">
                  <c:v>3.1626</c:v>
                </c:pt>
                <c:pt idx="111">
                  <c:v>3.258</c:v>
                </c:pt>
                <c:pt idx="112">
                  <c:v>3.3513</c:v>
                </c:pt>
                <c:pt idx="113">
                  <c:v>3.498</c:v>
                </c:pt>
                <c:pt idx="114">
                  <c:v>3.2671</c:v>
                </c:pt>
                <c:pt idx="115">
                  <c:v>3.2888</c:v>
                </c:pt>
                <c:pt idx="116">
                  <c:v>3.3217</c:v>
                </c:pt>
                <c:pt idx="117">
                  <c:v>3.4349</c:v>
                </c:pt>
                <c:pt idx="118">
                  <c:v>3.5691</c:v>
                </c:pt>
                <c:pt idx="119">
                  <c:v>3.8051</c:v>
                </c:pt>
                <c:pt idx="120">
                  <c:v>3.7117</c:v>
                </c:pt>
                <c:pt idx="121">
                  <c:v>3.7832</c:v>
                </c:pt>
                <c:pt idx="122">
                  <c:v>3.7924</c:v>
                </c:pt>
                <c:pt idx="123">
                  <c:v>3.8268</c:v>
                </c:pt>
                <c:pt idx="124">
                  <c:v>3.9509</c:v>
                </c:pt>
                <c:pt idx="125">
                  <c:v>4.0106</c:v>
                </c:pt>
                <c:pt idx="126">
                  <c:v>4.1613</c:v>
                </c:pt>
                <c:pt idx="127">
                  <c:v>4.1078</c:v>
                </c:pt>
                <c:pt idx="128">
                  <c:v>4.1287</c:v>
                </c:pt>
                <c:pt idx="129">
                  <c:v>4.0049</c:v>
                </c:pt>
                <c:pt idx="130">
                  <c:v>4.1764</c:v>
                </c:pt>
                <c:pt idx="131">
                  <c:v>4.2009</c:v>
                </c:pt>
                <c:pt idx="132">
                  <c:v>4.2767</c:v>
                </c:pt>
                <c:pt idx="133">
                  <c:v>4.3004</c:v>
                </c:pt>
                <c:pt idx="134">
                  <c:v>4.2984</c:v>
                </c:pt>
                <c:pt idx="135">
                  <c:v>4.2595</c:v>
                </c:pt>
                <c:pt idx="136">
                  <c:v>4.2782</c:v>
                </c:pt>
                <c:pt idx="137">
                  <c:v>4.3002</c:v>
                </c:pt>
                <c:pt idx="138">
                  <c:v>4.3367</c:v>
                </c:pt>
                <c:pt idx="139">
                  <c:v>4.432</c:v>
                </c:pt>
                <c:pt idx="140">
                  <c:v>4.5427</c:v>
                </c:pt>
                <c:pt idx="141">
                  <c:v>4.6367</c:v>
                </c:pt>
                <c:pt idx="142">
                  <c:v>4.6982</c:v>
                </c:pt>
                <c:pt idx="143">
                  <c:v>4.7359</c:v>
                </c:pt>
                <c:pt idx="144">
                  <c:v>4.8741</c:v>
                </c:pt>
                <c:pt idx="145">
                  <c:v>4.8653</c:v>
                </c:pt>
                <c:pt idx="146">
                  <c:v>4.7938</c:v>
                </c:pt>
                <c:pt idx="147">
                  <c:v>5.0056</c:v>
                </c:pt>
                <c:pt idx="148">
                  <c:v>5.2053</c:v>
                </c:pt>
                <c:pt idx="149">
                  <c:v>5.0974</c:v>
                </c:pt>
                <c:pt idx="150">
                  <c:v>4.9419</c:v>
                </c:pt>
                <c:pt idx="151">
                  <c:v>5.0037</c:v>
                </c:pt>
                <c:pt idx="152">
                  <c:v>5.1867</c:v>
                </c:pt>
                <c:pt idx="153">
                  <c:v>5.2266</c:v>
                </c:pt>
                <c:pt idx="154">
                  <c:v>4.9806</c:v>
                </c:pt>
                <c:pt idx="155">
                  <c:v>4.7552</c:v>
                </c:pt>
                <c:pt idx="156">
                  <c:v>4.5397</c:v>
                </c:pt>
                <c:pt idx="157">
                  <c:v>4.2974</c:v>
                </c:pt>
                <c:pt idx="158">
                  <c:v>4.1456</c:v>
                </c:pt>
                <c:pt idx="159">
                  <c:v>4.343</c:v>
                </c:pt>
                <c:pt idx="160">
                  <c:v>4.4074</c:v>
                </c:pt>
                <c:pt idx="161">
                  <c:v>4.0403</c:v>
                </c:pt>
                <c:pt idx="162">
                  <c:v>4.1797</c:v>
                </c:pt>
                <c:pt idx="163">
                  <c:v>4.0055</c:v>
                </c:pt>
                <c:pt idx="164">
                  <c:v>3.3018</c:v>
                </c:pt>
                <c:pt idx="165">
                  <c:v>2.8036</c:v>
                </c:pt>
                <c:pt idx="166">
                  <c:v>2.5033</c:v>
                </c:pt>
                <c:pt idx="167">
                  <c:v>2.4776</c:v>
                </c:pt>
                <c:pt idx="168">
                  <c:v>2.338</c:v>
                </c:pt>
                <c:pt idx="169">
                  <c:v>2.1683</c:v>
                </c:pt>
                <c:pt idx="170">
                  <c:v>2.4226</c:v>
                </c:pt>
                <c:pt idx="171">
                  <c:v>2.6255</c:v>
                </c:pt>
                <c:pt idx="172">
                  <c:v>2.6358</c:v>
                </c:pt>
                <c:pt idx="173">
                  <c:v>2.7085</c:v>
                </c:pt>
                <c:pt idx="174">
                  <c:v>2.79</c:v>
                </c:pt>
                <c:pt idx="175">
                  <c:v>2.9297</c:v>
                </c:pt>
                <c:pt idx="176">
                  <c:v>3.1242</c:v>
                </c:pt>
                <c:pt idx="177">
                  <c:v>2.8842</c:v>
                </c:pt>
                <c:pt idx="178">
                  <c:v>3.0844</c:v>
                </c:pt>
                <c:pt idx="179">
                  <c:v>3.161</c:v>
                </c:pt>
                <c:pt idx="180">
                  <c:v>3.1657</c:v>
                </c:pt>
                <c:pt idx="181">
                  <c:v>3.3195</c:v>
                </c:pt>
                <c:pt idx="182">
                  <c:v>3.4737</c:v>
                </c:pt>
                <c:pt idx="183">
                  <c:v>3.5867</c:v>
                </c:pt>
                <c:pt idx="184">
                  <c:v>3.307</c:v>
                </c:pt>
                <c:pt idx="185">
                  <c:v>3.1184</c:v>
                </c:pt>
                <c:pt idx="186">
                  <c:v>3.3011</c:v>
                </c:pt>
                <c:pt idx="187">
                  <c:v>3.2339</c:v>
                </c:pt>
                <c:pt idx="188">
                  <c:v>3.522</c:v>
                </c:pt>
                <c:pt idx="189">
                  <c:v>3.5149</c:v>
                </c:pt>
                <c:pt idx="190">
                  <c:v>3.4198</c:v>
                </c:pt>
                <c:pt idx="191">
                  <c:v>3.6439</c:v>
                </c:pt>
                <c:pt idx="192">
                  <c:v>3.7236</c:v>
                </c:pt>
                <c:pt idx="193">
                  <c:v>3.8522</c:v>
                </c:pt>
                <c:pt idx="194">
                  <c:v>3.901</c:v>
                </c:pt>
                <c:pt idx="195">
                  <c:v>4.0301</c:v>
                </c:pt>
                <c:pt idx="196">
                  <c:v>4.0192</c:v>
                </c:pt>
                <c:pt idx="197">
                  <c:v>3.9327</c:v>
                </c:pt>
                <c:pt idx="198">
                  <c:v>3.8661</c:v>
                </c:pt>
                <c:pt idx="199">
                  <c:v>3.5444</c:v>
                </c:pt>
                <c:pt idx="200">
                  <c:v>3.1846</c:v>
                </c:pt>
                <c:pt idx="201">
                  <c:v>3.493</c:v>
                </c:pt>
                <c:pt idx="202">
                  <c:v>3.3335</c:v>
                </c:pt>
                <c:pt idx="203">
                  <c:v>3.3251</c:v>
                </c:pt>
                <c:pt idx="204">
                  <c:v>3.4867</c:v>
                </c:pt>
                <c:pt idx="205">
                  <c:v>3.5697</c:v>
                </c:pt>
                <c:pt idx="206">
                  <c:v>3.584</c:v>
                </c:pt>
                <c:pt idx="207">
                  <c:v>3.4586</c:v>
                </c:pt>
                <c:pt idx="208">
                  <c:v>3.4627</c:v>
                </c:pt>
                <c:pt idx="209">
                  <c:v>3.5471</c:v>
                </c:pt>
                <c:pt idx="210">
                  <c:v>3.4122</c:v>
                </c:pt>
                <c:pt idx="211">
                  <c:v>3.5209</c:v>
                </c:pt>
                <c:pt idx="212">
                  <c:v>3.6968</c:v>
                </c:pt>
                <c:pt idx="213">
                  <c:v>3.605</c:v>
                </c:pt>
                <c:pt idx="214">
                  <c:v>3.5691</c:v>
                </c:pt>
                <c:pt idx="215">
                  <c:v>3.7165</c:v>
                </c:pt>
                <c:pt idx="216">
                  <c:v>4.0019</c:v>
                </c:pt>
                <c:pt idx="217">
                  <c:v>4.1499</c:v>
                </c:pt>
                <c:pt idx="218">
                  <c:v>4.5516</c:v>
                </c:pt>
                <c:pt idx="219">
                  <c:v>4.8707</c:v>
                </c:pt>
                <c:pt idx="220">
                  <c:v>5.0552</c:v>
                </c:pt>
                <c:pt idx="221">
                  <c:v>4.9145</c:v>
                </c:pt>
                <c:pt idx="222">
                  <c:v>5.2327</c:v>
                </c:pt>
                <c:pt idx="223">
                  <c:v>5.1977</c:v>
                </c:pt>
                <c:pt idx="224">
                  <c:v>5.3591</c:v>
                </c:pt>
                <c:pt idx="225">
                  <c:v>5.4218</c:v>
                </c:pt>
                <c:pt idx="226">
                  <c:v>5.3126</c:v>
                </c:pt>
                <c:pt idx="227">
                  <c:v>5.4869</c:v>
                </c:pt>
                <c:pt idx="228">
                  <c:v>5.4574</c:v>
                </c:pt>
                <c:pt idx="229">
                  <c:v>5.8235</c:v>
                </c:pt>
                <c:pt idx="230">
                  <c:v>5.7194</c:v>
                </c:pt>
                <c:pt idx="231">
                  <c:v>5.7273</c:v>
                </c:pt>
                <c:pt idx="232">
                  <c:v>5.9262</c:v>
                </c:pt>
                <c:pt idx="233">
                  <c:v>6.3732</c:v>
                </c:pt>
                <c:pt idx="234">
                  <c:v>6.2695</c:v>
                </c:pt>
                <c:pt idx="235">
                  <c:v>6.7571</c:v>
                </c:pt>
                <c:pt idx="236">
                  <c:v>6.6792</c:v>
                </c:pt>
                <c:pt idx="237">
                  <c:v>6.7599</c:v>
                </c:pt>
                <c:pt idx="238">
                  <c:v>6.8954</c:v>
                </c:pt>
                <c:pt idx="239">
                  <c:v>6.897</c:v>
                </c:pt>
                <c:pt idx="240">
                  <c:v>7.377</c:v>
                </c:pt>
                <c:pt idx="241">
                  <c:v>7.659</c:v>
                </c:pt>
                <c:pt idx="242">
                  <c:v>7.2993</c:v>
                </c:pt>
                <c:pt idx="243">
                  <c:v>7.5937</c:v>
                </c:pt>
                <c:pt idx="244">
                  <c:v>7.6137</c:v>
                </c:pt>
                <c:pt idx="245">
                  <c:v>7.1919</c:v>
                </c:pt>
                <c:pt idx="246">
                  <c:v>6.9324</c:v>
                </c:pt>
                <c:pt idx="247">
                  <c:v>6.4615</c:v>
                </c:pt>
                <c:pt idx="248">
                  <c:v>6.0601</c:v>
                </c:pt>
                <c:pt idx="249">
                  <c:v>6.4767</c:v>
                </c:pt>
                <c:pt idx="250">
                  <c:v>6.4609</c:v>
                </c:pt>
                <c:pt idx="251">
                  <c:v>6.5537</c:v>
                </c:pt>
                <c:pt idx="252">
                  <c:v>6.1312</c:v>
                </c:pt>
                <c:pt idx="253">
                  <c:v>6.5095</c:v>
                </c:pt>
                <c:pt idx="254">
                  <c:v>6.8843</c:v>
                </c:pt>
                <c:pt idx="255">
                  <c:v>7.1308</c:v>
                </c:pt>
                <c:pt idx="256">
                  <c:v>7.2189</c:v>
                </c:pt>
                <c:pt idx="257">
                  <c:v>7.4667</c:v>
                </c:pt>
                <c:pt idx="258">
                  <c:v>7.836</c:v>
                </c:pt>
                <c:pt idx="259">
                  <c:v>7.775</c:v>
                </c:pt>
                <c:pt idx="260">
                  <c:v>7.7743</c:v>
                </c:pt>
                <c:pt idx="261">
                  <c:v>7.5356</c:v>
                </c:pt>
                <c:pt idx="262">
                  <c:v>7.6956</c:v>
                </c:pt>
                <c:pt idx="263">
                  <c:v>7.8559</c:v>
                </c:pt>
                <c:pt idx="264">
                  <c:v>8.114</c:v>
                </c:pt>
                <c:pt idx="265">
                  <c:v>8.2435</c:v>
                </c:pt>
                <c:pt idx="266">
                  <c:v>8.3909</c:v>
                </c:pt>
                <c:pt idx="267">
                  <c:v>8.5212</c:v>
                </c:pt>
                <c:pt idx="268">
                  <c:v>8.5192</c:v>
                </c:pt>
                <c:pt idx="269">
                  <c:v>8.565</c:v>
                </c:pt>
                <c:pt idx="270">
                  <c:v>8.7774</c:v>
                </c:pt>
                <c:pt idx="271">
                  <c:v>8.5425</c:v>
                </c:pt>
                <c:pt idx="272">
                  <c:v>8.6943</c:v>
                </c:pt>
                <c:pt idx="273">
                  <c:v>8.7035</c:v>
                </c:pt>
                <c:pt idx="274">
                  <c:v>9.3098</c:v>
                </c:pt>
                <c:pt idx="275">
                  <c:v>9.628</c:v>
                </c:pt>
                <c:pt idx="276">
                  <c:v>10.0492</c:v>
                </c:pt>
                <c:pt idx="277">
                  <c:v>9.6192</c:v>
                </c:pt>
                <c:pt idx="278">
                  <c:v>9.6923</c:v>
                </c:pt>
                <c:pt idx="279">
                  <c:v>10.0709</c:v>
                </c:pt>
                <c:pt idx="280">
                  <c:v>10.1974</c:v>
                </c:pt>
                <c:pt idx="281">
                  <c:v>10.4729</c:v>
                </c:pt>
                <c:pt idx="282">
                  <c:v>10.5967</c:v>
                </c:pt>
                <c:pt idx="283">
                  <c:v>10.9453</c:v>
                </c:pt>
                <c:pt idx="284">
                  <c:v>10.9464</c:v>
                </c:pt>
                <c:pt idx="285">
                  <c:v>10.2223</c:v>
                </c:pt>
                <c:pt idx="286">
                  <c:v>9.9905</c:v>
                </c:pt>
                <c:pt idx="287">
                  <c:v>8.8671</c:v>
                </c:pt>
                <c:pt idx="288">
                  <c:v>9.4363</c:v>
                </c:pt>
                <c:pt idx="289">
                  <c:v>9.5458</c:v>
                </c:pt>
                <c:pt idx="290">
                  <c:v>9.6328</c:v>
                </c:pt>
                <c:pt idx="291">
                  <c:v>9.9613</c:v>
                </c:pt>
                <c:pt idx="292">
                  <c:v>9.2218</c:v>
                </c:pt>
                <c:pt idx="293">
                  <c:v>10.1325</c:v>
                </c:pt>
                <c:pt idx="294">
                  <c:v>10.156</c:v>
                </c:pt>
                <c:pt idx="295">
                  <c:v>9.5607</c:v>
                </c:pt>
                <c:pt idx="296">
                  <c:v>9.636</c:v>
                </c:pt>
                <c:pt idx="297">
                  <c:v>9.7003</c:v>
                </c:pt>
                <c:pt idx="298">
                  <c:v>9.927</c:v>
                </c:pt>
                <c:pt idx="299">
                  <c:v>10.1853</c:v>
                </c:pt>
                <c:pt idx="300">
                  <c:v>10.3539</c:v>
                </c:pt>
                <c:pt idx="301">
                  <c:v>10.2855</c:v>
                </c:pt>
                <c:pt idx="302">
                  <c:v>8.7619</c:v>
                </c:pt>
                <c:pt idx="303">
                  <c:v>10.143</c:v>
                </c:pt>
                <c:pt idx="304">
                  <c:v>10.7333</c:v>
                </c:pt>
                <c:pt idx="305">
                  <c:v>10.7809</c:v>
                </c:pt>
                <c:pt idx="306">
                  <c:v>11.4781</c:v>
                </c:pt>
                <c:pt idx="307">
                  <c:v>11.6052</c:v>
                </c:pt>
                <c:pt idx="308">
                  <c:v>11.1847</c:v>
                </c:pt>
                <c:pt idx="309">
                  <c:v>11.4014</c:v>
                </c:pt>
                <c:pt idx="310">
                  <c:v>12.8886</c:v>
                </c:pt>
                <c:pt idx="311">
                  <c:v>13.2567</c:v>
                </c:pt>
                <c:pt idx="312">
                  <c:v>14.0317</c:v>
                </c:pt>
                <c:pt idx="313">
                  <c:v>13.9988</c:v>
                </c:pt>
                <c:pt idx="314">
                  <c:v>14.313</c:v>
                </c:pt>
                <c:pt idx="315">
                  <c:v>14.8727</c:v>
                </c:pt>
                <c:pt idx="316">
                  <c:v>15.0421</c:v>
                </c:pt>
                <c:pt idx="317">
                  <c:v>15.1412</c:v>
                </c:pt>
                <c:pt idx="318">
                  <c:v>15.2174</c:v>
                </c:pt>
                <c:pt idx="319">
                  <c:v>15.5734</c:v>
                </c:pt>
                <c:pt idx="320">
                  <c:v>14.7637</c:v>
                </c:pt>
                <c:pt idx="321">
                  <c:v>15.5155</c:v>
                </c:pt>
                <c:pt idx="322">
                  <c:v>15.1241</c:v>
                </c:pt>
                <c:pt idx="323">
                  <c:v>15.8838</c:v>
                </c:pt>
                <c:pt idx="324">
                  <c:v>15.0534</c:v>
                </c:pt>
                <c:pt idx="325">
                  <c:v>15.3164</c:v>
                </c:pt>
                <c:pt idx="326">
                  <c:v>16.4194</c:v>
                </c:pt>
                <c:pt idx="327">
                  <c:v>15.4775</c:v>
                </c:pt>
                <c:pt idx="328">
                  <c:v>15.5397</c:v>
                </c:pt>
                <c:pt idx="329">
                  <c:v>14.6527</c:v>
                </c:pt>
                <c:pt idx="330">
                  <c:v>15.7031</c:v>
                </c:pt>
                <c:pt idx="331">
                  <c:v>15.2747</c:v>
                </c:pt>
                <c:pt idx="332">
                  <c:v>14.0134</c:v>
                </c:pt>
                <c:pt idx="333">
                  <c:v>15.0655</c:v>
                </c:pt>
                <c:pt idx="334">
                  <c:v>15.8771</c:v>
                </c:pt>
                <c:pt idx="335">
                  <c:v>15.0768</c:v>
                </c:pt>
                <c:pt idx="336">
                  <c:v>15.9979</c:v>
                </c:pt>
                <c:pt idx="337">
                  <c:v>15.3512</c:v>
                </c:pt>
                <c:pt idx="338">
                  <c:v>15.8113</c:v>
                </c:pt>
                <c:pt idx="339">
                  <c:v>15.7513</c:v>
                </c:pt>
                <c:pt idx="340">
                  <c:v>15.6928</c:v>
                </c:pt>
                <c:pt idx="341">
                  <c:v>16.3378</c:v>
                </c:pt>
                <c:pt idx="342">
                  <c:v>16.5329</c:v>
                </c:pt>
                <c:pt idx="343">
                  <c:v>16.0067</c:v>
                </c:pt>
                <c:pt idx="344">
                  <c:v>15.3093</c:v>
                </c:pt>
                <c:pt idx="345">
                  <c:v>14.5923</c:v>
                </c:pt>
                <c:pt idx="346">
                  <c:v>15.3951</c:v>
                </c:pt>
                <c:pt idx="347">
                  <c:v>16.4348</c:v>
                </c:pt>
                <c:pt idx="348">
                  <c:v>15.975</c:v>
                </c:pt>
                <c:pt idx="349">
                  <c:v>16.2911</c:v>
                </c:pt>
                <c:pt idx="350">
                  <c:v>16.5835</c:v>
                </c:pt>
                <c:pt idx="351">
                  <c:v>16.3423</c:v>
                </c:pt>
                <c:pt idx="352">
                  <c:v>16.7198</c:v>
                </c:pt>
                <c:pt idx="353">
                  <c:v>16.9876</c:v>
                </c:pt>
                <c:pt idx="354">
                  <c:v>17.2797</c:v>
                </c:pt>
                <c:pt idx="355">
                  <c:v>17.8577</c:v>
                </c:pt>
                <c:pt idx="356">
                  <c:v>18.04</c:v>
                </c:pt>
                <c:pt idx="357">
                  <c:v>18.0716</c:v>
                </c:pt>
                <c:pt idx="358">
                  <c:v>19.1788</c:v>
                </c:pt>
                <c:pt idx="359">
                  <c:v>18.0825</c:v>
                </c:pt>
                <c:pt idx="360">
                  <c:v>18.4654</c:v>
                </c:pt>
                <c:pt idx="361">
                  <c:v>18.8205</c:v>
                </c:pt>
                <c:pt idx="362">
                  <c:v>18.491</c:v>
                </c:pt>
                <c:pt idx="363">
                  <c:v>17.2178</c:v>
                </c:pt>
                <c:pt idx="364">
                  <c:v>17.845</c:v>
                </c:pt>
                <c:pt idx="365">
                  <c:v>18.0611</c:v>
                </c:pt>
                <c:pt idx="366">
                  <c:v>18.1523</c:v>
                </c:pt>
                <c:pt idx="367">
                  <c:v>18.3566</c:v>
                </c:pt>
                <c:pt idx="368">
                  <c:v>18.7703</c:v>
                </c:pt>
                <c:pt idx="369">
                  <c:v>18.5143</c:v>
                </c:pt>
                <c:pt idx="370">
                  <c:v>19.0896</c:v>
                </c:pt>
                <c:pt idx="371">
                  <c:v>19.2485</c:v>
                </c:pt>
              </c:numCache>
            </c:numRef>
          </c:val>
          <c:smooth val="0"/>
        </c:ser>
        <c:ser>
          <c:idx val="3"/>
          <c:order val="3"/>
          <c:tx>
            <c:strRef>
              <c:f>Sheet1!$E$1</c:f>
              <c:strCache>
                <c:ptCount val="1"/>
                <c:pt idx="0">
                  <c:v>EW</c:v>
                </c:pt>
              </c:strCache>
            </c:strRef>
          </c:tx>
          <c:spPr>
            <a:solidFill>
              <a:srgbClr val="EDA100"/>
            </a:solidFill>
            <a:ln w="1905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Sheet1!$E$2:$E$373</c:f>
              <c:numCache>
                <c:formatCode>General</c:formatCode>
                <c:ptCount val="372"/>
                <c:pt idx="0">
                  <c:v>1.0262</c:v>
                </c:pt>
                <c:pt idx="1">
                  <c:v>1.0718</c:v>
                </c:pt>
                <c:pt idx="2">
                  <c:v>1.0981</c:v>
                </c:pt>
                <c:pt idx="3">
                  <c:v>1.1178</c:v>
                </c:pt>
                <c:pt idx="4">
                  <c:v>1.158</c:v>
                </c:pt>
                <c:pt idx="5">
                  <c:v>1.1895</c:v>
                </c:pt>
                <c:pt idx="6">
                  <c:v>1.2349</c:v>
                </c:pt>
                <c:pt idx="7">
                  <c:v>1.2535</c:v>
                </c:pt>
                <c:pt idx="8">
                  <c:v>1.29</c:v>
                </c:pt>
                <c:pt idx="9">
                  <c:v>1.2685</c:v>
                </c:pt>
                <c:pt idx="10">
                  <c:v>1.3288</c:v>
                </c:pt>
                <c:pt idx="11">
                  <c:v>1.3427</c:v>
                </c:pt>
                <c:pt idx="12">
                  <c:v>1.3832</c:v>
                </c:pt>
                <c:pt idx="13">
                  <c:v>1.4054</c:v>
                </c:pt>
                <c:pt idx="14">
                  <c:v>1.4234</c:v>
                </c:pt>
                <c:pt idx="15">
                  <c:v>1.4518</c:v>
                </c:pt>
                <c:pt idx="16">
                  <c:v>1.4782</c:v>
                </c:pt>
                <c:pt idx="17">
                  <c:v>1.4631</c:v>
                </c:pt>
                <c:pt idx="18">
                  <c:v>1.3883</c:v>
                </c:pt>
                <c:pt idx="19">
                  <c:v>1.4375</c:v>
                </c:pt>
                <c:pt idx="20">
                  <c:v>1.5136</c:v>
                </c:pt>
                <c:pt idx="21">
                  <c:v>1.5374</c:v>
                </c:pt>
                <c:pt idx="22">
                  <c:v>1.6469</c:v>
                </c:pt>
                <c:pt idx="23">
                  <c:v>1.6189</c:v>
                </c:pt>
                <c:pt idx="24">
                  <c:v>1.6928</c:v>
                </c:pt>
                <c:pt idx="25">
                  <c:v>1.702</c:v>
                </c:pt>
                <c:pt idx="26">
                  <c:v>1.6358</c:v>
                </c:pt>
                <c:pt idx="27">
                  <c:v>1.6908</c:v>
                </c:pt>
                <c:pt idx="28">
                  <c:v>1.809</c:v>
                </c:pt>
                <c:pt idx="29">
                  <c:v>1.8748</c:v>
                </c:pt>
                <c:pt idx="30">
                  <c:v>2.0372</c:v>
                </c:pt>
                <c:pt idx="31">
                  <c:v>1.983</c:v>
                </c:pt>
                <c:pt idx="32">
                  <c:v>2.0873</c:v>
                </c:pt>
                <c:pt idx="33">
                  <c:v>2.0075</c:v>
                </c:pt>
                <c:pt idx="34">
                  <c:v>2.0729</c:v>
                </c:pt>
                <c:pt idx="35">
                  <c:v>2.1267</c:v>
                </c:pt>
                <c:pt idx="36">
                  <c:v>2.1014</c:v>
                </c:pt>
                <c:pt idx="37">
                  <c:v>2.2619</c:v>
                </c:pt>
                <c:pt idx="38">
                  <c:v>2.3737</c:v>
                </c:pt>
                <c:pt idx="39">
                  <c:v>2.3858</c:v>
                </c:pt>
                <c:pt idx="40">
                  <c:v>2.3187</c:v>
                </c:pt>
                <c:pt idx="41">
                  <c:v>2.3619</c:v>
                </c:pt>
                <c:pt idx="42">
                  <c:v>2.2791</c:v>
                </c:pt>
                <c:pt idx="43">
                  <c:v>1.9442</c:v>
                </c:pt>
                <c:pt idx="44">
                  <c:v>2.0678</c:v>
                </c:pt>
                <c:pt idx="45">
                  <c:v>2.2416</c:v>
                </c:pt>
                <c:pt idx="46">
                  <c:v>2.3561</c:v>
                </c:pt>
                <c:pt idx="47">
                  <c:v>2.4739</c:v>
                </c:pt>
                <c:pt idx="48">
                  <c:v>2.4845</c:v>
                </c:pt>
                <c:pt idx="49">
                  <c:v>2.4183</c:v>
                </c:pt>
                <c:pt idx="50">
                  <c:v>2.4919</c:v>
                </c:pt>
                <c:pt idx="51">
                  <c:v>2.6705</c:v>
                </c:pt>
                <c:pt idx="52">
                  <c:v>2.6668</c:v>
                </c:pt>
                <c:pt idx="53">
                  <c:v>2.7651</c:v>
                </c:pt>
                <c:pt idx="54">
                  <c:v>2.6891</c:v>
                </c:pt>
                <c:pt idx="55">
                  <c:v>2.6197</c:v>
                </c:pt>
                <c:pt idx="56">
                  <c:v>2.5202</c:v>
                </c:pt>
                <c:pt idx="57">
                  <c:v>2.6493</c:v>
                </c:pt>
                <c:pt idx="58">
                  <c:v>2.6883</c:v>
                </c:pt>
                <c:pt idx="59">
                  <c:v>2.8336</c:v>
                </c:pt>
                <c:pt idx="60">
                  <c:v>2.6976</c:v>
                </c:pt>
                <c:pt idx="61">
                  <c:v>2.6966</c:v>
                </c:pt>
                <c:pt idx="62">
                  <c:v>2.9125</c:v>
                </c:pt>
                <c:pt idx="63">
                  <c:v>2.8927</c:v>
                </c:pt>
                <c:pt idx="64">
                  <c:v>2.8975</c:v>
                </c:pt>
                <c:pt idx="65">
                  <c:v>2.8738</c:v>
                </c:pt>
                <c:pt idx="66">
                  <c:v>2.8753</c:v>
                </c:pt>
                <c:pt idx="67">
                  <c:v>3.1281</c:v>
                </c:pt>
                <c:pt idx="68">
                  <c:v>3.0987</c:v>
                </c:pt>
                <c:pt idx="69">
                  <c:v>3.1292</c:v>
                </c:pt>
                <c:pt idx="70">
                  <c:v>2.9161</c:v>
                </c:pt>
                <c:pt idx="71">
                  <c:v>3.1073</c:v>
                </c:pt>
                <c:pt idx="72">
                  <c:v>3.2027</c:v>
                </c:pt>
                <c:pt idx="73">
                  <c:v>3.0323</c:v>
                </c:pt>
                <c:pt idx="74">
                  <c:v>2.8726</c:v>
                </c:pt>
                <c:pt idx="75">
                  <c:v>3.1158</c:v>
                </c:pt>
                <c:pt idx="76">
                  <c:v>3.1711</c:v>
                </c:pt>
                <c:pt idx="77">
                  <c:v>3.1367</c:v>
                </c:pt>
                <c:pt idx="78">
                  <c:v>3.0888</c:v>
                </c:pt>
                <c:pt idx="79">
                  <c:v>2.9463</c:v>
                </c:pt>
                <c:pt idx="80">
                  <c:v>2.6238</c:v>
                </c:pt>
                <c:pt idx="81">
                  <c:v>2.6939</c:v>
                </c:pt>
                <c:pt idx="82">
                  <c:v>2.9242</c:v>
                </c:pt>
                <c:pt idx="83">
                  <c:v>3.0101</c:v>
                </c:pt>
                <c:pt idx="84">
                  <c:v>3.0035</c:v>
                </c:pt>
                <c:pt idx="85">
                  <c:v>2.9532</c:v>
                </c:pt>
                <c:pt idx="86">
                  <c:v>3.1243</c:v>
                </c:pt>
                <c:pt idx="87">
                  <c:v>3.027</c:v>
                </c:pt>
                <c:pt idx="88">
                  <c:v>3.0045</c:v>
                </c:pt>
                <c:pt idx="89">
                  <c:v>2.7877</c:v>
                </c:pt>
                <c:pt idx="90">
                  <c:v>2.5361</c:v>
                </c:pt>
                <c:pt idx="91">
                  <c:v>2.5486</c:v>
                </c:pt>
                <c:pt idx="92">
                  <c:v>2.3055</c:v>
                </c:pt>
                <c:pt idx="93">
                  <c:v>2.4481</c:v>
                </c:pt>
                <c:pt idx="94">
                  <c:v>2.6092</c:v>
                </c:pt>
                <c:pt idx="95">
                  <c:v>2.4857</c:v>
                </c:pt>
                <c:pt idx="96">
                  <c:v>2.4351</c:v>
                </c:pt>
                <c:pt idx="97">
                  <c:v>2.3898</c:v>
                </c:pt>
                <c:pt idx="98">
                  <c:v>2.4007</c:v>
                </c:pt>
                <c:pt idx="99">
                  <c:v>2.5909</c:v>
                </c:pt>
                <c:pt idx="100">
                  <c:v>2.802</c:v>
                </c:pt>
                <c:pt idx="101">
                  <c:v>2.8212</c:v>
                </c:pt>
                <c:pt idx="102">
                  <c:v>2.8939</c:v>
                </c:pt>
                <c:pt idx="103">
                  <c:v>3.005</c:v>
                </c:pt>
                <c:pt idx="104">
                  <c:v>2.957</c:v>
                </c:pt>
                <c:pt idx="105">
                  <c:v>3.1793</c:v>
                </c:pt>
                <c:pt idx="106">
                  <c:v>3.2384</c:v>
                </c:pt>
                <c:pt idx="107">
                  <c:v>3.3616</c:v>
                </c:pt>
                <c:pt idx="108">
                  <c:v>3.418</c:v>
                </c:pt>
                <c:pt idx="109">
                  <c:v>3.4815</c:v>
                </c:pt>
                <c:pt idx="110">
                  <c:v>3.4581</c:v>
                </c:pt>
                <c:pt idx="111">
                  <c:v>3.3936</c:v>
                </c:pt>
                <c:pt idx="112">
                  <c:v>3.4574</c:v>
                </c:pt>
                <c:pt idx="113">
                  <c:v>3.5359</c:v>
                </c:pt>
                <c:pt idx="114">
                  <c:v>3.3901</c:v>
                </c:pt>
                <c:pt idx="115">
                  <c:v>3.3889</c:v>
                </c:pt>
                <c:pt idx="116">
                  <c:v>3.4894</c:v>
                </c:pt>
                <c:pt idx="117">
                  <c:v>3.5551</c:v>
                </c:pt>
                <c:pt idx="118">
                  <c:v>3.7457</c:v>
                </c:pt>
                <c:pt idx="119">
                  <c:v>3.8827</c:v>
                </c:pt>
                <c:pt idx="120">
                  <c:v>3.7909</c:v>
                </c:pt>
                <c:pt idx="121">
                  <c:v>3.8742</c:v>
                </c:pt>
                <c:pt idx="122">
                  <c:v>3.8353</c:v>
                </c:pt>
                <c:pt idx="123">
                  <c:v>3.7304</c:v>
                </c:pt>
                <c:pt idx="124">
                  <c:v>3.8989</c:v>
                </c:pt>
                <c:pt idx="125">
                  <c:v>3.962</c:v>
                </c:pt>
                <c:pt idx="126">
                  <c:v>4.1565</c:v>
                </c:pt>
                <c:pt idx="127">
                  <c:v>4.1228</c:v>
                </c:pt>
                <c:pt idx="128">
                  <c:v>4.1673</c:v>
                </c:pt>
                <c:pt idx="129">
                  <c:v>4.0802</c:v>
                </c:pt>
                <c:pt idx="130">
                  <c:v>4.2501</c:v>
                </c:pt>
                <c:pt idx="131">
                  <c:v>4.2787</c:v>
                </c:pt>
                <c:pt idx="132">
                  <c:v>4.4406</c:v>
                </c:pt>
                <c:pt idx="133">
                  <c:v>4.4366</c:v>
                </c:pt>
                <c:pt idx="134">
                  <c:v>4.5182</c:v>
                </c:pt>
                <c:pt idx="135">
                  <c:v>4.5752</c:v>
                </c:pt>
                <c:pt idx="136">
                  <c:v>4.429</c:v>
                </c:pt>
                <c:pt idx="137">
                  <c:v>4.4335</c:v>
                </c:pt>
                <c:pt idx="138">
                  <c:v>4.3702</c:v>
                </c:pt>
                <c:pt idx="139">
                  <c:v>4.4688</c:v>
                </c:pt>
                <c:pt idx="140">
                  <c:v>4.5566</c:v>
                </c:pt>
                <c:pt idx="141">
                  <c:v>4.7159</c:v>
                </c:pt>
                <c:pt idx="142">
                  <c:v>4.8349</c:v>
                </c:pt>
                <c:pt idx="143">
                  <c:v>4.8573</c:v>
                </c:pt>
                <c:pt idx="144">
                  <c:v>4.9754</c:v>
                </c:pt>
                <c:pt idx="145">
                  <c:v>4.9644</c:v>
                </c:pt>
                <c:pt idx="146">
                  <c:v>5.01</c:v>
                </c:pt>
                <c:pt idx="147">
                  <c:v>5.2244</c:v>
                </c:pt>
                <c:pt idx="148">
                  <c:v>5.4229</c:v>
                </c:pt>
                <c:pt idx="149">
                  <c:v>5.3174</c:v>
                </c:pt>
                <c:pt idx="150">
                  <c:v>5.136</c:v>
                </c:pt>
                <c:pt idx="151">
                  <c:v>5.1676</c:v>
                </c:pt>
                <c:pt idx="152">
                  <c:v>5.3314</c:v>
                </c:pt>
                <c:pt idx="153">
                  <c:v>5.451</c:v>
                </c:pt>
                <c:pt idx="154">
                  <c:v>5.2077</c:v>
                </c:pt>
                <c:pt idx="155">
                  <c:v>5.1442</c:v>
                </c:pt>
                <c:pt idx="156">
                  <c:v>4.8536</c:v>
                </c:pt>
                <c:pt idx="157">
                  <c:v>4.747</c:v>
                </c:pt>
                <c:pt idx="158">
                  <c:v>4.6688</c:v>
                </c:pt>
                <c:pt idx="159">
                  <c:v>4.9336</c:v>
                </c:pt>
                <c:pt idx="160">
                  <c:v>5.1093</c:v>
                </c:pt>
                <c:pt idx="161">
                  <c:v>4.691</c:v>
                </c:pt>
                <c:pt idx="162">
                  <c:v>4.6214</c:v>
                </c:pt>
                <c:pt idx="163">
                  <c:v>4.6862</c:v>
                </c:pt>
                <c:pt idx="164">
                  <c:v>4.1391</c:v>
                </c:pt>
                <c:pt idx="165">
                  <c:v>3.3313</c:v>
                </c:pt>
                <c:pt idx="166">
                  <c:v>3.0561</c:v>
                </c:pt>
                <c:pt idx="167">
                  <c:v>3.1477</c:v>
                </c:pt>
                <c:pt idx="168">
                  <c:v>2.9257</c:v>
                </c:pt>
                <c:pt idx="169">
                  <c:v>2.6331</c:v>
                </c:pt>
                <c:pt idx="170">
                  <c:v>2.8677</c:v>
                </c:pt>
                <c:pt idx="171">
                  <c:v>3.225</c:v>
                </c:pt>
                <c:pt idx="172">
                  <c:v>3.3667</c:v>
                </c:pt>
                <c:pt idx="173">
                  <c:v>3.3707</c:v>
                </c:pt>
                <c:pt idx="174">
                  <c:v>3.6465</c:v>
                </c:pt>
                <c:pt idx="175">
                  <c:v>3.7879</c:v>
                </c:pt>
                <c:pt idx="176">
                  <c:v>3.9702</c:v>
                </c:pt>
                <c:pt idx="177">
                  <c:v>3.8452</c:v>
                </c:pt>
                <c:pt idx="178">
                  <c:v>4.053</c:v>
                </c:pt>
                <c:pt idx="179">
                  <c:v>4.2282</c:v>
                </c:pt>
                <c:pt idx="180">
                  <c:v>4.0919</c:v>
                </c:pt>
                <c:pt idx="181">
                  <c:v>4.2773</c:v>
                </c:pt>
                <c:pt idx="182">
                  <c:v>4.5506</c:v>
                </c:pt>
                <c:pt idx="183">
                  <c:v>4.6743</c:v>
                </c:pt>
                <c:pt idx="184">
                  <c:v>4.3285</c:v>
                </c:pt>
                <c:pt idx="185">
                  <c:v>4.0763</c:v>
                </c:pt>
                <c:pt idx="186">
                  <c:v>4.3696</c:v>
                </c:pt>
                <c:pt idx="187">
                  <c:v>4.1776</c:v>
                </c:pt>
                <c:pt idx="188">
                  <c:v>4.6037</c:v>
                </c:pt>
                <c:pt idx="189">
                  <c:v>4.7865</c:v>
                </c:pt>
                <c:pt idx="190">
                  <c:v>4.8572</c:v>
                </c:pt>
                <c:pt idx="191">
                  <c:v>5.1881</c:v>
                </c:pt>
                <c:pt idx="192">
                  <c:v>5.2965</c:v>
                </c:pt>
                <c:pt idx="193">
                  <c:v>5.4945</c:v>
                </c:pt>
                <c:pt idx="194">
                  <c:v>5.5609</c:v>
                </c:pt>
                <c:pt idx="195">
                  <c:v>5.729</c:v>
                </c:pt>
                <c:pt idx="196">
                  <c:v>5.6963</c:v>
                </c:pt>
                <c:pt idx="197">
                  <c:v>5.5961</c:v>
                </c:pt>
                <c:pt idx="198">
                  <c:v>5.4144</c:v>
                </c:pt>
                <c:pt idx="199">
                  <c:v>5.0689</c:v>
                </c:pt>
                <c:pt idx="200">
                  <c:v>4.6325</c:v>
                </c:pt>
                <c:pt idx="201">
                  <c:v>5.2109</c:v>
                </c:pt>
                <c:pt idx="202">
                  <c:v>5.184</c:v>
                </c:pt>
                <c:pt idx="203">
                  <c:v>5.1564</c:v>
                </c:pt>
                <c:pt idx="204">
                  <c:v>5.4475</c:v>
                </c:pt>
                <c:pt idx="205">
                  <c:v>5.6845</c:v>
                </c:pt>
                <c:pt idx="206">
                  <c:v>5.8172</c:v>
                </c:pt>
                <c:pt idx="207">
                  <c:v>5.7718</c:v>
                </c:pt>
                <c:pt idx="208">
                  <c:v>5.3821</c:v>
                </c:pt>
                <c:pt idx="209">
                  <c:v>5.5494</c:v>
                </c:pt>
                <c:pt idx="210">
                  <c:v>5.5562</c:v>
                </c:pt>
                <c:pt idx="211">
                  <c:v>5.7267</c:v>
                </c:pt>
                <c:pt idx="212">
                  <c:v>5.8634</c:v>
                </c:pt>
                <c:pt idx="213">
                  <c:v>5.8215</c:v>
                </c:pt>
                <c:pt idx="214">
                  <c:v>5.8869</c:v>
                </c:pt>
                <c:pt idx="215">
                  <c:v>6.0074</c:v>
                </c:pt>
                <c:pt idx="216">
                  <c:v>6.4087</c:v>
                </c:pt>
                <c:pt idx="217">
                  <c:v>6.4885</c:v>
                </c:pt>
                <c:pt idx="218">
                  <c:v>6.7834</c:v>
                </c:pt>
                <c:pt idx="219">
                  <c:v>6.8843</c:v>
                </c:pt>
                <c:pt idx="220">
                  <c:v>7.0567</c:v>
                </c:pt>
                <c:pt idx="221">
                  <c:v>6.9712</c:v>
                </c:pt>
                <c:pt idx="222">
                  <c:v>7.3787</c:v>
                </c:pt>
                <c:pt idx="223">
                  <c:v>7.1994</c:v>
                </c:pt>
                <c:pt idx="224">
                  <c:v>7.5132</c:v>
                </c:pt>
                <c:pt idx="225">
                  <c:v>7.7955</c:v>
                </c:pt>
                <c:pt idx="226">
                  <c:v>7.976</c:v>
                </c:pt>
                <c:pt idx="227">
                  <c:v>8.2215</c:v>
                </c:pt>
                <c:pt idx="228">
                  <c:v>7.981</c:v>
                </c:pt>
                <c:pt idx="229">
                  <c:v>8.4106</c:v>
                </c:pt>
                <c:pt idx="230">
                  <c:v>8.4385</c:v>
                </c:pt>
                <c:pt idx="231">
                  <c:v>8.4226</c:v>
                </c:pt>
                <c:pt idx="232">
                  <c:v>8.6212</c:v>
                </c:pt>
                <c:pt idx="233">
                  <c:v>8.8635</c:v>
                </c:pt>
                <c:pt idx="234">
                  <c:v>8.6565</c:v>
                </c:pt>
                <c:pt idx="235">
                  <c:v>9.0322</c:v>
                </c:pt>
                <c:pt idx="236">
                  <c:v>8.8203</c:v>
                </c:pt>
                <c:pt idx="237">
                  <c:v>9.0672</c:v>
                </c:pt>
                <c:pt idx="238">
                  <c:v>9.325</c:v>
                </c:pt>
                <c:pt idx="239">
                  <c:v>9.3475</c:v>
                </c:pt>
                <c:pt idx="240">
                  <c:v>9.1294</c:v>
                </c:pt>
                <c:pt idx="241">
                  <c:v>9.6817</c:v>
                </c:pt>
                <c:pt idx="242">
                  <c:v>9.6182</c:v>
                </c:pt>
                <c:pt idx="243">
                  <c:v>9.6283</c:v>
                </c:pt>
                <c:pt idx="244">
                  <c:v>9.7618</c:v>
                </c:pt>
                <c:pt idx="245">
                  <c:v>9.5856</c:v>
                </c:pt>
                <c:pt idx="246">
                  <c:v>9.6911</c:v>
                </c:pt>
                <c:pt idx="247">
                  <c:v>9.1571</c:v>
                </c:pt>
                <c:pt idx="248">
                  <c:v>8.8485</c:v>
                </c:pt>
                <c:pt idx="249">
                  <c:v>9.4685</c:v>
                </c:pt>
                <c:pt idx="250">
                  <c:v>9.5018</c:v>
                </c:pt>
                <c:pt idx="251">
                  <c:v>9.2571</c:v>
                </c:pt>
                <c:pt idx="252">
                  <c:v>8.6798</c:v>
                </c:pt>
                <c:pt idx="253">
                  <c:v>8.7836</c:v>
                </c:pt>
                <c:pt idx="254">
                  <c:v>9.433</c:v>
                </c:pt>
                <c:pt idx="255">
                  <c:v>9.5568</c:v>
                </c:pt>
                <c:pt idx="256">
                  <c:v>9.7193</c:v>
                </c:pt>
                <c:pt idx="257">
                  <c:v>9.7346</c:v>
                </c:pt>
                <c:pt idx="258">
                  <c:v>10.1209</c:v>
                </c:pt>
                <c:pt idx="259">
                  <c:v>10.1782</c:v>
                </c:pt>
                <c:pt idx="260">
                  <c:v>10.1944</c:v>
                </c:pt>
                <c:pt idx="261">
                  <c:v>9.9867</c:v>
                </c:pt>
                <c:pt idx="262">
                  <c:v>10.5627</c:v>
                </c:pt>
                <c:pt idx="263">
                  <c:v>10.6758</c:v>
                </c:pt>
                <c:pt idx="264">
                  <c:v>10.9382</c:v>
                </c:pt>
                <c:pt idx="265">
                  <c:v>11.3263</c:v>
                </c:pt>
                <c:pt idx="266">
                  <c:v>11.332</c:v>
                </c:pt>
                <c:pt idx="267">
                  <c:v>11.4381</c:v>
                </c:pt>
                <c:pt idx="268">
                  <c:v>11.5535</c:v>
                </c:pt>
                <c:pt idx="269">
                  <c:v>11.6573</c:v>
                </c:pt>
                <c:pt idx="270">
                  <c:v>11.8675</c:v>
                </c:pt>
                <c:pt idx="271">
                  <c:v>11.8298</c:v>
                </c:pt>
                <c:pt idx="272">
                  <c:v>12.1867</c:v>
                </c:pt>
                <c:pt idx="273">
                  <c:v>12.4041</c:v>
                </c:pt>
                <c:pt idx="274">
                  <c:v>12.8996</c:v>
                </c:pt>
                <c:pt idx="275">
                  <c:v>13.0664</c:v>
                </c:pt>
                <c:pt idx="276">
                  <c:v>13.7347</c:v>
                </c:pt>
                <c:pt idx="277">
                  <c:v>13.196</c:v>
                </c:pt>
                <c:pt idx="278">
                  <c:v>13.0841</c:v>
                </c:pt>
                <c:pt idx="279">
                  <c:v>13.1208</c:v>
                </c:pt>
                <c:pt idx="280">
                  <c:v>13.3538</c:v>
                </c:pt>
                <c:pt idx="281">
                  <c:v>13.4313</c:v>
                </c:pt>
                <c:pt idx="282">
                  <c:v>13.8869</c:v>
                </c:pt>
                <c:pt idx="283">
                  <c:v>14.2518</c:v>
                </c:pt>
                <c:pt idx="284">
                  <c:v>14.2843</c:v>
                </c:pt>
                <c:pt idx="285">
                  <c:v>13.1617</c:v>
                </c:pt>
                <c:pt idx="286">
                  <c:v>13.5011</c:v>
                </c:pt>
                <c:pt idx="287">
                  <c:v>12.1982</c:v>
                </c:pt>
                <c:pt idx="288">
                  <c:v>13.3595</c:v>
                </c:pt>
                <c:pt idx="289">
                  <c:v>13.8756</c:v>
                </c:pt>
                <c:pt idx="290">
                  <c:v>13.9882</c:v>
                </c:pt>
                <c:pt idx="291">
                  <c:v>14.5429</c:v>
                </c:pt>
                <c:pt idx="292">
                  <c:v>13.6163</c:v>
                </c:pt>
                <c:pt idx="293">
                  <c:v>14.6534</c:v>
                </c:pt>
                <c:pt idx="294">
                  <c:v>14.8349</c:v>
                </c:pt>
                <c:pt idx="295">
                  <c:v>14.4283</c:v>
                </c:pt>
                <c:pt idx="296">
                  <c:v>14.7316</c:v>
                </c:pt>
                <c:pt idx="297">
                  <c:v>14.9502</c:v>
                </c:pt>
                <c:pt idx="298">
                  <c:v>15.5886</c:v>
                </c:pt>
                <c:pt idx="299">
                  <c:v>15.9549</c:v>
                </c:pt>
                <c:pt idx="300">
                  <c:v>15.7961</c:v>
                </c:pt>
                <c:pt idx="301">
                  <c:v>14.4788</c:v>
                </c:pt>
                <c:pt idx="302">
                  <c:v>12.0556</c:v>
                </c:pt>
                <c:pt idx="303">
                  <c:v>13.6726</c:v>
                </c:pt>
                <c:pt idx="304">
                  <c:v>14.6019</c:v>
                </c:pt>
                <c:pt idx="305">
                  <c:v>14.7384</c:v>
                </c:pt>
                <c:pt idx="306">
                  <c:v>15.5584</c:v>
                </c:pt>
                <c:pt idx="307">
                  <c:v>16.1948</c:v>
                </c:pt>
                <c:pt idx="308">
                  <c:v>15.8787</c:v>
                </c:pt>
                <c:pt idx="309">
                  <c:v>15.8287</c:v>
                </c:pt>
                <c:pt idx="310">
                  <c:v>17.8793</c:v>
                </c:pt>
                <c:pt idx="311">
                  <c:v>18.681</c:v>
                </c:pt>
                <c:pt idx="312">
                  <c:v>18.4949</c:v>
                </c:pt>
                <c:pt idx="313">
                  <c:v>19.339</c:v>
                </c:pt>
                <c:pt idx="314">
                  <c:v>20.2188</c:v>
                </c:pt>
                <c:pt idx="315">
                  <c:v>21.146</c:v>
                </c:pt>
                <c:pt idx="316">
                  <c:v>21.3734</c:v>
                </c:pt>
                <c:pt idx="317">
                  <c:v>21.5693</c:v>
                </c:pt>
                <c:pt idx="318">
                  <c:v>21.7521</c:v>
                </c:pt>
                <c:pt idx="319">
                  <c:v>22.3009</c:v>
                </c:pt>
                <c:pt idx="320">
                  <c:v>21.3878</c:v>
                </c:pt>
                <c:pt idx="321">
                  <c:v>22.6141</c:v>
                </c:pt>
                <c:pt idx="322">
                  <c:v>22.0252</c:v>
                </c:pt>
                <c:pt idx="323">
                  <c:v>23.096</c:v>
                </c:pt>
                <c:pt idx="324">
                  <c:v>21.8574</c:v>
                </c:pt>
                <c:pt idx="325">
                  <c:v>21.7256</c:v>
                </c:pt>
                <c:pt idx="326">
                  <c:v>22.2686</c:v>
                </c:pt>
                <c:pt idx="327">
                  <c:v>20.7023</c:v>
                </c:pt>
                <c:pt idx="328">
                  <c:v>20.8924</c:v>
                </c:pt>
                <c:pt idx="329">
                  <c:v>19.025</c:v>
                </c:pt>
                <c:pt idx="330">
                  <c:v>20.7399</c:v>
                </c:pt>
                <c:pt idx="331">
                  <c:v>20.2049</c:v>
                </c:pt>
                <c:pt idx="332">
                  <c:v>18.3824</c:v>
                </c:pt>
                <c:pt idx="333">
                  <c:v>20.0839</c:v>
                </c:pt>
                <c:pt idx="334">
                  <c:v>21.3906</c:v>
                </c:pt>
                <c:pt idx="335">
                  <c:v>20.3407</c:v>
                </c:pt>
                <c:pt idx="336">
                  <c:v>21.7644</c:v>
                </c:pt>
                <c:pt idx="337">
                  <c:v>21.1319</c:v>
                </c:pt>
                <c:pt idx="338">
                  <c:v>21.1686</c:v>
                </c:pt>
                <c:pt idx="339">
                  <c:v>21.1618</c:v>
                </c:pt>
                <c:pt idx="340">
                  <c:v>20.5271</c:v>
                </c:pt>
                <c:pt idx="341">
                  <c:v>22.0725</c:v>
                </c:pt>
                <c:pt idx="342">
                  <c:v>22.7842</c:v>
                </c:pt>
                <c:pt idx="343">
                  <c:v>22.1813</c:v>
                </c:pt>
                <c:pt idx="344">
                  <c:v>21.1089</c:v>
                </c:pt>
                <c:pt idx="345">
                  <c:v>20.2655</c:v>
                </c:pt>
                <c:pt idx="346">
                  <c:v>22.1092</c:v>
                </c:pt>
                <c:pt idx="347">
                  <c:v>23.6067</c:v>
                </c:pt>
                <c:pt idx="348">
                  <c:v>23.5235</c:v>
                </c:pt>
                <c:pt idx="349">
                  <c:v>24.637</c:v>
                </c:pt>
                <c:pt idx="350">
                  <c:v>25.7856</c:v>
                </c:pt>
                <c:pt idx="351">
                  <c:v>24.5285</c:v>
                </c:pt>
                <c:pt idx="352">
                  <c:v>25.1955</c:v>
                </c:pt>
                <c:pt idx="353">
                  <c:v>25.1289</c:v>
                </c:pt>
                <c:pt idx="354">
                  <c:v>26.1028</c:v>
                </c:pt>
                <c:pt idx="355">
                  <c:v>26.682</c:v>
                </c:pt>
                <c:pt idx="356">
                  <c:v>27.2145</c:v>
                </c:pt>
                <c:pt idx="357">
                  <c:v>26.9724</c:v>
                </c:pt>
                <c:pt idx="358">
                  <c:v>28.8569</c:v>
                </c:pt>
                <c:pt idx="359">
                  <c:v>27.0389</c:v>
                </c:pt>
                <c:pt idx="360">
                  <c:v>28.1807</c:v>
                </c:pt>
                <c:pt idx="361">
                  <c:v>27.7072</c:v>
                </c:pt>
                <c:pt idx="362">
                  <c:v>26.5702</c:v>
                </c:pt>
                <c:pt idx="363">
                  <c:v>26.0999</c:v>
                </c:pt>
                <c:pt idx="364">
                  <c:v>27.3334</c:v>
                </c:pt>
                <c:pt idx="365">
                  <c:v>28.365</c:v>
                </c:pt>
                <c:pt idx="366">
                  <c:v>28.5871</c:v>
                </c:pt>
                <c:pt idx="367">
                  <c:v>29.2894</c:v>
                </c:pt>
                <c:pt idx="368">
                  <c:v>29.6378</c:v>
                </c:pt>
                <c:pt idx="369">
                  <c:v>29.6661</c:v>
                </c:pt>
                <c:pt idx="370">
                  <c:v>30.1566</c:v>
                </c:pt>
                <c:pt idx="371">
                  <c:v>30.2868</c:v>
                </c:pt>
              </c:numCache>
            </c:numRef>
          </c:val>
          <c:smooth val="0"/>
        </c:ser>
        <c:ser>
          <c:idx val="4"/>
          <c:order val="4"/>
          <c:tx>
            <c:strRef>
              <c:f>Sheet1!$F$1</c:f>
              <c:strCache>
                <c:ptCount val="1"/>
                <c:pt idx="0">
                  <c:v>VW</c:v>
                </c:pt>
              </c:strCache>
            </c:strRef>
          </c:tx>
          <c:spPr>
            <a:solidFill>
              <a:srgbClr val="E87BA4"/>
            </a:solidFill>
            <a:ln w="1905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Sheet1!$F$2:$F$373</c:f>
              <c:numCache>
                <c:formatCode>General</c:formatCode>
                <c:ptCount val="372"/>
                <c:pt idx="0">
                  <c:v>1.0283</c:v>
                </c:pt>
                <c:pt idx="1">
                  <c:v>1.0679</c:v>
                </c:pt>
                <c:pt idx="2">
                  <c:v>1.0963</c:v>
                </c:pt>
                <c:pt idx="3">
                  <c:v>1.1276</c:v>
                </c:pt>
                <c:pt idx="4">
                  <c:v>1.172</c:v>
                </c:pt>
                <c:pt idx="5">
                  <c:v>1.2021</c:v>
                </c:pt>
                <c:pt idx="6">
                  <c:v>1.2431</c:v>
                </c:pt>
                <c:pt idx="7">
                  <c:v>1.2514</c:v>
                </c:pt>
                <c:pt idx="8">
                  <c:v>1.3058</c:v>
                </c:pt>
                <c:pt idx="9">
                  <c:v>1.303</c:v>
                </c:pt>
                <c:pt idx="10">
                  <c:v>1.3589</c:v>
                </c:pt>
                <c:pt idx="11">
                  <c:v>1.3812</c:v>
                </c:pt>
                <c:pt idx="12">
                  <c:v>1.4277</c:v>
                </c:pt>
                <c:pt idx="13">
                  <c:v>1.4458</c:v>
                </c:pt>
                <c:pt idx="14">
                  <c:v>1.4572</c:v>
                </c:pt>
                <c:pt idx="15">
                  <c:v>1.4779</c:v>
                </c:pt>
                <c:pt idx="16">
                  <c:v>1.515</c:v>
                </c:pt>
                <c:pt idx="17">
                  <c:v>1.5189</c:v>
                </c:pt>
                <c:pt idx="18">
                  <c:v>1.4524</c:v>
                </c:pt>
                <c:pt idx="19">
                  <c:v>1.4862</c:v>
                </c:pt>
                <c:pt idx="20">
                  <c:v>1.5705</c:v>
                </c:pt>
                <c:pt idx="21">
                  <c:v>1.6107</c:v>
                </c:pt>
                <c:pt idx="22">
                  <c:v>1.7332</c:v>
                </c:pt>
                <c:pt idx="23">
                  <c:v>1.7025</c:v>
                </c:pt>
                <c:pt idx="24">
                  <c:v>1.8109</c:v>
                </c:pt>
                <c:pt idx="25">
                  <c:v>1.8214</c:v>
                </c:pt>
                <c:pt idx="26">
                  <c:v>1.7433</c:v>
                </c:pt>
                <c:pt idx="27">
                  <c:v>1.8479</c:v>
                </c:pt>
                <c:pt idx="28">
                  <c:v>1.961</c:v>
                </c:pt>
                <c:pt idx="29">
                  <c:v>2.0465</c:v>
                </c:pt>
                <c:pt idx="30">
                  <c:v>2.2126</c:v>
                </c:pt>
                <c:pt idx="31">
                  <c:v>2.0967</c:v>
                </c:pt>
                <c:pt idx="32">
                  <c:v>2.209</c:v>
                </c:pt>
                <c:pt idx="33">
                  <c:v>2.136</c:v>
                </c:pt>
                <c:pt idx="34">
                  <c:v>2.2363</c:v>
                </c:pt>
                <c:pt idx="35">
                  <c:v>2.2792</c:v>
                </c:pt>
                <c:pt idx="36">
                  <c:v>2.3002</c:v>
                </c:pt>
                <c:pt idx="37">
                  <c:v>2.4636</c:v>
                </c:pt>
                <c:pt idx="38">
                  <c:v>2.5899</c:v>
                </c:pt>
                <c:pt idx="39">
                  <c:v>2.6157</c:v>
                </c:pt>
                <c:pt idx="40">
                  <c:v>2.5674</c:v>
                </c:pt>
                <c:pt idx="41">
                  <c:v>2.6759</c:v>
                </c:pt>
                <c:pt idx="42">
                  <c:v>2.6478</c:v>
                </c:pt>
                <c:pt idx="43">
                  <c:v>2.2685</c:v>
                </c:pt>
                <c:pt idx="44">
                  <c:v>2.4196</c:v>
                </c:pt>
                <c:pt idx="45">
                  <c:v>2.6056</c:v>
                </c:pt>
                <c:pt idx="46">
                  <c:v>2.7714</c:v>
                </c:pt>
                <c:pt idx="47">
                  <c:v>2.9398</c:v>
                </c:pt>
                <c:pt idx="48">
                  <c:v>3.0576</c:v>
                </c:pt>
                <c:pt idx="49">
                  <c:v>2.9614</c:v>
                </c:pt>
                <c:pt idx="50">
                  <c:v>3.0742</c:v>
                </c:pt>
                <c:pt idx="51">
                  <c:v>3.1803</c:v>
                </c:pt>
                <c:pt idx="52">
                  <c:v>3.1087</c:v>
                </c:pt>
                <c:pt idx="53">
                  <c:v>3.2677</c:v>
                </c:pt>
                <c:pt idx="54">
                  <c:v>3.1695</c:v>
                </c:pt>
                <c:pt idx="55">
                  <c:v>3.1541</c:v>
                </c:pt>
                <c:pt idx="56">
                  <c:v>3.0566</c:v>
                </c:pt>
                <c:pt idx="57">
                  <c:v>3.2751</c:v>
                </c:pt>
                <c:pt idx="58">
                  <c:v>3.3446</c:v>
                </c:pt>
                <c:pt idx="59">
                  <c:v>3.5516</c:v>
                </c:pt>
                <c:pt idx="60">
                  <c:v>3.3974</c:v>
                </c:pt>
                <c:pt idx="61">
                  <c:v>3.3613</c:v>
                </c:pt>
                <c:pt idx="62">
                  <c:v>3.6755</c:v>
                </c:pt>
                <c:pt idx="63">
                  <c:v>3.5517</c:v>
                </c:pt>
                <c:pt idx="64">
                  <c:v>3.4669</c:v>
                </c:pt>
                <c:pt idx="65">
                  <c:v>3.5629</c:v>
                </c:pt>
                <c:pt idx="66">
                  <c:v>3.5279</c:v>
                </c:pt>
                <c:pt idx="67">
                  <c:v>3.7552</c:v>
                </c:pt>
                <c:pt idx="68">
                  <c:v>3.5874</c:v>
                </c:pt>
                <c:pt idx="69">
                  <c:v>3.5861</c:v>
                </c:pt>
                <c:pt idx="70">
                  <c:v>3.3129</c:v>
                </c:pt>
                <c:pt idx="71">
                  <c:v>3.337</c:v>
                </c:pt>
                <c:pt idx="72">
                  <c:v>3.4303</c:v>
                </c:pt>
                <c:pt idx="73">
                  <c:v>3.1506</c:v>
                </c:pt>
                <c:pt idx="74">
                  <c:v>2.958</c:v>
                </c:pt>
                <c:pt idx="75">
                  <c:v>3.1799</c:v>
                </c:pt>
                <c:pt idx="76">
                  <c:v>3.2062</c:v>
                </c:pt>
                <c:pt idx="77">
                  <c:v>3.1405</c:v>
                </c:pt>
                <c:pt idx="78">
                  <c:v>3.1091</c:v>
                </c:pt>
                <c:pt idx="79">
                  <c:v>2.9168</c:v>
                </c:pt>
                <c:pt idx="80">
                  <c:v>2.6957</c:v>
                </c:pt>
                <c:pt idx="81">
                  <c:v>2.7477</c:v>
                </c:pt>
                <c:pt idx="82">
                  <c:v>2.9526</c:v>
                </c:pt>
                <c:pt idx="83">
                  <c:v>2.9802</c:v>
                </c:pt>
                <c:pt idx="84">
                  <c:v>2.9531</c:v>
                </c:pt>
                <c:pt idx="85">
                  <c:v>2.8994</c:v>
                </c:pt>
                <c:pt idx="86">
                  <c:v>3.0065</c:v>
                </c:pt>
                <c:pt idx="87">
                  <c:v>2.8332</c:v>
                </c:pt>
                <c:pt idx="88">
                  <c:v>2.8137</c:v>
                </c:pt>
                <c:pt idx="89">
                  <c:v>2.6182</c:v>
                </c:pt>
                <c:pt idx="90">
                  <c:v>2.4306</c:v>
                </c:pt>
                <c:pt idx="91">
                  <c:v>2.4469</c:v>
                </c:pt>
                <c:pt idx="92">
                  <c:v>2.1905</c:v>
                </c:pt>
                <c:pt idx="93">
                  <c:v>2.3798</c:v>
                </c:pt>
                <c:pt idx="94">
                  <c:v>2.5045</c:v>
                </c:pt>
                <c:pt idx="95">
                  <c:v>2.3602</c:v>
                </c:pt>
                <c:pt idx="96">
                  <c:v>2.2965</c:v>
                </c:pt>
                <c:pt idx="97">
                  <c:v>2.2584</c:v>
                </c:pt>
                <c:pt idx="98">
                  <c:v>2.2852</c:v>
                </c:pt>
                <c:pt idx="99">
                  <c:v>2.4667</c:v>
                </c:pt>
                <c:pt idx="100">
                  <c:v>2.5933</c:v>
                </c:pt>
                <c:pt idx="101">
                  <c:v>2.626</c:v>
                </c:pt>
                <c:pt idx="102">
                  <c:v>2.6737</c:v>
                </c:pt>
                <c:pt idx="103">
                  <c:v>2.725</c:v>
                </c:pt>
                <c:pt idx="104">
                  <c:v>2.6945</c:v>
                </c:pt>
                <c:pt idx="105">
                  <c:v>2.8481</c:v>
                </c:pt>
                <c:pt idx="106">
                  <c:v>2.8738</c:v>
                </c:pt>
                <c:pt idx="107">
                  <c:v>3.0105</c:v>
                </c:pt>
                <c:pt idx="108">
                  <c:v>3.0594</c:v>
                </c:pt>
                <c:pt idx="109">
                  <c:v>3.1014</c:v>
                </c:pt>
                <c:pt idx="110">
                  <c:v>3.0538</c:v>
                </c:pt>
                <c:pt idx="111">
                  <c:v>3.0117</c:v>
                </c:pt>
                <c:pt idx="112">
                  <c:v>3.0499</c:v>
                </c:pt>
                <c:pt idx="113">
                  <c:v>3.1014</c:v>
                </c:pt>
                <c:pt idx="114">
                  <c:v>2.9965</c:v>
                </c:pt>
                <c:pt idx="115">
                  <c:v>3.0079</c:v>
                </c:pt>
                <c:pt idx="116">
                  <c:v>3.0402</c:v>
                </c:pt>
                <c:pt idx="117">
                  <c:v>3.0791</c:v>
                </c:pt>
                <c:pt idx="118">
                  <c:v>3.2004</c:v>
                </c:pt>
                <c:pt idx="119">
                  <c:v>3.307</c:v>
                </c:pt>
                <c:pt idx="120">
                  <c:v>3.2286</c:v>
                </c:pt>
                <c:pt idx="121">
                  <c:v>3.2943</c:v>
                </c:pt>
                <c:pt idx="122">
                  <c:v>3.2385</c:v>
                </c:pt>
                <c:pt idx="123">
                  <c:v>3.1824</c:v>
                </c:pt>
                <c:pt idx="124">
                  <c:v>3.2902</c:v>
                </c:pt>
                <c:pt idx="125">
                  <c:v>3.2946</c:v>
                </c:pt>
                <c:pt idx="126">
                  <c:v>3.42</c:v>
                </c:pt>
                <c:pt idx="127">
                  <c:v>3.3917</c:v>
                </c:pt>
                <c:pt idx="128">
                  <c:v>3.4196</c:v>
                </c:pt>
                <c:pt idx="129">
                  <c:v>3.3686</c:v>
                </c:pt>
                <c:pt idx="130">
                  <c:v>3.496</c:v>
                </c:pt>
                <c:pt idx="131">
                  <c:v>3.4934</c:v>
                </c:pt>
                <c:pt idx="132">
                  <c:v>3.5798</c:v>
                </c:pt>
                <c:pt idx="133">
                  <c:v>3.5849</c:v>
                </c:pt>
                <c:pt idx="134">
                  <c:v>3.6313</c:v>
                </c:pt>
                <c:pt idx="135">
                  <c:v>3.6707</c:v>
                </c:pt>
                <c:pt idx="136">
                  <c:v>3.566</c:v>
                </c:pt>
                <c:pt idx="137">
                  <c:v>3.5682</c:v>
                </c:pt>
                <c:pt idx="138">
                  <c:v>3.5881</c:v>
                </c:pt>
                <c:pt idx="139">
                  <c:v>3.6762</c:v>
                </c:pt>
                <c:pt idx="140">
                  <c:v>3.7636</c:v>
                </c:pt>
                <c:pt idx="141">
                  <c:v>3.8815</c:v>
                </c:pt>
                <c:pt idx="142">
                  <c:v>3.9511</c:v>
                </c:pt>
                <c:pt idx="143">
                  <c:v>4.0056</c:v>
                </c:pt>
                <c:pt idx="144">
                  <c:v>4.0648</c:v>
                </c:pt>
                <c:pt idx="145">
                  <c:v>3.9925</c:v>
                </c:pt>
                <c:pt idx="146">
                  <c:v>4.0357</c:v>
                </c:pt>
                <c:pt idx="147">
                  <c:v>4.2102</c:v>
                </c:pt>
                <c:pt idx="148">
                  <c:v>4.3602</c:v>
                </c:pt>
                <c:pt idx="149">
                  <c:v>4.2841</c:v>
                </c:pt>
                <c:pt idx="150">
                  <c:v>4.1624</c:v>
                </c:pt>
                <c:pt idx="151">
                  <c:v>4.2319</c:v>
                </c:pt>
                <c:pt idx="152">
                  <c:v>4.3913</c:v>
                </c:pt>
                <c:pt idx="153">
                  <c:v>4.4767</c:v>
                </c:pt>
                <c:pt idx="154">
                  <c:v>4.2992</c:v>
                </c:pt>
                <c:pt idx="155">
                  <c:v>4.2715</c:v>
                </c:pt>
                <c:pt idx="156">
                  <c:v>4.021</c:v>
                </c:pt>
                <c:pt idx="157">
                  <c:v>3.9068</c:v>
                </c:pt>
                <c:pt idx="158">
                  <c:v>3.8856</c:v>
                </c:pt>
                <c:pt idx="159">
                  <c:v>4.0588</c:v>
                </c:pt>
                <c:pt idx="160">
                  <c:v>4.1209</c:v>
                </c:pt>
                <c:pt idx="161">
                  <c:v>3.7853</c:v>
                </c:pt>
                <c:pt idx="162">
                  <c:v>3.7587</c:v>
                </c:pt>
                <c:pt idx="163">
                  <c:v>3.8127</c:v>
                </c:pt>
                <c:pt idx="164">
                  <c:v>3.4891</c:v>
                </c:pt>
                <c:pt idx="165">
                  <c:v>2.927</c:v>
                </c:pt>
                <c:pt idx="166">
                  <c:v>2.7296</c:v>
                </c:pt>
                <c:pt idx="167">
                  <c:v>2.7561</c:v>
                </c:pt>
                <c:pt idx="168">
                  <c:v>2.5345</c:v>
                </c:pt>
                <c:pt idx="169">
                  <c:v>2.2773</c:v>
                </c:pt>
                <c:pt idx="170">
                  <c:v>2.4778</c:v>
                </c:pt>
                <c:pt idx="171">
                  <c:v>2.6854</c:v>
                </c:pt>
                <c:pt idx="172">
                  <c:v>2.8167</c:v>
                </c:pt>
                <c:pt idx="173">
                  <c:v>2.8278</c:v>
                </c:pt>
                <c:pt idx="174">
                  <c:v>3.0369</c:v>
                </c:pt>
                <c:pt idx="175">
                  <c:v>3.1358</c:v>
                </c:pt>
                <c:pt idx="176">
                  <c:v>3.2443</c:v>
                </c:pt>
                <c:pt idx="177">
                  <c:v>3.1858</c:v>
                </c:pt>
                <c:pt idx="178">
                  <c:v>3.3754</c:v>
                </c:pt>
                <c:pt idx="179">
                  <c:v>3.4355</c:v>
                </c:pt>
                <c:pt idx="180">
                  <c:v>3.3209</c:v>
                </c:pt>
                <c:pt idx="181">
                  <c:v>3.4261</c:v>
                </c:pt>
                <c:pt idx="182">
                  <c:v>3.6268</c:v>
                </c:pt>
                <c:pt idx="183">
                  <c:v>3.6774</c:v>
                </c:pt>
                <c:pt idx="184">
                  <c:v>3.3889</c:v>
                </c:pt>
                <c:pt idx="185">
                  <c:v>3.2099</c:v>
                </c:pt>
                <c:pt idx="186">
                  <c:v>3.4311</c:v>
                </c:pt>
                <c:pt idx="187">
                  <c:v>3.2791</c:v>
                </c:pt>
                <c:pt idx="188">
                  <c:v>3.574</c:v>
                </c:pt>
                <c:pt idx="189">
                  <c:v>3.7129</c:v>
                </c:pt>
                <c:pt idx="190">
                  <c:v>3.7179</c:v>
                </c:pt>
                <c:pt idx="191">
                  <c:v>3.9684</c:v>
                </c:pt>
                <c:pt idx="192">
                  <c:v>4.0566</c:v>
                </c:pt>
                <c:pt idx="193">
                  <c:v>4.1844</c:v>
                </c:pt>
                <c:pt idx="194">
                  <c:v>4.1838</c:v>
                </c:pt>
                <c:pt idx="195">
                  <c:v>4.3023</c:v>
                </c:pt>
                <c:pt idx="196">
                  <c:v>4.2479</c:v>
                </c:pt>
                <c:pt idx="197">
                  <c:v>4.1785</c:v>
                </c:pt>
                <c:pt idx="198">
                  <c:v>4.0925</c:v>
                </c:pt>
                <c:pt idx="199">
                  <c:v>3.871</c:v>
                </c:pt>
                <c:pt idx="200">
                  <c:v>3.608</c:v>
                </c:pt>
                <c:pt idx="201">
                  <c:v>3.9897</c:v>
                </c:pt>
                <c:pt idx="202">
                  <c:v>3.976</c:v>
                </c:pt>
                <c:pt idx="203">
                  <c:v>4.0084</c:v>
                </c:pt>
                <c:pt idx="204">
                  <c:v>4.1937</c:v>
                </c:pt>
                <c:pt idx="205">
                  <c:v>4.3738</c:v>
                </c:pt>
                <c:pt idx="206">
                  <c:v>4.5174</c:v>
                </c:pt>
                <c:pt idx="207">
                  <c:v>4.4824</c:v>
                </c:pt>
                <c:pt idx="208">
                  <c:v>4.2178</c:v>
                </c:pt>
                <c:pt idx="209">
                  <c:v>4.3838</c:v>
                </c:pt>
                <c:pt idx="210">
                  <c:v>4.4343</c:v>
                </c:pt>
                <c:pt idx="211">
                  <c:v>4.5414</c:v>
                </c:pt>
                <c:pt idx="212">
                  <c:v>4.6608</c:v>
                </c:pt>
                <c:pt idx="213">
                  <c:v>4.576</c:v>
                </c:pt>
                <c:pt idx="214">
                  <c:v>4.596</c:v>
                </c:pt>
                <c:pt idx="215">
                  <c:v>4.6371</c:v>
                </c:pt>
                <c:pt idx="216">
                  <c:v>4.8818</c:v>
                </c:pt>
                <c:pt idx="217">
                  <c:v>4.9454</c:v>
                </c:pt>
                <c:pt idx="218">
                  <c:v>5.1367</c:v>
                </c:pt>
                <c:pt idx="219">
                  <c:v>5.2341</c:v>
                </c:pt>
                <c:pt idx="220">
                  <c:v>5.3643</c:v>
                </c:pt>
                <c:pt idx="221">
                  <c:v>5.2941</c:v>
                </c:pt>
                <c:pt idx="222">
                  <c:v>5.5676</c:v>
                </c:pt>
                <c:pt idx="223">
                  <c:v>5.4111</c:v>
                </c:pt>
                <c:pt idx="224">
                  <c:v>5.5872</c:v>
                </c:pt>
                <c:pt idx="225">
                  <c:v>5.8365</c:v>
                </c:pt>
                <c:pt idx="226">
                  <c:v>6.019</c:v>
                </c:pt>
                <c:pt idx="227">
                  <c:v>6.1725</c:v>
                </c:pt>
                <c:pt idx="228">
                  <c:v>5.951</c:v>
                </c:pt>
                <c:pt idx="229">
                  <c:v>6.222</c:v>
                </c:pt>
                <c:pt idx="230">
                  <c:v>6.2765</c:v>
                </c:pt>
                <c:pt idx="231">
                  <c:v>6.3095</c:v>
                </c:pt>
                <c:pt idx="232">
                  <c:v>6.45</c:v>
                </c:pt>
                <c:pt idx="233">
                  <c:v>6.5758</c:v>
                </c:pt>
                <c:pt idx="234">
                  <c:v>6.4837</c:v>
                </c:pt>
                <c:pt idx="235">
                  <c:v>6.7454</c:v>
                </c:pt>
                <c:pt idx="236">
                  <c:v>6.6525</c:v>
                </c:pt>
                <c:pt idx="237">
                  <c:v>6.8115</c:v>
                </c:pt>
                <c:pt idx="238">
                  <c:v>7.0124</c:v>
                </c:pt>
                <c:pt idx="239">
                  <c:v>6.9916</c:v>
                </c:pt>
                <c:pt idx="240">
                  <c:v>6.7803</c:v>
                </c:pt>
                <c:pt idx="241">
                  <c:v>7.1801</c:v>
                </c:pt>
                <c:pt idx="242">
                  <c:v>7.0586</c:v>
                </c:pt>
                <c:pt idx="243">
                  <c:v>7.129</c:v>
                </c:pt>
                <c:pt idx="244">
                  <c:v>7.2248</c:v>
                </c:pt>
                <c:pt idx="245">
                  <c:v>7.0884</c:v>
                </c:pt>
                <c:pt idx="246">
                  <c:v>7.2255</c:v>
                </c:pt>
                <c:pt idx="247">
                  <c:v>6.7876</c:v>
                </c:pt>
                <c:pt idx="248">
                  <c:v>6.6249</c:v>
                </c:pt>
                <c:pt idx="249">
                  <c:v>7.1504</c:v>
                </c:pt>
                <c:pt idx="250">
                  <c:v>7.1696</c:v>
                </c:pt>
                <c:pt idx="251">
                  <c:v>7.0506</c:v>
                </c:pt>
                <c:pt idx="252">
                  <c:v>6.6717</c:v>
                </c:pt>
                <c:pt idx="253">
                  <c:v>6.6759</c:v>
                </c:pt>
                <c:pt idx="254">
                  <c:v>7.1255</c:v>
                </c:pt>
                <c:pt idx="255">
                  <c:v>7.1751</c:v>
                </c:pt>
                <c:pt idx="256">
                  <c:v>7.3019</c:v>
                </c:pt>
                <c:pt idx="257">
                  <c:v>7.3267</c:v>
                </c:pt>
                <c:pt idx="258">
                  <c:v>7.5819</c:v>
                </c:pt>
                <c:pt idx="259">
                  <c:v>7.6042</c:v>
                </c:pt>
                <c:pt idx="260">
                  <c:v>7.6062</c:v>
                </c:pt>
                <c:pt idx="261">
                  <c:v>7.482</c:v>
                </c:pt>
                <c:pt idx="262">
                  <c:v>7.8138</c:v>
                </c:pt>
                <c:pt idx="263">
                  <c:v>7.9654</c:v>
                </c:pt>
                <c:pt idx="264">
                  <c:v>8.1155</c:v>
                </c:pt>
                <c:pt idx="265">
                  <c:v>8.4403</c:v>
                </c:pt>
                <c:pt idx="266">
                  <c:v>8.4492</c:v>
                </c:pt>
                <c:pt idx="267">
                  <c:v>8.5291</c:v>
                </c:pt>
                <c:pt idx="268">
                  <c:v>8.651</c:v>
                </c:pt>
                <c:pt idx="269">
                  <c:v>8.7048</c:v>
                </c:pt>
                <c:pt idx="270">
                  <c:v>8.8904</c:v>
                </c:pt>
                <c:pt idx="271">
                  <c:v>8.9314</c:v>
                </c:pt>
                <c:pt idx="272">
                  <c:v>9.1132</c:v>
                </c:pt>
                <c:pt idx="273">
                  <c:v>9.3373</c:v>
                </c:pt>
                <c:pt idx="274">
                  <c:v>9.641</c:v>
                </c:pt>
                <c:pt idx="275">
                  <c:v>9.7623</c:v>
                </c:pt>
                <c:pt idx="276">
                  <c:v>10.3474</c:v>
                </c:pt>
                <c:pt idx="277">
                  <c:v>9.9905</c:v>
                </c:pt>
                <c:pt idx="278">
                  <c:v>9.7384</c:v>
                </c:pt>
                <c:pt idx="279">
                  <c:v>9.7899</c:v>
                </c:pt>
                <c:pt idx="280">
                  <c:v>10.0163</c:v>
                </c:pt>
                <c:pt idx="281">
                  <c:v>10.0647</c:v>
                </c:pt>
                <c:pt idx="282">
                  <c:v>10.4406</c:v>
                </c:pt>
                <c:pt idx="283">
                  <c:v>10.8077</c:v>
                </c:pt>
                <c:pt idx="284">
                  <c:v>10.8808</c:v>
                </c:pt>
                <c:pt idx="285">
                  <c:v>10.1366</c:v>
                </c:pt>
                <c:pt idx="286">
                  <c:v>10.3292</c:v>
                </c:pt>
                <c:pt idx="287">
                  <c:v>9.3926</c:v>
                </c:pt>
                <c:pt idx="288">
                  <c:v>10.147</c:v>
                </c:pt>
                <c:pt idx="289">
                  <c:v>10.4861</c:v>
                </c:pt>
                <c:pt idx="290">
                  <c:v>10.662</c:v>
                </c:pt>
                <c:pt idx="291">
                  <c:v>11.1088</c:v>
                </c:pt>
                <c:pt idx="292">
                  <c:v>10.4036</c:v>
                </c:pt>
                <c:pt idx="293">
                  <c:v>11.1373</c:v>
                </c:pt>
                <c:pt idx="294">
                  <c:v>11.3108</c:v>
                </c:pt>
                <c:pt idx="295">
                  <c:v>11.1082</c:v>
                </c:pt>
                <c:pt idx="296">
                  <c:v>11.2998</c:v>
                </c:pt>
                <c:pt idx="297">
                  <c:v>11.5625</c:v>
                </c:pt>
                <c:pt idx="298">
                  <c:v>12.0126</c:v>
                </c:pt>
                <c:pt idx="299">
                  <c:v>12.3632</c:v>
                </c:pt>
                <c:pt idx="300">
                  <c:v>12.4102</c:v>
                </c:pt>
                <c:pt idx="301">
                  <c:v>11.4182</c:v>
                </c:pt>
                <c:pt idx="302">
                  <c:v>10.0611</c:v>
                </c:pt>
                <c:pt idx="303">
                  <c:v>11.3682</c:v>
                </c:pt>
                <c:pt idx="304">
                  <c:v>11.9346</c:v>
                </c:pt>
                <c:pt idx="305">
                  <c:v>12.1842</c:v>
                </c:pt>
                <c:pt idx="306">
                  <c:v>12.9248</c:v>
                </c:pt>
                <c:pt idx="307">
                  <c:v>13.9478</c:v>
                </c:pt>
                <c:pt idx="308">
                  <c:v>13.3904</c:v>
                </c:pt>
                <c:pt idx="309">
                  <c:v>13.0326</c:v>
                </c:pt>
                <c:pt idx="310">
                  <c:v>14.5066</c:v>
                </c:pt>
                <c:pt idx="311">
                  <c:v>15.1253</c:v>
                </c:pt>
                <c:pt idx="312">
                  <c:v>14.9782</c:v>
                </c:pt>
                <c:pt idx="313">
                  <c:v>15.3234</c:v>
                </c:pt>
                <c:pt idx="314">
                  <c:v>15.9214</c:v>
                </c:pt>
                <c:pt idx="315">
                  <c:v>16.7777</c:v>
                </c:pt>
                <c:pt idx="316">
                  <c:v>16.8382</c:v>
                </c:pt>
                <c:pt idx="317">
                  <c:v>17.276</c:v>
                </c:pt>
                <c:pt idx="318">
                  <c:v>17.6329</c:v>
                </c:pt>
                <c:pt idx="319">
                  <c:v>18.1765</c:v>
                </c:pt>
                <c:pt idx="320">
                  <c:v>17.3314</c:v>
                </c:pt>
                <c:pt idx="321">
                  <c:v>18.5655</c:v>
                </c:pt>
                <c:pt idx="322">
                  <c:v>18.4074</c:v>
                </c:pt>
                <c:pt idx="323">
                  <c:v>19.1084</c:v>
                </c:pt>
                <c:pt idx="324">
                  <c:v>18.1239</c:v>
                </c:pt>
                <c:pt idx="325">
                  <c:v>17.6347</c:v>
                </c:pt>
                <c:pt idx="326">
                  <c:v>18.275</c:v>
                </c:pt>
                <c:pt idx="327">
                  <c:v>16.615</c:v>
                </c:pt>
                <c:pt idx="328">
                  <c:v>16.6007</c:v>
                </c:pt>
                <c:pt idx="329">
                  <c:v>15.2561</c:v>
                </c:pt>
                <c:pt idx="330">
                  <c:v>16.6976</c:v>
                </c:pt>
                <c:pt idx="331">
                  <c:v>16.0647</c:v>
                </c:pt>
                <c:pt idx="332">
                  <c:v>14.6153</c:v>
                </c:pt>
                <c:pt idx="333">
                  <c:v>15.7776</c:v>
                </c:pt>
                <c:pt idx="334">
                  <c:v>16.6141</c:v>
                </c:pt>
                <c:pt idx="335">
                  <c:v>15.619</c:v>
                </c:pt>
                <c:pt idx="336">
                  <c:v>16.5988</c:v>
                </c:pt>
                <c:pt idx="337">
                  <c:v>16.2164</c:v>
                </c:pt>
                <c:pt idx="338">
                  <c:v>16.8456</c:v>
                </c:pt>
                <c:pt idx="339">
                  <c:v>17.0972</c:v>
                </c:pt>
                <c:pt idx="340">
                  <c:v>17.2342</c:v>
                </c:pt>
                <c:pt idx="341">
                  <c:v>18.3816</c:v>
                </c:pt>
                <c:pt idx="342">
                  <c:v>18.9776</c:v>
                </c:pt>
                <c:pt idx="343">
                  <c:v>18.7049</c:v>
                </c:pt>
                <c:pt idx="344">
                  <c:v>17.822</c:v>
                </c:pt>
                <c:pt idx="345">
                  <c:v>17.4536</c:v>
                </c:pt>
                <c:pt idx="346">
                  <c:v>19.0406</c:v>
                </c:pt>
                <c:pt idx="347">
                  <c:v>19.8892</c:v>
                </c:pt>
                <c:pt idx="348">
                  <c:v>20.2462</c:v>
                </c:pt>
                <c:pt idx="349">
                  <c:v>21.3268</c:v>
                </c:pt>
                <c:pt idx="350">
                  <c:v>22.0273</c:v>
                </c:pt>
                <c:pt idx="351">
                  <c:v>21.1871</c:v>
                </c:pt>
                <c:pt idx="352">
                  <c:v>22.2413</c:v>
                </c:pt>
                <c:pt idx="353">
                  <c:v>23.075</c:v>
                </c:pt>
                <c:pt idx="354">
                  <c:v>23.319</c:v>
                </c:pt>
                <c:pt idx="355">
                  <c:v>23.8799</c:v>
                </c:pt>
                <c:pt idx="356">
                  <c:v>24.3808</c:v>
                </c:pt>
                <c:pt idx="357">
                  <c:v>24.2164</c:v>
                </c:pt>
                <c:pt idx="358">
                  <c:v>25.7157</c:v>
                </c:pt>
                <c:pt idx="359">
                  <c:v>25.1299</c:v>
                </c:pt>
                <c:pt idx="360">
                  <c:v>25.8736</c:v>
                </c:pt>
                <c:pt idx="361">
                  <c:v>25.4331</c:v>
                </c:pt>
                <c:pt idx="362">
                  <c:v>23.9394</c:v>
                </c:pt>
                <c:pt idx="363">
                  <c:v>23.8039</c:v>
                </c:pt>
                <c:pt idx="364">
                  <c:v>25.3024</c:v>
                </c:pt>
                <c:pt idx="365">
                  <c:v>26.6129</c:v>
                </c:pt>
                <c:pt idx="366">
                  <c:v>27.2009</c:v>
                </c:pt>
                <c:pt idx="367">
                  <c:v>27.7467</c:v>
                </c:pt>
                <c:pt idx="368">
                  <c:v>28.7758</c:v>
                </c:pt>
                <c:pt idx="369">
                  <c:v>29.5357</c:v>
                </c:pt>
                <c:pt idx="370">
                  <c:v>29.5874</c:v>
                </c:pt>
                <c:pt idx="371">
                  <c:v>29.5812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logBase val="10"/>
          <c:orientation val="minMax"/>
          <c:max val="100"/>
          <c:min val="1"/>
        </c:scaling>
        <c:delete val="0"/>
        <c:axPos val="l"/>
        <c:majorGridlines>
          <c:spPr>
            <a:ln w="6350" cap="flat">
              <a:solidFill>
                <a:srgbClr val="E3E7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A"/>
                </a:solidFill>
                <a:latin typeface="+mn-lt"/>
              </a:defRPr>
            </a:pPr>
            <a:r>
              <a:rPr sz="1200" b="0" i="0" u="none" strike="noStrike">
                <a:solidFill>
                  <a:srgbClr val="1B1F2A"/>
                </a:solidFill>
                <a:latin typeface="+mn-lt"/>
              </a:rPr>
              <a:t>Risk parity: growth of $1 (log scale)</a:t>
            </a:r>
          </a:p>
        </c:rich>
      </c:tx>
      <c:layout/>
      <c:overlay val="0"/>
    </c:title>
    <c:autoTitleDeleted val="0"/>
    <c:plotArea>
      <c:layout/>
      <c:lineChart>
        <c:varyColors val="0"/>
        <c:ser>
          <c:idx val="0"/>
          <c:order val="0"/>
          <c:tx>
            <c:strRef>
              <c:f>Sheet1!$B$1</c:f>
              <c:strCache>
                <c:ptCount val="1"/>
                <c:pt idx="0">
                  <c:v>Single factor</c:v>
                </c:pt>
              </c:strCache>
            </c:strRef>
          </c:tx>
          <c:spPr>
            <a:solidFill>
              <a:srgbClr val="1F2D5C"/>
            </a:solidFill>
            <a:ln w="19050" cap="flat">
              <a:solidFill>
                <a:srgbClr val="1F2D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2D5C"/>
              </a:solidFill>
              <a:ln w="9525" cap="flat">
                <a:solidFill>
                  <a:srgbClr val="1F2D5C"/>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Sheet1!$B$2:$B$373</c:f>
              <c:numCache>
                <c:formatCode>General</c:formatCode>
                <c:ptCount val="372"/>
                <c:pt idx="0">
                  <c:v>1.0267</c:v>
                </c:pt>
                <c:pt idx="1">
                  <c:v>1.0693</c:v>
                </c:pt>
                <c:pt idx="2">
                  <c:v>1.0946</c:v>
                </c:pt>
                <c:pt idx="3">
                  <c:v>1.1127</c:v>
                </c:pt>
                <c:pt idx="4">
                  <c:v>1.154</c:v>
                </c:pt>
                <c:pt idx="5">
                  <c:v>1.1778</c:v>
                </c:pt>
                <c:pt idx="6">
                  <c:v>1.2175</c:v>
                </c:pt>
                <c:pt idx="7">
                  <c:v>1.2341</c:v>
                </c:pt>
                <c:pt idx="8">
                  <c:v>1.2717</c:v>
                </c:pt>
                <c:pt idx="9">
                  <c:v>1.254</c:v>
                </c:pt>
                <c:pt idx="10">
                  <c:v>1.3145</c:v>
                </c:pt>
                <c:pt idx="11">
                  <c:v>1.3363</c:v>
                </c:pt>
                <c:pt idx="12">
                  <c:v>1.3787</c:v>
                </c:pt>
                <c:pt idx="13">
                  <c:v>1.395</c:v>
                </c:pt>
                <c:pt idx="14">
                  <c:v>1.4137</c:v>
                </c:pt>
                <c:pt idx="15">
                  <c:v>1.4344</c:v>
                </c:pt>
                <c:pt idx="16">
                  <c:v>1.4584</c:v>
                </c:pt>
                <c:pt idx="17">
                  <c:v>1.4511</c:v>
                </c:pt>
                <c:pt idx="18">
                  <c:v>1.3788</c:v>
                </c:pt>
                <c:pt idx="19">
                  <c:v>1.4238</c:v>
                </c:pt>
                <c:pt idx="20">
                  <c:v>1.4918</c:v>
                </c:pt>
                <c:pt idx="21">
                  <c:v>1.5201</c:v>
                </c:pt>
                <c:pt idx="22">
                  <c:v>1.6184</c:v>
                </c:pt>
                <c:pt idx="23">
                  <c:v>1.5968</c:v>
                </c:pt>
                <c:pt idx="24">
                  <c:v>1.6591</c:v>
                </c:pt>
                <c:pt idx="25">
                  <c:v>1.6742</c:v>
                </c:pt>
                <c:pt idx="26">
                  <c:v>1.6103</c:v>
                </c:pt>
                <c:pt idx="27">
                  <c:v>1.6588</c:v>
                </c:pt>
                <c:pt idx="28">
                  <c:v>1.7664</c:v>
                </c:pt>
                <c:pt idx="29">
                  <c:v>1.8323</c:v>
                </c:pt>
                <c:pt idx="30">
                  <c:v>1.9791</c:v>
                </c:pt>
                <c:pt idx="31">
                  <c:v>1.9286</c:v>
                </c:pt>
                <c:pt idx="32">
                  <c:v>2.0258</c:v>
                </c:pt>
                <c:pt idx="33">
                  <c:v>1.9581</c:v>
                </c:pt>
                <c:pt idx="34">
                  <c:v>2.024</c:v>
                </c:pt>
                <c:pt idx="35">
                  <c:v>2.0873</c:v>
                </c:pt>
                <c:pt idx="36">
                  <c:v>2.0587</c:v>
                </c:pt>
                <c:pt idx="37">
                  <c:v>2.2075</c:v>
                </c:pt>
                <c:pt idx="38">
                  <c:v>2.3204</c:v>
                </c:pt>
                <c:pt idx="39">
                  <c:v>2.3207</c:v>
                </c:pt>
                <c:pt idx="40">
                  <c:v>2.2618</c:v>
                </c:pt>
                <c:pt idx="41">
                  <c:v>2.302</c:v>
                </c:pt>
                <c:pt idx="42">
                  <c:v>2.2155</c:v>
                </c:pt>
                <c:pt idx="43">
                  <c:v>1.9194</c:v>
                </c:pt>
                <c:pt idx="44">
                  <c:v>2.0402</c:v>
                </c:pt>
                <c:pt idx="45">
                  <c:v>2.1884</c:v>
                </c:pt>
                <c:pt idx="46">
                  <c:v>2.292</c:v>
                </c:pt>
                <c:pt idx="47">
                  <c:v>2.3948</c:v>
                </c:pt>
                <c:pt idx="48">
                  <c:v>2.3748</c:v>
                </c:pt>
                <c:pt idx="49">
                  <c:v>2.314</c:v>
                </c:pt>
                <c:pt idx="50">
                  <c:v>2.3685</c:v>
                </c:pt>
                <c:pt idx="51">
                  <c:v>2.5376</c:v>
                </c:pt>
                <c:pt idx="52">
                  <c:v>2.5488</c:v>
                </c:pt>
                <c:pt idx="53">
                  <c:v>2.6068</c:v>
                </c:pt>
                <c:pt idx="54">
                  <c:v>2.5367</c:v>
                </c:pt>
                <c:pt idx="55">
                  <c:v>2.4726</c:v>
                </c:pt>
                <c:pt idx="56">
                  <c:v>2.3707</c:v>
                </c:pt>
                <c:pt idx="57">
                  <c:v>2.4751</c:v>
                </c:pt>
                <c:pt idx="58">
                  <c:v>2.4752</c:v>
                </c:pt>
                <c:pt idx="59">
                  <c:v>2.5583</c:v>
                </c:pt>
                <c:pt idx="60">
                  <c:v>2.4498</c:v>
                </c:pt>
                <c:pt idx="61">
                  <c:v>2.3697</c:v>
                </c:pt>
                <c:pt idx="62">
                  <c:v>2.5803</c:v>
                </c:pt>
                <c:pt idx="63">
                  <c:v>2.6068</c:v>
                </c:pt>
                <c:pt idx="64">
                  <c:v>2.6503</c:v>
                </c:pt>
                <c:pt idx="65">
                  <c:v>2.5887</c:v>
                </c:pt>
                <c:pt idx="66">
                  <c:v>2.6115</c:v>
                </c:pt>
                <c:pt idx="67">
                  <c:v>2.8208</c:v>
                </c:pt>
                <c:pt idx="68">
                  <c:v>2.8688</c:v>
                </c:pt>
                <c:pt idx="69">
                  <c:v>2.9111</c:v>
                </c:pt>
                <c:pt idx="70">
                  <c:v>2.8227</c:v>
                </c:pt>
                <c:pt idx="71">
                  <c:v>3.0125</c:v>
                </c:pt>
                <c:pt idx="72">
                  <c:v>2.9953</c:v>
                </c:pt>
                <c:pt idx="73">
                  <c:v>2.9506</c:v>
                </c:pt>
                <c:pt idx="74">
                  <c:v>2.8468</c:v>
                </c:pt>
                <c:pt idx="75">
                  <c:v>3.0211</c:v>
                </c:pt>
                <c:pt idx="76">
                  <c:v>3.1011</c:v>
                </c:pt>
                <c:pt idx="77">
                  <c:v>3.0541</c:v>
                </c:pt>
                <c:pt idx="78">
                  <c:v>3.0313</c:v>
                </c:pt>
                <c:pt idx="79">
                  <c:v>2.9511</c:v>
                </c:pt>
                <c:pt idx="80">
                  <c:v>2.7112</c:v>
                </c:pt>
                <c:pt idx="81">
                  <c:v>2.738</c:v>
                </c:pt>
                <c:pt idx="82">
                  <c:v>2.9058</c:v>
                </c:pt>
                <c:pt idx="83">
                  <c:v>2.9961</c:v>
                </c:pt>
                <c:pt idx="84">
                  <c:v>2.997</c:v>
                </c:pt>
                <c:pt idx="85">
                  <c:v>2.9993</c:v>
                </c:pt>
                <c:pt idx="86">
                  <c:v>3.1536</c:v>
                </c:pt>
                <c:pt idx="87">
                  <c:v>3.1078</c:v>
                </c:pt>
                <c:pt idx="88">
                  <c:v>3.0926</c:v>
                </c:pt>
                <c:pt idx="89">
                  <c:v>2.9148</c:v>
                </c:pt>
                <c:pt idx="90">
                  <c:v>2.6859</c:v>
                </c:pt>
                <c:pt idx="91">
                  <c:v>2.7098</c:v>
                </c:pt>
                <c:pt idx="92">
                  <c:v>2.4728</c:v>
                </c:pt>
                <c:pt idx="93">
                  <c:v>2.5733</c:v>
                </c:pt>
                <c:pt idx="94">
                  <c:v>2.6803</c:v>
                </c:pt>
                <c:pt idx="95">
                  <c:v>2.6215</c:v>
                </c:pt>
                <c:pt idx="96">
                  <c:v>2.5592</c:v>
                </c:pt>
                <c:pt idx="97">
                  <c:v>2.5007</c:v>
                </c:pt>
                <c:pt idx="98">
                  <c:v>2.5227</c:v>
                </c:pt>
                <c:pt idx="99">
                  <c:v>2.6904</c:v>
                </c:pt>
                <c:pt idx="100">
                  <c:v>2.8887</c:v>
                </c:pt>
                <c:pt idx="101">
                  <c:v>2.909</c:v>
                </c:pt>
                <c:pt idx="102">
                  <c:v>2.9571</c:v>
                </c:pt>
                <c:pt idx="103">
                  <c:v>3.0366</c:v>
                </c:pt>
                <c:pt idx="104">
                  <c:v>3.0125</c:v>
                </c:pt>
                <c:pt idx="105">
                  <c:v>3.1961</c:v>
                </c:pt>
                <c:pt idx="106">
                  <c:v>3.266</c:v>
                </c:pt>
                <c:pt idx="107">
                  <c:v>3.3879</c:v>
                </c:pt>
                <c:pt idx="108">
                  <c:v>3.4333</c:v>
                </c:pt>
                <c:pt idx="109">
                  <c:v>3.5218</c:v>
                </c:pt>
                <c:pt idx="110">
                  <c:v>3.5078</c:v>
                </c:pt>
                <c:pt idx="111">
                  <c:v>3.4867</c:v>
                </c:pt>
                <c:pt idx="112">
                  <c:v>3.5439</c:v>
                </c:pt>
                <c:pt idx="113">
                  <c:v>3.6228</c:v>
                </c:pt>
                <c:pt idx="114">
                  <c:v>3.5028</c:v>
                </c:pt>
                <c:pt idx="115">
                  <c:v>3.5282</c:v>
                </c:pt>
                <c:pt idx="116">
                  <c:v>3.6108</c:v>
                </c:pt>
                <c:pt idx="117">
                  <c:v>3.6616</c:v>
                </c:pt>
                <c:pt idx="118">
                  <c:v>3.8445</c:v>
                </c:pt>
                <c:pt idx="119">
                  <c:v>3.9824</c:v>
                </c:pt>
                <c:pt idx="120">
                  <c:v>3.92</c:v>
                </c:pt>
                <c:pt idx="121">
                  <c:v>4.0018</c:v>
                </c:pt>
                <c:pt idx="122">
                  <c:v>3.9741</c:v>
                </c:pt>
                <c:pt idx="123">
                  <c:v>3.9141</c:v>
                </c:pt>
                <c:pt idx="124">
                  <c:v>4.0497</c:v>
                </c:pt>
                <c:pt idx="125">
                  <c:v>4.1148</c:v>
                </c:pt>
                <c:pt idx="126">
                  <c:v>4.2699</c:v>
                </c:pt>
                <c:pt idx="127">
                  <c:v>4.233</c:v>
                </c:pt>
                <c:pt idx="128">
                  <c:v>4.2596</c:v>
                </c:pt>
                <c:pt idx="129">
                  <c:v>4.1678</c:v>
                </c:pt>
                <c:pt idx="130">
                  <c:v>4.3174</c:v>
                </c:pt>
                <c:pt idx="131">
                  <c:v>4.3507</c:v>
                </c:pt>
                <c:pt idx="132">
                  <c:v>4.4841</c:v>
                </c:pt>
                <c:pt idx="133">
                  <c:v>4.4923</c:v>
                </c:pt>
                <c:pt idx="134">
                  <c:v>4.5584</c:v>
                </c:pt>
                <c:pt idx="135">
                  <c:v>4.5996</c:v>
                </c:pt>
                <c:pt idx="136">
                  <c:v>4.4849</c:v>
                </c:pt>
                <c:pt idx="137">
                  <c:v>4.4975</c:v>
                </c:pt>
                <c:pt idx="138">
                  <c:v>4.4927</c:v>
                </c:pt>
                <c:pt idx="139">
                  <c:v>4.5763</c:v>
                </c:pt>
                <c:pt idx="140">
                  <c:v>4.6485</c:v>
                </c:pt>
                <c:pt idx="141">
                  <c:v>4.7901</c:v>
                </c:pt>
                <c:pt idx="142">
                  <c:v>4.8985</c:v>
                </c:pt>
                <c:pt idx="143">
                  <c:v>4.9281</c:v>
                </c:pt>
                <c:pt idx="144">
                  <c:v>5.0417</c:v>
                </c:pt>
                <c:pt idx="145">
                  <c:v>5.0318</c:v>
                </c:pt>
                <c:pt idx="146">
                  <c:v>5.0841</c:v>
                </c:pt>
                <c:pt idx="147">
                  <c:v>5.2924</c:v>
                </c:pt>
                <c:pt idx="148">
                  <c:v>5.4735</c:v>
                </c:pt>
                <c:pt idx="149">
                  <c:v>5.3581</c:v>
                </c:pt>
                <c:pt idx="150">
                  <c:v>5.1841</c:v>
                </c:pt>
                <c:pt idx="151">
                  <c:v>5.2398</c:v>
                </c:pt>
                <c:pt idx="152">
                  <c:v>5.4187</c:v>
                </c:pt>
                <c:pt idx="153">
                  <c:v>5.5505</c:v>
                </c:pt>
                <c:pt idx="154">
                  <c:v>5.3506</c:v>
                </c:pt>
                <c:pt idx="155">
                  <c:v>5.2921</c:v>
                </c:pt>
                <c:pt idx="156">
                  <c:v>5.0125</c:v>
                </c:pt>
                <c:pt idx="157">
                  <c:v>4.8872</c:v>
                </c:pt>
                <c:pt idx="158">
                  <c:v>4.8179</c:v>
                </c:pt>
                <c:pt idx="159">
                  <c:v>5.0597</c:v>
                </c:pt>
                <c:pt idx="160">
                  <c:v>5.2084</c:v>
                </c:pt>
                <c:pt idx="161">
                  <c:v>4.79</c:v>
                </c:pt>
                <c:pt idx="162">
                  <c:v>4.752</c:v>
                </c:pt>
                <c:pt idx="163">
                  <c:v>4.8209</c:v>
                </c:pt>
                <c:pt idx="164">
                  <c:v>4.3469</c:v>
                </c:pt>
                <c:pt idx="165">
                  <c:v>3.5922</c:v>
                </c:pt>
                <c:pt idx="166">
                  <c:v>3.326</c:v>
                </c:pt>
                <c:pt idx="167">
                  <c:v>3.3911</c:v>
                </c:pt>
                <c:pt idx="168">
                  <c:v>3.1414</c:v>
                </c:pt>
                <c:pt idx="169">
                  <c:v>2.8361</c:v>
                </c:pt>
                <c:pt idx="170">
                  <c:v>3.0675</c:v>
                </c:pt>
                <c:pt idx="171">
                  <c:v>3.3714</c:v>
                </c:pt>
                <c:pt idx="172">
                  <c:v>3.4974</c:v>
                </c:pt>
                <c:pt idx="173">
                  <c:v>3.5265</c:v>
                </c:pt>
                <c:pt idx="174">
                  <c:v>3.7785</c:v>
                </c:pt>
                <c:pt idx="175">
                  <c:v>3.8995</c:v>
                </c:pt>
                <c:pt idx="176">
                  <c:v>4.0646</c:v>
                </c:pt>
                <c:pt idx="177">
                  <c:v>3.9538</c:v>
                </c:pt>
                <c:pt idx="178">
                  <c:v>4.1592</c:v>
                </c:pt>
                <c:pt idx="179">
                  <c:v>4.3255</c:v>
                </c:pt>
                <c:pt idx="180">
                  <c:v>4.2087</c:v>
                </c:pt>
                <c:pt idx="181">
                  <c:v>4.3774</c:v>
                </c:pt>
                <c:pt idx="182">
                  <c:v>4.6206</c:v>
                </c:pt>
                <c:pt idx="183">
                  <c:v>4.7246</c:v>
                </c:pt>
                <c:pt idx="184">
                  <c:v>4.3982</c:v>
                </c:pt>
                <c:pt idx="185">
                  <c:v>4.1866</c:v>
                </c:pt>
                <c:pt idx="186">
                  <c:v>4.456</c:v>
                </c:pt>
                <c:pt idx="187">
                  <c:v>4.2918</c:v>
                </c:pt>
                <c:pt idx="188">
                  <c:v>4.6916</c:v>
                </c:pt>
                <c:pt idx="189">
                  <c:v>4.8634</c:v>
                </c:pt>
                <c:pt idx="190">
                  <c:v>4.9134</c:v>
                </c:pt>
                <c:pt idx="191">
                  <c:v>5.2196</c:v>
                </c:pt>
                <c:pt idx="192">
                  <c:v>5.3097</c:v>
                </c:pt>
                <c:pt idx="193">
                  <c:v>5.5103</c:v>
                </c:pt>
                <c:pt idx="194">
                  <c:v>5.5796</c:v>
                </c:pt>
                <c:pt idx="195">
                  <c:v>5.7558</c:v>
                </c:pt>
                <c:pt idx="196">
                  <c:v>5.7448</c:v>
                </c:pt>
                <c:pt idx="197">
                  <c:v>5.6551</c:v>
                </c:pt>
                <c:pt idx="198">
                  <c:v>5.4849</c:v>
                </c:pt>
                <c:pt idx="199">
                  <c:v>5.2086</c:v>
                </c:pt>
                <c:pt idx="200">
                  <c:v>4.821</c:v>
                </c:pt>
                <c:pt idx="201">
                  <c:v>5.3505</c:v>
                </c:pt>
                <c:pt idx="202">
                  <c:v>5.3367</c:v>
                </c:pt>
                <c:pt idx="203">
                  <c:v>5.3412</c:v>
                </c:pt>
                <c:pt idx="204">
                  <c:v>5.5865</c:v>
                </c:pt>
                <c:pt idx="205">
                  <c:v>5.7948</c:v>
                </c:pt>
                <c:pt idx="206">
                  <c:v>5.9356</c:v>
                </c:pt>
                <c:pt idx="207">
                  <c:v>5.913</c:v>
                </c:pt>
                <c:pt idx="208">
                  <c:v>5.5915</c:v>
                </c:pt>
                <c:pt idx="209">
                  <c:v>5.7779</c:v>
                </c:pt>
                <c:pt idx="210">
                  <c:v>5.7936</c:v>
                </c:pt>
                <c:pt idx="211">
                  <c:v>5.9298</c:v>
                </c:pt>
                <c:pt idx="212">
                  <c:v>6.0686</c:v>
                </c:pt>
                <c:pt idx="213">
                  <c:v>6.0203</c:v>
                </c:pt>
                <c:pt idx="214">
                  <c:v>6.082</c:v>
                </c:pt>
                <c:pt idx="215">
                  <c:v>6.1666</c:v>
                </c:pt>
                <c:pt idx="216">
                  <c:v>6.5586</c:v>
                </c:pt>
                <c:pt idx="217">
                  <c:v>6.6675</c:v>
                </c:pt>
                <c:pt idx="218">
                  <c:v>6.9855</c:v>
                </c:pt>
                <c:pt idx="219">
                  <c:v>7.1112</c:v>
                </c:pt>
                <c:pt idx="220">
                  <c:v>7.2273</c:v>
                </c:pt>
                <c:pt idx="221">
                  <c:v>7.1674</c:v>
                </c:pt>
                <c:pt idx="222">
                  <c:v>7.5736</c:v>
                </c:pt>
                <c:pt idx="223">
                  <c:v>7.3678</c:v>
                </c:pt>
                <c:pt idx="224">
                  <c:v>7.6518</c:v>
                </c:pt>
                <c:pt idx="225">
                  <c:v>7.9472</c:v>
                </c:pt>
                <c:pt idx="226">
                  <c:v>8.0979</c:v>
                </c:pt>
                <c:pt idx="227">
                  <c:v>8.316</c:v>
                </c:pt>
                <c:pt idx="228">
                  <c:v>8.1039</c:v>
                </c:pt>
                <c:pt idx="229">
                  <c:v>8.5285</c:v>
                </c:pt>
                <c:pt idx="230">
                  <c:v>8.5758</c:v>
                </c:pt>
                <c:pt idx="231">
                  <c:v>8.594</c:v>
                </c:pt>
                <c:pt idx="232">
                  <c:v>8.78</c:v>
                </c:pt>
                <c:pt idx="233">
                  <c:v>9.0143</c:v>
                </c:pt>
                <c:pt idx="234">
                  <c:v>8.795</c:v>
                </c:pt>
                <c:pt idx="235">
                  <c:v>9.1935</c:v>
                </c:pt>
                <c:pt idx="236">
                  <c:v>9.0158</c:v>
                </c:pt>
                <c:pt idx="237">
                  <c:v>9.3219</c:v>
                </c:pt>
                <c:pt idx="238">
                  <c:v>9.6095</c:v>
                </c:pt>
                <c:pt idx="239">
                  <c:v>9.6405</c:v>
                </c:pt>
                <c:pt idx="240">
                  <c:v>9.4937</c:v>
                </c:pt>
                <c:pt idx="241">
                  <c:v>9.9775</c:v>
                </c:pt>
                <c:pt idx="242">
                  <c:v>9.9189</c:v>
                </c:pt>
                <c:pt idx="243">
                  <c:v>9.9047</c:v>
                </c:pt>
                <c:pt idx="244">
                  <c:v>10.0478</c:v>
                </c:pt>
                <c:pt idx="245">
                  <c:v>9.8448</c:v>
                </c:pt>
                <c:pt idx="246">
                  <c:v>10.0361</c:v>
                </c:pt>
                <c:pt idx="247">
                  <c:v>9.5141</c:v>
                </c:pt>
                <c:pt idx="248">
                  <c:v>9.2728</c:v>
                </c:pt>
                <c:pt idx="249">
                  <c:v>9.8638</c:v>
                </c:pt>
                <c:pt idx="250">
                  <c:v>9.879</c:v>
                </c:pt>
                <c:pt idx="251">
                  <c:v>9.7179</c:v>
                </c:pt>
                <c:pt idx="252">
                  <c:v>9.2758</c:v>
                </c:pt>
                <c:pt idx="253">
                  <c:v>9.4062</c:v>
                </c:pt>
                <c:pt idx="254">
                  <c:v>10.0641</c:v>
                </c:pt>
                <c:pt idx="255">
                  <c:v>10.1329</c:v>
                </c:pt>
                <c:pt idx="256">
                  <c:v>10.3024</c:v>
                </c:pt>
                <c:pt idx="257">
                  <c:v>10.4535</c:v>
                </c:pt>
                <c:pt idx="258">
                  <c:v>10.7899</c:v>
                </c:pt>
                <c:pt idx="259">
                  <c:v>10.753</c:v>
                </c:pt>
                <c:pt idx="260">
                  <c:v>10.7409</c:v>
                </c:pt>
                <c:pt idx="261">
                  <c:v>10.5286</c:v>
                </c:pt>
                <c:pt idx="262">
                  <c:v>10.9853</c:v>
                </c:pt>
                <c:pt idx="263">
                  <c:v>11.1483</c:v>
                </c:pt>
                <c:pt idx="264">
                  <c:v>11.3953</c:v>
                </c:pt>
                <c:pt idx="265">
                  <c:v>11.8214</c:v>
                </c:pt>
                <c:pt idx="266">
                  <c:v>11.821</c:v>
                </c:pt>
                <c:pt idx="267">
                  <c:v>11.9391</c:v>
                </c:pt>
                <c:pt idx="268">
                  <c:v>12.0978</c:v>
                </c:pt>
                <c:pt idx="269">
                  <c:v>12.1569</c:v>
                </c:pt>
                <c:pt idx="270">
                  <c:v>12.3609</c:v>
                </c:pt>
                <c:pt idx="271">
                  <c:v>12.3403</c:v>
                </c:pt>
                <c:pt idx="272">
                  <c:v>12.6194</c:v>
                </c:pt>
                <c:pt idx="273">
                  <c:v>12.859</c:v>
                </c:pt>
                <c:pt idx="274">
                  <c:v>13.3882</c:v>
                </c:pt>
                <c:pt idx="275">
                  <c:v>13.486</c:v>
                </c:pt>
                <c:pt idx="276">
                  <c:v>14.0961</c:v>
                </c:pt>
                <c:pt idx="277">
                  <c:v>13.5457</c:v>
                </c:pt>
                <c:pt idx="278">
                  <c:v>13.4873</c:v>
                </c:pt>
                <c:pt idx="279">
                  <c:v>13.558</c:v>
                </c:pt>
                <c:pt idx="280">
                  <c:v>13.7418</c:v>
                </c:pt>
                <c:pt idx="281">
                  <c:v>13.8986</c:v>
                </c:pt>
                <c:pt idx="282">
                  <c:v>14.3383</c:v>
                </c:pt>
                <c:pt idx="283">
                  <c:v>14.738</c:v>
                </c:pt>
                <c:pt idx="284">
                  <c:v>14.7762</c:v>
                </c:pt>
                <c:pt idx="285">
                  <c:v>13.8195</c:v>
                </c:pt>
                <c:pt idx="286">
                  <c:v>14.1679</c:v>
                </c:pt>
                <c:pt idx="287">
                  <c:v>12.8927</c:v>
                </c:pt>
                <c:pt idx="288">
                  <c:v>13.969</c:v>
                </c:pt>
                <c:pt idx="289">
                  <c:v>14.4997</c:v>
                </c:pt>
                <c:pt idx="290">
                  <c:v>14.6781</c:v>
                </c:pt>
                <c:pt idx="291">
                  <c:v>15.2305</c:v>
                </c:pt>
                <c:pt idx="292">
                  <c:v>14.399</c:v>
                </c:pt>
                <c:pt idx="293">
                  <c:v>15.4126</c:v>
                </c:pt>
                <c:pt idx="294">
                  <c:v>15.6117</c:v>
                </c:pt>
                <c:pt idx="295">
                  <c:v>15.3704</c:v>
                </c:pt>
                <c:pt idx="296">
                  <c:v>15.6488</c:v>
                </c:pt>
                <c:pt idx="297">
                  <c:v>15.8017</c:v>
                </c:pt>
                <c:pt idx="298">
                  <c:v>16.34</c:v>
                </c:pt>
                <c:pt idx="299">
                  <c:v>16.7173</c:v>
                </c:pt>
                <c:pt idx="300">
                  <c:v>16.7312</c:v>
                </c:pt>
                <c:pt idx="301">
                  <c:v>15.3627</c:v>
                </c:pt>
                <c:pt idx="302">
                  <c:v>13.051</c:v>
                </c:pt>
                <c:pt idx="303">
                  <c:v>14.6389</c:v>
                </c:pt>
                <c:pt idx="304">
                  <c:v>15.5705</c:v>
                </c:pt>
                <c:pt idx="305">
                  <c:v>15.6229</c:v>
                </c:pt>
                <c:pt idx="306">
                  <c:v>16.5383</c:v>
                </c:pt>
                <c:pt idx="307">
                  <c:v>17.1303</c:v>
                </c:pt>
                <c:pt idx="308">
                  <c:v>16.8006</c:v>
                </c:pt>
                <c:pt idx="309">
                  <c:v>16.7113</c:v>
                </c:pt>
                <c:pt idx="310">
                  <c:v>18.5868</c:v>
                </c:pt>
                <c:pt idx="311">
                  <c:v>19.3296</c:v>
                </c:pt>
                <c:pt idx="312">
                  <c:v>19.0897</c:v>
                </c:pt>
                <c:pt idx="313">
                  <c:v>19.6606</c:v>
                </c:pt>
                <c:pt idx="314">
                  <c:v>20.635</c:v>
                </c:pt>
                <c:pt idx="315">
                  <c:v>21.5508</c:v>
                </c:pt>
                <c:pt idx="316">
                  <c:v>21.7307</c:v>
                </c:pt>
                <c:pt idx="317">
                  <c:v>21.8998</c:v>
                </c:pt>
                <c:pt idx="318">
                  <c:v>22.2108</c:v>
                </c:pt>
                <c:pt idx="319">
                  <c:v>22.7038</c:v>
                </c:pt>
                <c:pt idx="320">
                  <c:v>21.6718</c:v>
                </c:pt>
                <c:pt idx="321">
                  <c:v>22.8451</c:v>
                </c:pt>
                <c:pt idx="322">
                  <c:v>22.2595</c:v>
                </c:pt>
                <c:pt idx="323">
                  <c:v>23.4989</c:v>
                </c:pt>
                <c:pt idx="324">
                  <c:v>22.297</c:v>
                </c:pt>
                <c:pt idx="325">
                  <c:v>22.1025</c:v>
                </c:pt>
                <c:pt idx="326">
                  <c:v>22.78</c:v>
                </c:pt>
                <c:pt idx="327">
                  <c:v>21.3485</c:v>
                </c:pt>
                <c:pt idx="328">
                  <c:v>21.5548</c:v>
                </c:pt>
                <c:pt idx="329">
                  <c:v>19.8747</c:v>
                </c:pt>
                <c:pt idx="330">
                  <c:v>21.4527</c:v>
                </c:pt>
                <c:pt idx="331">
                  <c:v>20.8968</c:v>
                </c:pt>
                <c:pt idx="332">
                  <c:v>19.1141</c:v>
                </c:pt>
                <c:pt idx="333">
                  <c:v>20.8385</c:v>
                </c:pt>
                <c:pt idx="334">
                  <c:v>22.1772</c:v>
                </c:pt>
                <c:pt idx="335">
                  <c:v>21.1948</c:v>
                </c:pt>
                <c:pt idx="336">
                  <c:v>22.4111</c:v>
                </c:pt>
                <c:pt idx="337">
                  <c:v>21.7256</c:v>
                </c:pt>
                <c:pt idx="338">
                  <c:v>21.8684</c:v>
                </c:pt>
                <c:pt idx="339">
                  <c:v>21.9777</c:v>
                </c:pt>
                <c:pt idx="340">
                  <c:v>21.2162</c:v>
                </c:pt>
                <c:pt idx="341">
                  <c:v>22.6475</c:v>
                </c:pt>
                <c:pt idx="342">
                  <c:v>23.2965</c:v>
                </c:pt>
                <c:pt idx="343">
                  <c:v>22.6784</c:v>
                </c:pt>
                <c:pt idx="344">
                  <c:v>21.6204</c:v>
                </c:pt>
                <c:pt idx="345">
                  <c:v>20.8902</c:v>
                </c:pt>
                <c:pt idx="346">
                  <c:v>22.6416</c:v>
                </c:pt>
                <c:pt idx="347">
                  <c:v>24.0186</c:v>
                </c:pt>
                <c:pt idx="348">
                  <c:v>23.9955</c:v>
                </c:pt>
                <c:pt idx="349">
                  <c:v>24.9792</c:v>
                </c:pt>
                <c:pt idx="350">
                  <c:v>26.0804</c:v>
                </c:pt>
                <c:pt idx="351">
                  <c:v>24.9179</c:v>
                </c:pt>
                <c:pt idx="352">
                  <c:v>25.5481</c:v>
                </c:pt>
                <c:pt idx="353">
                  <c:v>25.4983</c:v>
                </c:pt>
                <c:pt idx="354">
                  <c:v>26.5175</c:v>
                </c:pt>
                <c:pt idx="355">
                  <c:v>27.2387</c:v>
                </c:pt>
                <c:pt idx="356">
                  <c:v>27.7215</c:v>
                </c:pt>
                <c:pt idx="357">
                  <c:v>27.4046</c:v>
                </c:pt>
                <c:pt idx="358">
                  <c:v>29.1291</c:v>
                </c:pt>
                <c:pt idx="359">
                  <c:v>27.3333</c:v>
                </c:pt>
                <c:pt idx="360">
                  <c:v>28.3955</c:v>
                </c:pt>
                <c:pt idx="361">
                  <c:v>28.1766</c:v>
                </c:pt>
                <c:pt idx="362">
                  <c:v>27.3307</c:v>
                </c:pt>
                <c:pt idx="363">
                  <c:v>26.7889</c:v>
                </c:pt>
                <c:pt idx="364">
                  <c:v>27.7673</c:v>
                </c:pt>
                <c:pt idx="365">
                  <c:v>28.5897</c:v>
                </c:pt>
                <c:pt idx="366">
                  <c:v>28.6787</c:v>
                </c:pt>
                <c:pt idx="367">
                  <c:v>29.4114</c:v>
                </c:pt>
                <c:pt idx="368">
                  <c:v>29.7143</c:v>
                </c:pt>
                <c:pt idx="369">
                  <c:v>29.5171</c:v>
                </c:pt>
                <c:pt idx="370">
                  <c:v>30.1792</c:v>
                </c:pt>
                <c:pt idx="371">
                  <c:v>30.2089</c:v>
                </c:pt>
              </c:numCache>
            </c:numRef>
          </c:val>
          <c:smooth val="0"/>
        </c:ser>
        <c:ser>
          <c:idx val="1"/>
          <c:order val="1"/>
          <c:tx>
            <c:strRef>
              <c:f>Sheet1!$C$1</c:f>
              <c:strCache>
                <c:ptCount val="1"/>
                <c:pt idx="0">
                  <c:v>Constant correlation</c:v>
                </c:pt>
              </c:strCache>
            </c:strRef>
          </c:tx>
          <c:spPr>
            <a:solidFill>
              <a:srgbClr val="8E44AD"/>
            </a:solidFill>
            <a:ln w="19050" cap="flat">
              <a:solidFill>
                <a:srgbClr val="8E44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44AD"/>
              </a:solidFill>
              <a:ln w="9525" cap="flat">
                <a:solidFill>
                  <a:srgbClr val="8E44AD"/>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Sheet1!$C$2:$C$373</c:f>
              <c:numCache>
                <c:formatCode>General</c:formatCode>
                <c:ptCount val="372"/>
                <c:pt idx="0">
                  <c:v>1.0289</c:v>
                </c:pt>
                <c:pt idx="1">
                  <c:v>1.0717</c:v>
                </c:pt>
                <c:pt idx="2">
                  <c:v>1.0955</c:v>
                </c:pt>
                <c:pt idx="3">
                  <c:v>1.1144</c:v>
                </c:pt>
                <c:pt idx="4">
                  <c:v>1.1559</c:v>
                </c:pt>
                <c:pt idx="5">
                  <c:v>1.182</c:v>
                </c:pt>
                <c:pt idx="6">
                  <c:v>1.2225</c:v>
                </c:pt>
                <c:pt idx="7">
                  <c:v>1.2396</c:v>
                </c:pt>
                <c:pt idx="8">
                  <c:v>1.2788</c:v>
                </c:pt>
                <c:pt idx="9">
                  <c:v>1.2626</c:v>
                </c:pt>
                <c:pt idx="10">
                  <c:v>1.3226</c:v>
                </c:pt>
                <c:pt idx="11">
                  <c:v>1.3431</c:v>
                </c:pt>
                <c:pt idx="12">
                  <c:v>1.3835</c:v>
                </c:pt>
                <c:pt idx="13">
                  <c:v>1.4008</c:v>
                </c:pt>
                <c:pt idx="14">
                  <c:v>1.4207</c:v>
                </c:pt>
                <c:pt idx="15">
                  <c:v>1.4403</c:v>
                </c:pt>
                <c:pt idx="16">
                  <c:v>1.4648</c:v>
                </c:pt>
                <c:pt idx="17">
                  <c:v>1.4597</c:v>
                </c:pt>
                <c:pt idx="18">
                  <c:v>1.3885</c:v>
                </c:pt>
                <c:pt idx="19">
                  <c:v>1.4346</c:v>
                </c:pt>
                <c:pt idx="20">
                  <c:v>1.5058</c:v>
                </c:pt>
                <c:pt idx="21">
                  <c:v>1.5345</c:v>
                </c:pt>
                <c:pt idx="22">
                  <c:v>1.6374</c:v>
                </c:pt>
                <c:pt idx="23">
                  <c:v>1.6117</c:v>
                </c:pt>
                <c:pt idx="24">
                  <c:v>1.6774</c:v>
                </c:pt>
                <c:pt idx="25">
                  <c:v>1.6943</c:v>
                </c:pt>
                <c:pt idx="26">
                  <c:v>1.6302</c:v>
                </c:pt>
                <c:pt idx="27">
                  <c:v>1.6866</c:v>
                </c:pt>
                <c:pt idx="28">
                  <c:v>1.7971</c:v>
                </c:pt>
                <c:pt idx="29">
                  <c:v>1.866</c:v>
                </c:pt>
                <c:pt idx="30">
                  <c:v>2.0152</c:v>
                </c:pt>
                <c:pt idx="31">
                  <c:v>1.9565</c:v>
                </c:pt>
                <c:pt idx="32">
                  <c:v>2.0595</c:v>
                </c:pt>
                <c:pt idx="33">
                  <c:v>1.9919</c:v>
                </c:pt>
                <c:pt idx="34">
                  <c:v>2.0663</c:v>
                </c:pt>
                <c:pt idx="35">
                  <c:v>2.134</c:v>
                </c:pt>
                <c:pt idx="36">
                  <c:v>2.1069</c:v>
                </c:pt>
                <c:pt idx="37">
                  <c:v>2.2604</c:v>
                </c:pt>
                <c:pt idx="38">
                  <c:v>2.3751</c:v>
                </c:pt>
                <c:pt idx="39">
                  <c:v>2.3813</c:v>
                </c:pt>
                <c:pt idx="40">
                  <c:v>2.3227</c:v>
                </c:pt>
                <c:pt idx="41">
                  <c:v>2.3629</c:v>
                </c:pt>
                <c:pt idx="42">
                  <c:v>2.279</c:v>
                </c:pt>
                <c:pt idx="43">
                  <c:v>1.9691</c:v>
                </c:pt>
                <c:pt idx="44">
                  <c:v>2.0892</c:v>
                </c:pt>
                <c:pt idx="45">
                  <c:v>2.254</c:v>
                </c:pt>
                <c:pt idx="46">
                  <c:v>2.3616</c:v>
                </c:pt>
                <c:pt idx="47">
                  <c:v>2.4638</c:v>
                </c:pt>
                <c:pt idx="48">
                  <c:v>2.4484</c:v>
                </c:pt>
                <c:pt idx="49">
                  <c:v>2.394</c:v>
                </c:pt>
                <c:pt idx="50">
                  <c:v>2.4531</c:v>
                </c:pt>
                <c:pt idx="51">
                  <c:v>2.6358</c:v>
                </c:pt>
                <c:pt idx="52">
                  <c:v>2.6338</c:v>
                </c:pt>
                <c:pt idx="53">
                  <c:v>2.7085</c:v>
                </c:pt>
                <c:pt idx="54">
                  <c:v>2.6314</c:v>
                </c:pt>
                <c:pt idx="55">
                  <c:v>2.5584</c:v>
                </c:pt>
                <c:pt idx="56">
                  <c:v>2.4549</c:v>
                </c:pt>
                <c:pt idx="57">
                  <c:v>2.5759</c:v>
                </c:pt>
                <c:pt idx="58">
                  <c:v>2.5812</c:v>
                </c:pt>
                <c:pt idx="59">
                  <c:v>2.6757</c:v>
                </c:pt>
                <c:pt idx="60">
                  <c:v>2.5513</c:v>
                </c:pt>
                <c:pt idx="61">
                  <c:v>2.4699</c:v>
                </c:pt>
                <c:pt idx="62">
                  <c:v>2.7036</c:v>
                </c:pt>
                <c:pt idx="63">
                  <c:v>2.7107</c:v>
                </c:pt>
                <c:pt idx="64">
                  <c:v>2.749</c:v>
                </c:pt>
                <c:pt idx="65">
                  <c:v>2.6928</c:v>
                </c:pt>
                <c:pt idx="66">
                  <c:v>2.7127</c:v>
                </c:pt>
                <c:pt idx="67">
                  <c:v>2.9242</c:v>
                </c:pt>
                <c:pt idx="68">
                  <c:v>2.9325</c:v>
                </c:pt>
                <c:pt idx="69">
                  <c:v>2.984</c:v>
                </c:pt>
                <c:pt idx="70">
                  <c:v>2.847</c:v>
                </c:pt>
                <c:pt idx="71">
                  <c:v>3.0428</c:v>
                </c:pt>
                <c:pt idx="72">
                  <c:v>3.0933</c:v>
                </c:pt>
                <c:pt idx="73">
                  <c:v>2.9837</c:v>
                </c:pt>
                <c:pt idx="74">
                  <c:v>2.8516</c:v>
                </c:pt>
                <c:pt idx="75">
                  <c:v>3.0565</c:v>
                </c:pt>
                <c:pt idx="76">
                  <c:v>3.1263</c:v>
                </c:pt>
                <c:pt idx="77">
                  <c:v>3.0822</c:v>
                </c:pt>
                <c:pt idx="78">
                  <c:v>3.0577</c:v>
                </c:pt>
                <c:pt idx="79">
                  <c:v>2.939</c:v>
                </c:pt>
                <c:pt idx="80">
                  <c:v>2.6556</c:v>
                </c:pt>
                <c:pt idx="81">
                  <c:v>2.702</c:v>
                </c:pt>
                <c:pt idx="82">
                  <c:v>2.9108</c:v>
                </c:pt>
                <c:pt idx="83">
                  <c:v>2.9987</c:v>
                </c:pt>
                <c:pt idx="84">
                  <c:v>2.9987</c:v>
                </c:pt>
                <c:pt idx="85">
                  <c:v>2.983</c:v>
                </c:pt>
                <c:pt idx="86">
                  <c:v>3.1416</c:v>
                </c:pt>
                <c:pt idx="87">
                  <c:v>3.0644</c:v>
                </c:pt>
                <c:pt idx="88">
                  <c:v>3.0504</c:v>
                </c:pt>
                <c:pt idx="89">
                  <c:v>2.8515</c:v>
                </c:pt>
                <c:pt idx="90">
                  <c:v>2.6107</c:v>
                </c:pt>
                <c:pt idx="91">
                  <c:v>2.6286</c:v>
                </c:pt>
                <c:pt idx="92">
                  <c:v>2.384</c:v>
                </c:pt>
                <c:pt idx="93">
                  <c:v>2.5112</c:v>
                </c:pt>
                <c:pt idx="94">
                  <c:v>2.6517</c:v>
                </c:pt>
                <c:pt idx="95">
                  <c:v>2.549</c:v>
                </c:pt>
                <c:pt idx="96">
                  <c:v>2.4903</c:v>
                </c:pt>
                <c:pt idx="97">
                  <c:v>2.4395</c:v>
                </c:pt>
                <c:pt idx="98">
                  <c:v>2.452</c:v>
                </c:pt>
                <c:pt idx="99">
                  <c:v>2.6387</c:v>
                </c:pt>
                <c:pt idx="100">
                  <c:v>2.8369</c:v>
                </c:pt>
                <c:pt idx="101">
                  <c:v>2.8554</c:v>
                </c:pt>
                <c:pt idx="102">
                  <c:v>2.9222</c:v>
                </c:pt>
                <c:pt idx="103">
                  <c:v>3.0177</c:v>
                </c:pt>
                <c:pt idx="104">
                  <c:v>2.9762</c:v>
                </c:pt>
                <c:pt idx="105">
                  <c:v>3.1869</c:v>
                </c:pt>
                <c:pt idx="106">
                  <c:v>3.2434</c:v>
                </c:pt>
                <c:pt idx="107">
                  <c:v>3.3722</c:v>
                </c:pt>
                <c:pt idx="108">
                  <c:v>3.4216</c:v>
                </c:pt>
                <c:pt idx="109">
                  <c:v>3.4949</c:v>
                </c:pt>
                <c:pt idx="110">
                  <c:v>3.4771</c:v>
                </c:pt>
                <c:pt idx="111">
                  <c:v>3.424</c:v>
                </c:pt>
                <c:pt idx="112">
                  <c:v>3.4824</c:v>
                </c:pt>
                <c:pt idx="113">
                  <c:v>3.5582</c:v>
                </c:pt>
                <c:pt idx="114">
                  <c:v>3.4324</c:v>
                </c:pt>
                <c:pt idx="115">
                  <c:v>3.4452</c:v>
                </c:pt>
                <c:pt idx="116">
                  <c:v>3.5359</c:v>
                </c:pt>
                <c:pt idx="117">
                  <c:v>3.5953</c:v>
                </c:pt>
                <c:pt idx="118">
                  <c:v>3.775</c:v>
                </c:pt>
                <c:pt idx="119">
                  <c:v>3.9101</c:v>
                </c:pt>
                <c:pt idx="120">
                  <c:v>3.8299</c:v>
                </c:pt>
                <c:pt idx="121">
                  <c:v>3.9103</c:v>
                </c:pt>
                <c:pt idx="122">
                  <c:v>3.8746</c:v>
                </c:pt>
                <c:pt idx="123">
                  <c:v>3.7802</c:v>
                </c:pt>
                <c:pt idx="124">
                  <c:v>3.9299</c:v>
                </c:pt>
                <c:pt idx="125">
                  <c:v>3.9891</c:v>
                </c:pt>
                <c:pt idx="126">
                  <c:v>4.1694</c:v>
                </c:pt>
                <c:pt idx="127">
                  <c:v>4.1305</c:v>
                </c:pt>
                <c:pt idx="128">
                  <c:v>4.1642</c:v>
                </c:pt>
                <c:pt idx="129">
                  <c:v>4.0853</c:v>
                </c:pt>
                <c:pt idx="130">
                  <c:v>4.2446</c:v>
                </c:pt>
                <c:pt idx="131">
                  <c:v>4.2717</c:v>
                </c:pt>
                <c:pt idx="132">
                  <c:v>4.4105</c:v>
                </c:pt>
                <c:pt idx="133">
                  <c:v>4.4211</c:v>
                </c:pt>
                <c:pt idx="134">
                  <c:v>4.495</c:v>
                </c:pt>
                <c:pt idx="135">
                  <c:v>4.5514</c:v>
                </c:pt>
                <c:pt idx="136">
                  <c:v>4.4263</c:v>
                </c:pt>
                <c:pt idx="137">
                  <c:v>4.4354</c:v>
                </c:pt>
                <c:pt idx="138">
                  <c:v>4.4018</c:v>
                </c:pt>
                <c:pt idx="139">
                  <c:v>4.4925</c:v>
                </c:pt>
                <c:pt idx="140">
                  <c:v>4.5804</c:v>
                </c:pt>
                <c:pt idx="141">
                  <c:v>4.7372</c:v>
                </c:pt>
                <c:pt idx="142">
                  <c:v>4.8434</c:v>
                </c:pt>
                <c:pt idx="143">
                  <c:v>4.8817</c:v>
                </c:pt>
                <c:pt idx="144">
                  <c:v>4.9903</c:v>
                </c:pt>
                <c:pt idx="145">
                  <c:v>4.9747</c:v>
                </c:pt>
                <c:pt idx="146">
                  <c:v>5.024</c:v>
                </c:pt>
                <c:pt idx="147">
                  <c:v>5.2304</c:v>
                </c:pt>
                <c:pt idx="148">
                  <c:v>5.4126</c:v>
                </c:pt>
                <c:pt idx="149">
                  <c:v>5.3003</c:v>
                </c:pt>
                <c:pt idx="150">
                  <c:v>5.112</c:v>
                </c:pt>
                <c:pt idx="151">
                  <c:v>5.1518</c:v>
                </c:pt>
                <c:pt idx="152">
                  <c:v>5.3112</c:v>
                </c:pt>
                <c:pt idx="153">
                  <c:v>5.4189</c:v>
                </c:pt>
                <c:pt idx="154">
                  <c:v>5.2041</c:v>
                </c:pt>
                <c:pt idx="155">
                  <c:v>5.1395</c:v>
                </c:pt>
                <c:pt idx="156">
                  <c:v>4.8685</c:v>
                </c:pt>
                <c:pt idx="157">
                  <c:v>4.7489</c:v>
                </c:pt>
                <c:pt idx="158">
                  <c:v>4.6852</c:v>
                </c:pt>
                <c:pt idx="159">
                  <c:v>4.9284</c:v>
                </c:pt>
                <c:pt idx="160">
                  <c:v>5.0845</c:v>
                </c:pt>
                <c:pt idx="161">
                  <c:v>4.6607</c:v>
                </c:pt>
                <c:pt idx="162">
                  <c:v>4.6254</c:v>
                </c:pt>
                <c:pt idx="163">
                  <c:v>4.7062</c:v>
                </c:pt>
                <c:pt idx="164">
                  <c:v>4.2267</c:v>
                </c:pt>
                <c:pt idx="165">
                  <c:v>3.436</c:v>
                </c:pt>
                <c:pt idx="166">
                  <c:v>3.1764</c:v>
                </c:pt>
                <c:pt idx="167">
                  <c:v>3.2618</c:v>
                </c:pt>
                <c:pt idx="168">
                  <c:v>3.0296</c:v>
                </c:pt>
                <c:pt idx="169">
                  <c:v>2.7254</c:v>
                </c:pt>
                <c:pt idx="170">
                  <c:v>2.9521</c:v>
                </c:pt>
                <c:pt idx="171">
                  <c:v>3.2822</c:v>
                </c:pt>
                <c:pt idx="172">
                  <c:v>3.4112</c:v>
                </c:pt>
                <c:pt idx="173">
                  <c:v>3.4327</c:v>
                </c:pt>
                <c:pt idx="174">
                  <c:v>3.6966</c:v>
                </c:pt>
                <c:pt idx="175">
                  <c:v>3.8243</c:v>
                </c:pt>
                <c:pt idx="176">
                  <c:v>3.9911</c:v>
                </c:pt>
                <c:pt idx="177">
                  <c:v>3.8858</c:v>
                </c:pt>
                <c:pt idx="178">
                  <c:v>4.0916</c:v>
                </c:pt>
                <c:pt idx="179">
                  <c:v>4.2575</c:v>
                </c:pt>
                <c:pt idx="180">
                  <c:v>4.1277</c:v>
                </c:pt>
                <c:pt idx="181">
                  <c:v>4.2996</c:v>
                </c:pt>
                <c:pt idx="182">
                  <c:v>4.5515</c:v>
                </c:pt>
                <c:pt idx="183">
                  <c:v>4.6627</c:v>
                </c:pt>
                <c:pt idx="184">
                  <c:v>4.3335</c:v>
                </c:pt>
                <c:pt idx="185">
                  <c:v>4.1147</c:v>
                </c:pt>
                <c:pt idx="186">
                  <c:v>4.3933</c:v>
                </c:pt>
                <c:pt idx="187">
                  <c:v>4.2207</c:v>
                </c:pt>
                <c:pt idx="188">
                  <c:v>4.6254</c:v>
                </c:pt>
                <c:pt idx="189">
                  <c:v>4.8012</c:v>
                </c:pt>
                <c:pt idx="190">
                  <c:v>4.8547</c:v>
                </c:pt>
                <c:pt idx="191">
                  <c:v>5.1639</c:v>
                </c:pt>
                <c:pt idx="192">
                  <c:v>5.2569</c:v>
                </c:pt>
                <c:pt idx="193">
                  <c:v>5.4533</c:v>
                </c:pt>
                <c:pt idx="194">
                  <c:v>5.518</c:v>
                </c:pt>
                <c:pt idx="195">
                  <c:v>5.6921</c:v>
                </c:pt>
                <c:pt idx="196">
                  <c:v>5.6738</c:v>
                </c:pt>
                <c:pt idx="197">
                  <c:v>5.5848</c:v>
                </c:pt>
                <c:pt idx="198">
                  <c:v>5.4023</c:v>
                </c:pt>
                <c:pt idx="199">
                  <c:v>5.1136</c:v>
                </c:pt>
                <c:pt idx="200">
                  <c:v>4.7253</c:v>
                </c:pt>
                <c:pt idx="201">
                  <c:v>5.2665</c:v>
                </c:pt>
                <c:pt idx="202">
                  <c:v>5.2561</c:v>
                </c:pt>
                <c:pt idx="203">
                  <c:v>5.2565</c:v>
                </c:pt>
                <c:pt idx="204">
                  <c:v>5.5096</c:v>
                </c:pt>
                <c:pt idx="205">
                  <c:v>5.722</c:v>
                </c:pt>
                <c:pt idx="206">
                  <c:v>5.8601</c:v>
                </c:pt>
                <c:pt idx="207">
                  <c:v>5.8351</c:v>
                </c:pt>
                <c:pt idx="208">
                  <c:v>5.4938</c:v>
                </c:pt>
                <c:pt idx="209">
                  <c:v>5.6736</c:v>
                </c:pt>
                <c:pt idx="210">
                  <c:v>5.6923</c:v>
                </c:pt>
                <c:pt idx="211">
                  <c:v>5.8333</c:v>
                </c:pt>
                <c:pt idx="212">
                  <c:v>5.9656</c:v>
                </c:pt>
                <c:pt idx="213">
                  <c:v>5.925</c:v>
                </c:pt>
                <c:pt idx="214">
                  <c:v>5.9883</c:v>
                </c:pt>
                <c:pt idx="215">
                  <c:v>6.0809</c:v>
                </c:pt>
                <c:pt idx="216">
                  <c:v>6.4712</c:v>
                </c:pt>
                <c:pt idx="217">
                  <c:v>6.5705</c:v>
                </c:pt>
                <c:pt idx="218">
                  <c:v>6.873</c:v>
                </c:pt>
                <c:pt idx="219">
                  <c:v>6.9837</c:v>
                </c:pt>
                <c:pt idx="220">
                  <c:v>7.108</c:v>
                </c:pt>
                <c:pt idx="221">
                  <c:v>7.0419</c:v>
                </c:pt>
                <c:pt idx="222">
                  <c:v>7.4396</c:v>
                </c:pt>
                <c:pt idx="223">
                  <c:v>7.2403</c:v>
                </c:pt>
                <c:pt idx="224">
                  <c:v>7.5282</c:v>
                </c:pt>
                <c:pt idx="225">
                  <c:v>7.8191</c:v>
                </c:pt>
                <c:pt idx="226">
                  <c:v>7.9842</c:v>
                </c:pt>
                <c:pt idx="227">
                  <c:v>8.2093</c:v>
                </c:pt>
                <c:pt idx="228">
                  <c:v>7.973</c:v>
                </c:pt>
                <c:pt idx="229">
                  <c:v>8.3831</c:v>
                </c:pt>
                <c:pt idx="230">
                  <c:v>8.4384</c:v>
                </c:pt>
                <c:pt idx="231">
                  <c:v>8.4496</c:v>
                </c:pt>
                <c:pt idx="232">
                  <c:v>8.6334</c:v>
                </c:pt>
                <c:pt idx="233">
                  <c:v>8.8597</c:v>
                </c:pt>
                <c:pt idx="234">
                  <c:v>8.6402</c:v>
                </c:pt>
                <c:pt idx="235">
                  <c:v>9.0126</c:v>
                </c:pt>
                <c:pt idx="236">
                  <c:v>8.8263</c:v>
                </c:pt>
                <c:pt idx="237">
                  <c:v>9.1028</c:v>
                </c:pt>
                <c:pt idx="238">
                  <c:v>9.3716</c:v>
                </c:pt>
                <c:pt idx="239">
                  <c:v>9.4063</c:v>
                </c:pt>
                <c:pt idx="240">
                  <c:v>9.1974</c:v>
                </c:pt>
                <c:pt idx="241">
                  <c:v>9.7114</c:v>
                </c:pt>
                <c:pt idx="242">
                  <c:v>9.6488</c:v>
                </c:pt>
                <c:pt idx="243">
                  <c:v>9.6371</c:v>
                </c:pt>
                <c:pt idx="244">
                  <c:v>9.7734</c:v>
                </c:pt>
                <c:pt idx="245">
                  <c:v>9.5952</c:v>
                </c:pt>
                <c:pt idx="246">
                  <c:v>9.7489</c:v>
                </c:pt>
                <c:pt idx="247">
                  <c:v>9.2271</c:v>
                </c:pt>
                <c:pt idx="248">
                  <c:v>8.9685</c:v>
                </c:pt>
                <c:pt idx="249">
                  <c:v>9.584</c:v>
                </c:pt>
                <c:pt idx="250">
                  <c:v>9.6169</c:v>
                </c:pt>
                <c:pt idx="251">
                  <c:v>9.3998</c:v>
                </c:pt>
                <c:pt idx="252">
                  <c:v>8.8962</c:v>
                </c:pt>
                <c:pt idx="253">
                  <c:v>9.0031</c:v>
                </c:pt>
                <c:pt idx="254">
                  <c:v>9.6546</c:v>
                </c:pt>
                <c:pt idx="255">
                  <c:v>9.7577</c:v>
                </c:pt>
                <c:pt idx="256">
                  <c:v>9.9284</c:v>
                </c:pt>
                <c:pt idx="257">
                  <c:v>9.9937</c:v>
                </c:pt>
                <c:pt idx="258">
                  <c:v>10.3475</c:v>
                </c:pt>
                <c:pt idx="259">
                  <c:v>10.379</c:v>
                </c:pt>
                <c:pt idx="260">
                  <c:v>10.3691</c:v>
                </c:pt>
                <c:pt idx="261">
                  <c:v>10.1634</c:v>
                </c:pt>
                <c:pt idx="262">
                  <c:v>10.7054</c:v>
                </c:pt>
                <c:pt idx="263">
                  <c:v>10.8385</c:v>
                </c:pt>
                <c:pt idx="264">
                  <c:v>11.0842</c:v>
                </c:pt>
                <c:pt idx="265">
                  <c:v>11.5015</c:v>
                </c:pt>
                <c:pt idx="266">
                  <c:v>11.4996</c:v>
                </c:pt>
                <c:pt idx="267">
                  <c:v>11.6122</c:v>
                </c:pt>
                <c:pt idx="268">
                  <c:v>11.7554</c:v>
                </c:pt>
                <c:pt idx="269">
                  <c:v>11.8563</c:v>
                </c:pt>
                <c:pt idx="270">
                  <c:v>12.0575</c:v>
                </c:pt>
                <c:pt idx="271">
                  <c:v>12.023</c:v>
                </c:pt>
                <c:pt idx="272">
                  <c:v>12.36</c:v>
                </c:pt>
                <c:pt idx="273">
                  <c:v>12.5941</c:v>
                </c:pt>
                <c:pt idx="274">
                  <c:v>13.1007</c:v>
                </c:pt>
                <c:pt idx="275">
                  <c:v>13.2356</c:v>
                </c:pt>
                <c:pt idx="276">
                  <c:v>13.8822</c:v>
                </c:pt>
                <c:pt idx="277">
                  <c:v>13.3366</c:v>
                </c:pt>
                <c:pt idx="278">
                  <c:v>13.227</c:v>
                </c:pt>
                <c:pt idx="279">
                  <c:v>13.2549</c:v>
                </c:pt>
                <c:pt idx="280">
                  <c:v>13.4531</c:v>
                </c:pt>
                <c:pt idx="281">
                  <c:v>13.538</c:v>
                </c:pt>
                <c:pt idx="282">
                  <c:v>14.0264</c:v>
                </c:pt>
                <c:pt idx="283">
                  <c:v>14.3705</c:v>
                </c:pt>
                <c:pt idx="284">
                  <c:v>14.4065</c:v>
                </c:pt>
                <c:pt idx="285">
                  <c:v>13.3687</c:v>
                </c:pt>
                <c:pt idx="286">
                  <c:v>13.7513</c:v>
                </c:pt>
                <c:pt idx="287">
                  <c:v>12.4636</c:v>
                </c:pt>
                <c:pt idx="288">
                  <c:v>13.5773</c:v>
                </c:pt>
                <c:pt idx="289">
                  <c:v>14.1142</c:v>
                </c:pt>
                <c:pt idx="290">
                  <c:v>14.2529</c:v>
                </c:pt>
                <c:pt idx="291">
                  <c:v>14.82</c:v>
                </c:pt>
                <c:pt idx="292">
                  <c:v>13.9625</c:v>
                </c:pt>
                <c:pt idx="293">
                  <c:v>14.9823</c:v>
                </c:pt>
                <c:pt idx="294">
                  <c:v>15.1748</c:v>
                </c:pt>
                <c:pt idx="295">
                  <c:v>14.8581</c:v>
                </c:pt>
                <c:pt idx="296">
                  <c:v>15.1781</c:v>
                </c:pt>
                <c:pt idx="297">
                  <c:v>15.3602</c:v>
                </c:pt>
                <c:pt idx="298">
                  <c:v>15.9458</c:v>
                </c:pt>
                <c:pt idx="299">
                  <c:v>16.307</c:v>
                </c:pt>
                <c:pt idx="300">
                  <c:v>16.2232</c:v>
                </c:pt>
                <c:pt idx="301">
                  <c:v>14.8437</c:v>
                </c:pt>
                <c:pt idx="302">
                  <c:v>12.4581</c:v>
                </c:pt>
                <c:pt idx="303">
                  <c:v>14.0209</c:v>
                </c:pt>
                <c:pt idx="304">
                  <c:v>14.9198</c:v>
                </c:pt>
                <c:pt idx="305">
                  <c:v>14.9979</c:v>
                </c:pt>
                <c:pt idx="306">
                  <c:v>15.8451</c:v>
                </c:pt>
                <c:pt idx="307">
                  <c:v>16.4698</c:v>
                </c:pt>
                <c:pt idx="308">
                  <c:v>16.148</c:v>
                </c:pt>
                <c:pt idx="309">
                  <c:v>16.0663</c:v>
                </c:pt>
                <c:pt idx="310">
                  <c:v>18.0236</c:v>
                </c:pt>
                <c:pt idx="311">
                  <c:v>18.7607</c:v>
                </c:pt>
                <c:pt idx="312">
                  <c:v>18.4891</c:v>
                </c:pt>
                <c:pt idx="313">
                  <c:v>19.2411</c:v>
                </c:pt>
                <c:pt idx="314">
                  <c:v>20.2437</c:v>
                </c:pt>
                <c:pt idx="315">
                  <c:v>21.2073</c:v>
                </c:pt>
                <c:pt idx="316">
                  <c:v>21.4375</c:v>
                </c:pt>
                <c:pt idx="317">
                  <c:v>21.5256</c:v>
                </c:pt>
                <c:pt idx="318">
                  <c:v>21.8401</c:v>
                </c:pt>
                <c:pt idx="319">
                  <c:v>22.3452</c:v>
                </c:pt>
                <c:pt idx="320">
                  <c:v>21.3908</c:v>
                </c:pt>
                <c:pt idx="321">
                  <c:v>22.589</c:v>
                </c:pt>
                <c:pt idx="322">
                  <c:v>22.015</c:v>
                </c:pt>
                <c:pt idx="323">
                  <c:v>23.2613</c:v>
                </c:pt>
                <c:pt idx="324">
                  <c:v>22.0795</c:v>
                </c:pt>
                <c:pt idx="325">
                  <c:v>21.8559</c:v>
                </c:pt>
                <c:pt idx="326">
                  <c:v>22.4493</c:v>
                </c:pt>
                <c:pt idx="327">
                  <c:v>21.002</c:v>
                </c:pt>
                <c:pt idx="328">
                  <c:v>21.2031</c:v>
                </c:pt>
                <c:pt idx="329">
                  <c:v>19.4732</c:v>
                </c:pt>
                <c:pt idx="330">
                  <c:v>21.1115</c:v>
                </c:pt>
                <c:pt idx="331">
                  <c:v>20.528</c:v>
                </c:pt>
                <c:pt idx="332">
                  <c:v>18.7213</c:v>
                </c:pt>
                <c:pt idx="333">
                  <c:v>20.4285</c:v>
                </c:pt>
                <c:pt idx="334">
                  <c:v>21.7707</c:v>
                </c:pt>
                <c:pt idx="335">
                  <c:v>20.7789</c:v>
                </c:pt>
                <c:pt idx="336">
                  <c:v>22.0548</c:v>
                </c:pt>
                <c:pt idx="337">
                  <c:v>21.3959</c:v>
                </c:pt>
                <c:pt idx="338">
                  <c:v>21.4705</c:v>
                </c:pt>
                <c:pt idx="339">
                  <c:v>21.5559</c:v>
                </c:pt>
                <c:pt idx="340">
                  <c:v>20.8418</c:v>
                </c:pt>
                <c:pt idx="341">
                  <c:v>22.3393</c:v>
                </c:pt>
                <c:pt idx="342">
                  <c:v>23.0133</c:v>
                </c:pt>
                <c:pt idx="343">
                  <c:v>22.4138</c:v>
                </c:pt>
                <c:pt idx="344">
                  <c:v>21.353</c:v>
                </c:pt>
                <c:pt idx="345">
                  <c:v>20.6027</c:v>
                </c:pt>
                <c:pt idx="346">
                  <c:v>22.416</c:v>
                </c:pt>
                <c:pt idx="347">
                  <c:v>23.8233</c:v>
                </c:pt>
                <c:pt idx="348">
                  <c:v>23.7959</c:v>
                </c:pt>
                <c:pt idx="349">
                  <c:v>24.8469</c:v>
                </c:pt>
                <c:pt idx="350">
                  <c:v>25.9575</c:v>
                </c:pt>
                <c:pt idx="351">
                  <c:v>24.7473</c:v>
                </c:pt>
                <c:pt idx="352">
                  <c:v>25.3896</c:v>
                </c:pt>
                <c:pt idx="353">
                  <c:v>25.3196</c:v>
                </c:pt>
                <c:pt idx="354">
                  <c:v>26.3826</c:v>
                </c:pt>
                <c:pt idx="355">
                  <c:v>27.0519</c:v>
                </c:pt>
                <c:pt idx="356">
                  <c:v>27.5742</c:v>
                </c:pt>
                <c:pt idx="357">
                  <c:v>27.29</c:v>
                </c:pt>
                <c:pt idx="358">
                  <c:v>29.0765</c:v>
                </c:pt>
                <c:pt idx="359">
                  <c:v>27.256</c:v>
                </c:pt>
                <c:pt idx="360">
                  <c:v>28.3397</c:v>
                </c:pt>
                <c:pt idx="361">
                  <c:v>28.0577</c:v>
                </c:pt>
                <c:pt idx="362">
                  <c:v>27.0807</c:v>
                </c:pt>
                <c:pt idx="363">
                  <c:v>26.5891</c:v>
                </c:pt>
                <c:pt idx="364">
                  <c:v>27.6849</c:v>
                </c:pt>
                <c:pt idx="365">
                  <c:v>28.5874</c:v>
                </c:pt>
                <c:pt idx="366">
                  <c:v>28.7434</c:v>
                </c:pt>
                <c:pt idx="367">
                  <c:v>29.4553</c:v>
                </c:pt>
                <c:pt idx="368">
                  <c:v>29.7439</c:v>
                </c:pt>
                <c:pt idx="369">
                  <c:v>29.5846</c:v>
                </c:pt>
                <c:pt idx="370">
                  <c:v>30.1761</c:v>
                </c:pt>
                <c:pt idx="371">
                  <c:v>30.2529</c:v>
                </c:pt>
              </c:numCache>
            </c:numRef>
          </c:val>
          <c:smooth val="0"/>
        </c:ser>
        <c:ser>
          <c:idx val="2"/>
          <c:order val="2"/>
          <c:tx>
            <c:strRef>
              <c:f>Sheet1!$D$1</c:f>
              <c:strCache>
                <c:ptCount val="1"/>
                <c:pt idx="0">
                  <c:v>Shrunk sample</c:v>
                </c:pt>
              </c:strCache>
            </c:strRef>
          </c:tx>
          <c:spPr>
            <a:solidFill>
              <a:srgbClr val="16A3B8"/>
            </a:solidFill>
            <a:ln w="19050" cap="flat">
              <a:solidFill>
                <a:srgbClr val="16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A3B8"/>
              </a:solidFill>
              <a:ln w="9525" cap="flat">
                <a:solidFill>
                  <a:srgbClr val="16A3B8"/>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Sheet1!$D$2:$D$373</c:f>
              <c:numCache>
                <c:formatCode>General</c:formatCode>
                <c:ptCount val="372"/>
                <c:pt idx="0">
                  <c:v>1.0269</c:v>
                </c:pt>
                <c:pt idx="1">
                  <c:v>1.0702</c:v>
                </c:pt>
                <c:pt idx="2">
                  <c:v>1.0959</c:v>
                </c:pt>
                <c:pt idx="3">
                  <c:v>1.1143</c:v>
                </c:pt>
                <c:pt idx="4">
                  <c:v>1.1547</c:v>
                </c:pt>
                <c:pt idx="5">
                  <c:v>1.1806</c:v>
                </c:pt>
                <c:pt idx="6">
                  <c:v>1.2215</c:v>
                </c:pt>
                <c:pt idx="7">
                  <c:v>1.2384</c:v>
                </c:pt>
                <c:pt idx="8">
                  <c:v>1.2756</c:v>
                </c:pt>
                <c:pt idx="9">
                  <c:v>1.257</c:v>
                </c:pt>
                <c:pt idx="10">
                  <c:v>1.3176</c:v>
                </c:pt>
                <c:pt idx="11">
                  <c:v>1.3372</c:v>
                </c:pt>
                <c:pt idx="12">
                  <c:v>1.3777</c:v>
                </c:pt>
                <c:pt idx="13">
                  <c:v>1.3971</c:v>
                </c:pt>
                <c:pt idx="14">
                  <c:v>1.4163</c:v>
                </c:pt>
                <c:pt idx="15">
                  <c:v>1.4412</c:v>
                </c:pt>
                <c:pt idx="16">
                  <c:v>1.4662</c:v>
                </c:pt>
                <c:pt idx="17">
                  <c:v>1.4559</c:v>
                </c:pt>
                <c:pt idx="18">
                  <c:v>1.3825</c:v>
                </c:pt>
                <c:pt idx="19">
                  <c:v>1.4295</c:v>
                </c:pt>
                <c:pt idx="20">
                  <c:v>1.5016</c:v>
                </c:pt>
                <c:pt idx="21">
                  <c:v>1.5275</c:v>
                </c:pt>
                <c:pt idx="22">
                  <c:v>1.6315</c:v>
                </c:pt>
                <c:pt idx="23">
                  <c:v>1.6064</c:v>
                </c:pt>
                <c:pt idx="24">
                  <c:v>1.672</c:v>
                </c:pt>
                <c:pt idx="25">
                  <c:v>1.6865</c:v>
                </c:pt>
                <c:pt idx="26">
                  <c:v>1.6225</c:v>
                </c:pt>
                <c:pt idx="27">
                  <c:v>1.6737</c:v>
                </c:pt>
                <c:pt idx="28">
                  <c:v>1.7854</c:v>
                </c:pt>
                <c:pt idx="29">
                  <c:v>1.8518</c:v>
                </c:pt>
                <c:pt idx="30">
                  <c:v>2.0028</c:v>
                </c:pt>
                <c:pt idx="31">
                  <c:v>1.9494</c:v>
                </c:pt>
                <c:pt idx="32">
                  <c:v>2.0501</c:v>
                </c:pt>
                <c:pt idx="33">
                  <c:v>1.979</c:v>
                </c:pt>
                <c:pt idx="34">
                  <c:v>2.0474</c:v>
                </c:pt>
                <c:pt idx="35">
                  <c:v>2.1058</c:v>
                </c:pt>
                <c:pt idx="36">
                  <c:v>2.0815</c:v>
                </c:pt>
                <c:pt idx="37">
                  <c:v>2.235</c:v>
                </c:pt>
                <c:pt idx="38">
                  <c:v>2.3481</c:v>
                </c:pt>
                <c:pt idx="39">
                  <c:v>2.3542</c:v>
                </c:pt>
                <c:pt idx="40">
                  <c:v>2.2918</c:v>
                </c:pt>
                <c:pt idx="41">
                  <c:v>2.3315</c:v>
                </c:pt>
                <c:pt idx="42">
                  <c:v>2.2462</c:v>
                </c:pt>
                <c:pt idx="43">
                  <c:v>1.9309</c:v>
                </c:pt>
                <c:pt idx="44">
                  <c:v>2.0536</c:v>
                </c:pt>
                <c:pt idx="45">
                  <c:v>2.2193</c:v>
                </c:pt>
                <c:pt idx="46">
                  <c:v>2.3291</c:v>
                </c:pt>
                <c:pt idx="47">
                  <c:v>2.4363</c:v>
                </c:pt>
                <c:pt idx="48">
                  <c:v>2.4295</c:v>
                </c:pt>
                <c:pt idx="49">
                  <c:v>2.369</c:v>
                </c:pt>
                <c:pt idx="50">
                  <c:v>2.4323</c:v>
                </c:pt>
                <c:pt idx="51">
                  <c:v>2.6098</c:v>
                </c:pt>
                <c:pt idx="52">
                  <c:v>2.6137</c:v>
                </c:pt>
                <c:pt idx="53">
                  <c:v>2.6917</c:v>
                </c:pt>
                <c:pt idx="54">
                  <c:v>2.619</c:v>
                </c:pt>
                <c:pt idx="55">
                  <c:v>2.5485</c:v>
                </c:pt>
                <c:pt idx="56">
                  <c:v>2.4463</c:v>
                </c:pt>
                <c:pt idx="57">
                  <c:v>2.5619</c:v>
                </c:pt>
                <c:pt idx="58">
                  <c:v>2.5786</c:v>
                </c:pt>
                <c:pt idx="59">
                  <c:v>2.6827</c:v>
                </c:pt>
                <c:pt idx="60">
                  <c:v>2.5573</c:v>
                </c:pt>
                <c:pt idx="61">
                  <c:v>2.4914</c:v>
                </c:pt>
                <c:pt idx="62">
                  <c:v>2.7148</c:v>
                </c:pt>
                <c:pt idx="63">
                  <c:v>2.7227</c:v>
                </c:pt>
                <c:pt idx="64">
                  <c:v>2.7545</c:v>
                </c:pt>
                <c:pt idx="65">
                  <c:v>2.7139</c:v>
                </c:pt>
                <c:pt idx="66">
                  <c:v>2.7238</c:v>
                </c:pt>
                <c:pt idx="67">
                  <c:v>2.9464</c:v>
                </c:pt>
                <c:pt idx="68">
                  <c:v>2.9557</c:v>
                </c:pt>
                <c:pt idx="69">
                  <c:v>3.0042</c:v>
                </c:pt>
                <c:pt idx="70">
                  <c:v>2.855</c:v>
                </c:pt>
                <c:pt idx="71">
                  <c:v>3.0427</c:v>
                </c:pt>
                <c:pt idx="72">
                  <c:v>3.1039</c:v>
                </c:pt>
                <c:pt idx="73">
                  <c:v>2.991</c:v>
                </c:pt>
                <c:pt idx="74">
                  <c:v>2.8476</c:v>
                </c:pt>
                <c:pt idx="75">
                  <c:v>3.0581</c:v>
                </c:pt>
                <c:pt idx="76">
                  <c:v>3.1289</c:v>
                </c:pt>
                <c:pt idx="77">
                  <c:v>3.09</c:v>
                </c:pt>
                <c:pt idx="78">
                  <c:v>3.0599</c:v>
                </c:pt>
                <c:pt idx="79">
                  <c:v>2.9481</c:v>
                </c:pt>
                <c:pt idx="80">
                  <c:v>2.6584</c:v>
                </c:pt>
                <c:pt idx="81">
                  <c:v>2.7124</c:v>
                </c:pt>
                <c:pt idx="82">
                  <c:v>2.9146</c:v>
                </c:pt>
                <c:pt idx="83">
                  <c:v>2.9963</c:v>
                </c:pt>
                <c:pt idx="84">
                  <c:v>2.988</c:v>
                </c:pt>
                <c:pt idx="85">
                  <c:v>2.9642</c:v>
                </c:pt>
                <c:pt idx="86">
                  <c:v>3.1219</c:v>
                </c:pt>
                <c:pt idx="87">
                  <c:v>3.0427</c:v>
                </c:pt>
                <c:pt idx="88">
                  <c:v>3.0266</c:v>
                </c:pt>
                <c:pt idx="89">
                  <c:v>2.8202</c:v>
                </c:pt>
                <c:pt idx="90">
                  <c:v>2.5807</c:v>
                </c:pt>
                <c:pt idx="91">
                  <c:v>2.5972</c:v>
                </c:pt>
                <c:pt idx="92">
                  <c:v>2.359</c:v>
                </c:pt>
                <c:pt idx="93">
                  <c:v>2.4893</c:v>
                </c:pt>
                <c:pt idx="94">
                  <c:v>2.6301</c:v>
                </c:pt>
                <c:pt idx="95">
                  <c:v>2.5355</c:v>
                </c:pt>
                <c:pt idx="96">
                  <c:v>2.4804</c:v>
                </c:pt>
                <c:pt idx="97">
                  <c:v>2.4307</c:v>
                </c:pt>
                <c:pt idx="98">
                  <c:v>2.4471</c:v>
                </c:pt>
                <c:pt idx="99">
                  <c:v>2.6261</c:v>
                </c:pt>
                <c:pt idx="100">
                  <c:v>2.8265</c:v>
                </c:pt>
                <c:pt idx="101">
                  <c:v>2.8489</c:v>
                </c:pt>
                <c:pt idx="102">
                  <c:v>2.9073</c:v>
                </c:pt>
                <c:pt idx="103">
                  <c:v>3.0002</c:v>
                </c:pt>
                <c:pt idx="104">
                  <c:v>2.9661</c:v>
                </c:pt>
                <c:pt idx="105">
                  <c:v>3.1631</c:v>
                </c:pt>
                <c:pt idx="106">
                  <c:v>3.2267</c:v>
                </c:pt>
                <c:pt idx="107">
                  <c:v>3.3492</c:v>
                </c:pt>
                <c:pt idx="108">
                  <c:v>3.4008</c:v>
                </c:pt>
                <c:pt idx="109">
                  <c:v>3.4763</c:v>
                </c:pt>
                <c:pt idx="110">
                  <c:v>3.4581</c:v>
                </c:pt>
                <c:pt idx="111">
                  <c:v>3.4219</c:v>
                </c:pt>
                <c:pt idx="112">
                  <c:v>3.4795</c:v>
                </c:pt>
                <c:pt idx="113">
                  <c:v>3.554</c:v>
                </c:pt>
                <c:pt idx="114">
                  <c:v>3.4202</c:v>
                </c:pt>
                <c:pt idx="115">
                  <c:v>3.437</c:v>
                </c:pt>
                <c:pt idx="116">
                  <c:v>3.5239</c:v>
                </c:pt>
                <c:pt idx="117">
                  <c:v>3.5805</c:v>
                </c:pt>
                <c:pt idx="118">
                  <c:v>3.7545</c:v>
                </c:pt>
                <c:pt idx="119">
                  <c:v>3.8931</c:v>
                </c:pt>
                <c:pt idx="120">
                  <c:v>3.8165</c:v>
                </c:pt>
                <c:pt idx="121">
                  <c:v>3.893</c:v>
                </c:pt>
                <c:pt idx="122">
                  <c:v>3.8606</c:v>
                </c:pt>
                <c:pt idx="123">
                  <c:v>3.7794</c:v>
                </c:pt>
                <c:pt idx="124">
                  <c:v>3.925</c:v>
                </c:pt>
                <c:pt idx="125">
                  <c:v>3.9838</c:v>
                </c:pt>
                <c:pt idx="126">
                  <c:v>4.1552</c:v>
                </c:pt>
                <c:pt idx="127">
                  <c:v>4.1184</c:v>
                </c:pt>
                <c:pt idx="128">
                  <c:v>4.1481</c:v>
                </c:pt>
                <c:pt idx="129">
                  <c:v>4.0667</c:v>
                </c:pt>
                <c:pt idx="130">
                  <c:v>4.2215</c:v>
                </c:pt>
                <c:pt idx="131">
                  <c:v>4.2505</c:v>
                </c:pt>
                <c:pt idx="132">
                  <c:v>4.3838</c:v>
                </c:pt>
                <c:pt idx="133">
                  <c:v>4.3949</c:v>
                </c:pt>
                <c:pt idx="134">
                  <c:v>4.4641</c:v>
                </c:pt>
                <c:pt idx="135">
                  <c:v>4.5104</c:v>
                </c:pt>
                <c:pt idx="136">
                  <c:v>4.3923</c:v>
                </c:pt>
                <c:pt idx="137">
                  <c:v>4.403</c:v>
                </c:pt>
                <c:pt idx="138">
                  <c:v>4.3846</c:v>
                </c:pt>
                <c:pt idx="139">
                  <c:v>4.4717</c:v>
                </c:pt>
                <c:pt idx="140">
                  <c:v>4.5531</c:v>
                </c:pt>
                <c:pt idx="141">
                  <c:v>4.7</c:v>
                </c:pt>
                <c:pt idx="142">
                  <c:v>4.8046</c:v>
                </c:pt>
                <c:pt idx="143">
                  <c:v>4.838</c:v>
                </c:pt>
                <c:pt idx="144">
                  <c:v>4.9495</c:v>
                </c:pt>
                <c:pt idx="145">
                  <c:v>4.9327</c:v>
                </c:pt>
                <c:pt idx="146">
                  <c:v>4.9804</c:v>
                </c:pt>
                <c:pt idx="147">
                  <c:v>5.1889</c:v>
                </c:pt>
                <c:pt idx="148">
                  <c:v>5.3685</c:v>
                </c:pt>
                <c:pt idx="149">
                  <c:v>5.2588</c:v>
                </c:pt>
                <c:pt idx="150">
                  <c:v>5.0774</c:v>
                </c:pt>
                <c:pt idx="151">
                  <c:v>5.1216</c:v>
                </c:pt>
                <c:pt idx="152">
                  <c:v>5.2831</c:v>
                </c:pt>
                <c:pt idx="153">
                  <c:v>5.396</c:v>
                </c:pt>
                <c:pt idx="154">
                  <c:v>5.1794</c:v>
                </c:pt>
                <c:pt idx="155">
                  <c:v>5.1085</c:v>
                </c:pt>
                <c:pt idx="156">
                  <c:v>4.8449</c:v>
                </c:pt>
                <c:pt idx="157">
                  <c:v>4.7215</c:v>
                </c:pt>
                <c:pt idx="158">
                  <c:v>4.6486</c:v>
                </c:pt>
                <c:pt idx="159">
                  <c:v>4.8879</c:v>
                </c:pt>
                <c:pt idx="160">
                  <c:v>5.0346</c:v>
                </c:pt>
                <c:pt idx="161">
                  <c:v>4.6028</c:v>
                </c:pt>
                <c:pt idx="162">
                  <c:v>4.585</c:v>
                </c:pt>
                <c:pt idx="163">
                  <c:v>4.6575</c:v>
                </c:pt>
                <c:pt idx="164">
                  <c:v>4.1805</c:v>
                </c:pt>
                <c:pt idx="165">
                  <c:v>3.4115</c:v>
                </c:pt>
                <c:pt idx="166">
                  <c:v>3.1448</c:v>
                </c:pt>
                <c:pt idx="167">
                  <c:v>3.2246</c:v>
                </c:pt>
                <c:pt idx="168">
                  <c:v>2.9941</c:v>
                </c:pt>
                <c:pt idx="169">
                  <c:v>2.699</c:v>
                </c:pt>
                <c:pt idx="170">
                  <c:v>2.9307</c:v>
                </c:pt>
                <c:pt idx="171">
                  <c:v>3.2609</c:v>
                </c:pt>
                <c:pt idx="172">
                  <c:v>3.3905</c:v>
                </c:pt>
                <c:pt idx="173">
                  <c:v>3.4072</c:v>
                </c:pt>
                <c:pt idx="174">
                  <c:v>3.6674</c:v>
                </c:pt>
                <c:pt idx="175">
                  <c:v>3.795</c:v>
                </c:pt>
                <c:pt idx="176">
                  <c:v>3.9628</c:v>
                </c:pt>
                <c:pt idx="177">
                  <c:v>3.8486</c:v>
                </c:pt>
                <c:pt idx="178">
                  <c:v>4.0508</c:v>
                </c:pt>
                <c:pt idx="179">
                  <c:v>4.2166</c:v>
                </c:pt>
                <c:pt idx="180">
                  <c:v>4.0935</c:v>
                </c:pt>
                <c:pt idx="181">
                  <c:v>4.2661</c:v>
                </c:pt>
                <c:pt idx="182">
                  <c:v>4.5185</c:v>
                </c:pt>
                <c:pt idx="183">
                  <c:v>4.629</c:v>
                </c:pt>
                <c:pt idx="184">
                  <c:v>4.2995</c:v>
                </c:pt>
                <c:pt idx="185">
                  <c:v>4.076</c:v>
                </c:pt>
                <c:pt idx="186">
                  <c:v>4.3495</c:v>
                </c:pt>
                <c:pt idx="187">
                  <c:v>4.1756</c:v>
                </c:pt>
                <c:pt idx="188">
                  <c:v>4.5792</c:v>
                </c:pt>
                <c:pt idx="189">
                  <c:v>4.7519</c:v>
                </c:pt>
                <c:pt idx="190">
                  <c:v>4.8075</c:v>
                </c:pt>
                <c:pt idx="191">
                  <c:v>5.119</c:v>
                </c:pt>
                <c:pt idx="192">
                  <c:v>5.2142</c:v>
                </c:pt>
                <c:pt idx="193">
                  <c:v>5.4106</c:v>
                </c:pt>
                <c:pt idx="194">
                  <c:v>5.4764</c:v>
                </c:pt>
                <c:pt idx="195">
                  <c:v>5.6465</c:v>
                </c:pt>
                <c:pt idx="196">
                  <c:v>5.627</c:v>
                </c:pt>
                <c:pt idx="197">
                  <c:v>5.5349</c:v>
                </c:pt>
                <c:pt idx="198">
                  <c:v>5.361</c:v>
                </c:pt>
                <c:pt idx="199">
                  <c:v>5.0638</c:v>
                </c:pt>
                <c:pt idx="200">
                  <c:v>4.6716</c:v>
                </c:pt>
                <c:pt idx="201">
                  <c:v>5.2043</c:v>
                </c:pt>
                <c:pt idx="202">
                  <c:v>5.1882</c:v>
                </c:pt>
                <c:pt idx="203">
                  <c:v>5.1861</c:v>
                </c:pt>
                <c:pt idx="204">
                  <c:v>5.4364</c:v>
                </c:pt>
                <c:pt idx="205">
                  <c:v>5.6462</c:v>
                </c:pt>
                <c:pt idx="206">
                  <c:v>5.7825</c:v>
                </c:pt>
                <c:pt idx="207">
                  <c:v>5.7543</c:v>
                </c:pt>
                <c:pt idx="208">
                  <c:v>5.4258</c:v>
                </c:pt>
                <c:pt idx="209">
                  <c:v>5.6052</c:v>
                </c:pt>
                <c:pt idx="210">
                  <c:v>5.6192</c:v>
                </c:pt>
                <c:pt idx="211">
                  <c:v>5.76</c:v>
                </c:pt>
                <c:pt idx="212">
                  <c:v>5.896</c:v>
                </c:pt>
                <c:pt idx="213">
                  <c:v>5.8502</c:v>
                </c:pt>
                <c:pt idx="214">
                  <c:v>5.9107</c:v>
                </c:pt>
                <c:pt idx="215">
                  <c:v>6.0023</c:v>
                </c:pt>
                <c:pt idx="216">
                  <c:v>6.389</c:v>
                </c:pt>
                <c:pt idx="217">
                  <c:v>6.4878</c:v>
                </c:pt>
                <c:pt idx="218">
                  <c:v>6.7943</c:v>
                </c:pt>
                <c:pt idx="219">
                  <c:v>6.9086</c:v>
                </c:pt>
                <c:pt idx="220">
                  <c:v>7.0379</c:v>
                </c:pt>
                <c:pt idx="221">
                  <c:v>6.9729</c:v>
                </c:pt>
                <c:pt idx="222">
                  <c:v>7.3711</c:v>
                </c:pt>
                <c:pt idx="223">
                  <c:v>7.1762</c:v>
                </c:pt>
                <c:pt idx="224">
                  <c:v>7.4613</c:v>
                </c:pt>
                <c:pt idx="225">
                  <c:v>7.748</c:v>
                </c:pt>
                <c:pt idx="226">
                  <c:v>7.9072</c:v>
                </c:pt>
                <c:pt idx="227">
                  <c:v>8.1319</c:v>
                </c:pt>
                <c:pt idx="228">
                  <c:v>7.9109</c:v>
                </c:pt>
                <c:pt idx="229">
                  <c:v>8.3264</c:v>
                </c:pt>
                <c:pt idx="230">
                  <c:v>8.3705</c:v>
                </c:pt>
                <c:pt idx="231">
                  <c:v>8.3747</c:v>
                </c:pt>
                <c:pt idx="232">
                  <c:v>8.5606</c:v>
                </c:pt>
                <c:pt idx="233">
                  <c:v>8.7921</c:v>
                </c:pt>
                <c:pt idx="234">
                  <c:v>8.5807</c:v>
                </c:pt>
                <c:pt idx="235">
                  <c:v>8.9595</c:v>
                </c:pt>
                <c:pt idx="236">
                  <c:v>8.7771</c:v>
                </c:pt>
                <c:pt idx="237">
                  <c:v>9.0552</c:v>
                </c:pt>
                <c:pt idx="238">
                  <c:v>9.326</c:v>
                </c:pt>
                <c:pt idx="239">
                  <c:v>9.3534</c:v>
                </c:pt>
                <c:pt idx="240">
                  <c:v>9.1759</c:v>
                </c:pt>
                <c:pt idx="241">
                  <c:v>9.6804</c:v>
                </c:pt>
                <c:pt idx="242">
                  <c:v>9.6166</c:v>
                </c:pt>
                <c:pt idx="243">
                  <c:v>9.6185</c:v>
                </c:pt>
                <c:pt idx="244">
                  <c:v>9.7513</c:v>
                </c:pt>
                <c:pt idx="245">
                  <c:v>9.5619</c:v>
                </c:pt>
                <c:pt idx="246">
                  <c:v>9.7033</c:v>
                </c:pt>
                <c:pt idx="247">
                  <c:v>9.187</c:v>
                </c:pt>
                <c:pt idx="248">
                  <c:v>8.9157</c:v>
                </c:pt>
                <c:pt idx="249">
                  <c:v>9.5163</c:v>
                </c:pt>
                <c:pt idx="250">
                  <c:v>9.5405</c:v>
                </c:pt>
                <c:pt idx="251">
                  <c:v>9.3368</c:v>
                </c:pt>
                <c:pt idx="252">
                  <c:v>8.8399</c:v>
                </c:pt>
                <c:pt idx="253">
                  <c:v>8.9583</c:v>
                </c:pt>
                <c:pt idx="254">
                  <c:v>9.6035</c:v>
                </c:pt>
                <c:pt idx="255">
                  <c:v>9.7035</c:v>
                </c:pt>
                <c:pt idx="256">
                  <c:v>9.8668</c:v>
                </c:pt>
                <c:pt idx="257">
                  <c:v>9.9548</c:v>
                </c:pt>
                <c:pt idx="258">
                  <c:v>10.3114</c:v>
                </c:pt>
                <c:pt idx="259">
                  <c:v>10.3222</c:v>
                </c:pt>
                <c:pt idx="260">
                  <c:v>10.3223</c:v>
                </c:pt>
                <c:pt idx="261">
                  <c:v>10.1144</c:v>
                </c:pt>
                <c:pt idx="262">
                  <c:v>10.6357</c:v>
                </c:pt>
                <c:pt idx="263">
                  <c:v>10.7675</c:v>
                </c:pt>
                <c:pt idx="264">
                  <c:v>11.0152</c:v>
                </c:pt>
                <c:pt idx="265">
                  <c:v>11.4137</c:v>
                </c:pt>
                <c:pt idx="266">
                  <c:v>11.4143</c:v>
                </c:pt>
                <c:pt idx="267">
                  <c:v>11.5205</c:v>
                </c:pt>
                <c:pt idx="268">
                  <c:v>11.6444</c:v>
                </c:pt>
                <c:pt idx="269">
                  <c:v>11.7323</c:v>
                </c:pt>
                <c:pt idx="270">
                  <c:v>11.9362</c:v>
                </c:pt>
                <c:pt idx="271">
                  <c:v>11.8929</c:v>
                </c:pt>
                <c:pt idx="272">
                  <c:v>12.2211</c:v>
                </c:pt>
                <c:pt idx="273">
                  <c:v>12.4357</c:v>
                </c:pt>
                <c:pt idx="274">
                  <c:v>12.9432</c:v>
                </c:pt>
                <c:pt idx="275">
                  <c:v>13.0919</c:v>
                </c:pt>
                <c:pt idx="276">
                  <c:v>13.7228</c:v>
                </c:pt>
                <c:pt idx="277">
                  <c:v>13.179</c:v>
                </c:pt>
                <c:pt idx="278">
                  <c:v>13.0903</c:v>
                </c:pt>
                <c:pt idx="279">
                  <c:v>13.1502</c:v>
                </c:pt>
                <c:pt idx="280">
                  <c:v>13.3443</c:v>
                </c:pt>
                <c:pt idx="281">
                  <c:v>13.4639</c:v>
                </c:pt>
                <c:pt idx="282">
                  <c:v>13.9153</c:v>
                </c:pt>
                <c:pt idx="283">
                  <c:v>14.2667</c:v>
                </c:pt>
                <c:pt idx="284">
                  <c:v>14.3031</c:v>
                </c:pt>
                <c:pt idx="285">
                  <c:v>13.2815</c:v>
                </c:pt>
                <c:pt idx="286">
                  <c:v>13.6218</c:v>
                </c:pt>
                <c:pt idx="287">
                  <c:v>12.3419</c:v>
                </c:pt>
                <c:pt idx="288">
                  <c:v>13.4406</c:v>
                </c:pt>
                <c:pt idx="289">
                  <c:v>13.9493</c:v>
                </c:pt>
                <c:pt idx="290">
                  <c:v>14.0922</c:v>
                </c:pt>
                <c:pt idx="291">
                  <c:v>14.6361</c:v>
                </c:pt>
                <c:pt idx="292">
                  <c:v>13.7658</c:v>
                </c:pt>
                <c:pt idx="293">
                  <c:v>14.7732</c:v>
                </c:pt>
                <c:pt idx="294">
                  <c:v>14.9594</c:v>
                </c:pt>
                <c:pt idx="295">
                  <c:v>14.6338</c:v>
                </c:pt>
                <c:pt idx="296">
                  <c:v>14.9365</c:v>
                </c:pt>
                <c:pt idx="297">
                  <c:v>15.1131</c:v>
                </c:pt>
                <c:pt idx="298">
                  <c:v>15.685</c:v>
                </c:pt>
                <c:pt idx="299">
                  <c:v>16.0524</c:v>
                </c:pt>
                <c:pt idx="300">
                  <c:v>15.9778</c:v>
                </c:pt>
                <c:pt idx="301">
                  <c:v>14.6592</c:v>
                </c:pt>
                <c:pt idx="302">
                  <c:v>12.339</c:v>
                </c:pt>
                <c:pt idx="303">
                  <c:v>13.911</c:v>
                </c:pt>
                <c:pt idx="304">
                  <c:v>14.8145</c:v>
                </c:pt>
                <c:pt idx="305">
                  <c:v>14.8993</c:v>
                </c:pt>
                <c:pt idx="306">
                  <c:v>15.7418</c:v>
                </c:pt>
                <c:pt idx="307">
                  <c:v>16.3445</c:v>
                </c:pt>
                <c:pt idx="308">
                  <c:v>16.0146</c:v>
                </c:pt>
                <c:pt idx="309">
                  <c:v>15.9364</c:v>
                </c:pt>
                <c:pt idx="310">
                  <c:v>17.8653</c:v>
                </c:pt>
                <c:pt idx="311">
                  <c:v>18.6082</c:v>
                </c:pt>
                <c:pt idx="312">
                  <c:v>18.3947</c:v>
                </c:pt>
                <c:pt idx="313">
                  <c:v>19.2198</c:v>
                </c:pt>
                <c:pt idx="314">
                  <c:v>20.1834</c:v>
                </c:pt>
                <c:pt idx="315">
                  <c:v>21.1091</c:v>
                </c:pt>
                <c:pt idx="316">
                  <c:v>21.3331</c:v>
                </c:pt>
                <c:pt idx="317">
                  <c:v>21.5197</c:v>
                </c:pt>
                <c:pt idx="318">
                  <c:v>21.7192</c:v>
                </c:pt>
                <c:pt idx="319">
                  <c:v>22.2564</c:v>
                </c:pt>
                <c:pt idx="320">
                  <c:v>21.3374</c:v>
                </c:pt>
                <c:pt idx="321">
                  <c:v>22.554</c:v>
                </c:pt>
                <c:pt idx="322">
                  <c:v>21.9671</c:v>
                </c:pt>
                <c:pt idx="323">
                  <c:v>23.0574</c:v>
                </c:pt>
                <c:pt idx="324">
                  <c:v>21.8272</c:v>
                </c:pt>
                <c:pt idx="325">
                  <c:v>21.6431</c:v>
                </c:pt>
                <c:pt idx="326">
                  <c:v>22.2501</c:v>
                </c:pt>
                <c:pt idx="327">
                  <c:v>20.7016</c:v>
                </c:pt>
                <c:pt idx="328">
                  <c:v>20.8885</c:v>
                </c:pt>
                <c:pt idx="329">
                  <c:v>19.051</c:v>
                </c:pt>
                <c:pt idx="330">
                  <c:v>20.7476</c:v>
                </c:pt>
                <c:pt idx="331">
                  <c:v>20.2074</c:v>
                </c:pt>
                <c:pt idx="332">
                  <c:v>18.3961</c:v>
                </c:pt>
                <c:pt idx="333">
                  <c:v>20.0648</c:v>
                </c:pt>
                <c:pt idx="334">
                  <c:v>21.3708</c:v>
                </c:pt>
                <c:pt idx="335">
                  <c:v>20.3865</c:v>
                </c:pt>
                <c:pt idx="336">
                  <c:v>21.6516</c:v>
                </c:pt>
                <c:pt idx="337">
                  <c:v>20.9974</c:v>
                </c:pt>
                <c:pt idx="338">
                  <c:v>21.117</c:v>
                </c:pt>
                <c:pt idx="339">
                  <c:v>21.1912</c:v>
                </c:pt>
                <c:pt idx="340">
                  <c:v>20.4974</c:v>
                </c:pt>
                <c:pt idx="341">
                  <c:v>21.9269</c:v>
                </c:pt>
                <c:pt idx="342">
                  <c:v>22.5772</c:v>
                </c:pt>
                <c:pt idx="343">
                  <c:v>21.9824</c:v>
                </c:pt>
                <c:pt idx="344">
                  <c:v>20.9439</c:v>
                </c:pt>
                <c:pt idx="345">
                  <c:v>20.1999</c:v>
                </c:pt>
                <c:pt idx="346">
                  <c:v>21.9546</c:v>
                </c:pt>
                <c:pt idx="347">
                  <c:v>23.3361</c:v>
                </c:pt>
                <c:pt idx="348">
                  <c:v>23.3003</c:v>
                </c:pt>
                <c:pt idx="349">
                  <c:v>24.2949</c:v>
                </c:pt>
                <c:pt idx="350">
                  <c:v>25.3698</c:v>
                </c:pt>
                <c:pt idx="351">
                  <c:v>24.2093</c:v>
                </c:pt>
                <c:pt idx="352">
                  <c:v>24.8348</c:v>
                </c:pt>
                <c:pt idx="353">
                  <c:v>24.793</c:v>
                </c:pt>
                <c:pt idx="354">
                  <c:v>25.7631</c:v>
                </c:pt>
                <c:pt idx="355">
                  <c:v>26.4355</c:v>
                </c:pt>
                <c:pt idx="356">
                  <c:v>26.9257</c:v>
                </c:pt>
                <c:pt idx="357">
                  <c:v>26.6411</c:v>
                </c:pt>
                <c:pt idx="358">
                  <c:v>28.3672</c:v>
                </c:pt>
                <c:pt idx="359">
                  <c:v>26.5889</c:v>
                </c:pt>
                <c:pt idx="360">
                  <c:v>27.7022</c:v>
                </c:pt>
                <c:pt idx="361">
                  <c:v>27.2666</c:v>
                </c:pt>
                <c:pt idx="362">
                  <c:v>26.1771</c:v>
                </c:pt>
                <c:pt idx="363">
                  <c:v>25.6966</c:v>
                </c:pt>
                <c:pt idx="364">
                  <c:v>26.8874</c:v>
                </c:pt>
                <c:pt idx="365">
                  <c:v>27.8831</c:v>
                </c:pt>
                <c:pt idx="366">
                  <c:v>28.0129</c:v>
                </c:pt>
                <c:pt idx="367">
                  <c:v>28.7069</c:v>
                </c:pt>
                <c:pt idx="368">
                  <c:v>29.0087</c:v>
                </c:pt>
                <c:pt idx="369">
                  <c:v>29.0156</c:v>
                </c:pt>
                <c:pt idx="370">
                  <c:v>29.5837</c:v>
                </c:pt>
                <c:pt idx="371">
                  <c:v>29.6609</c:v>
                </c:pt>
              </c:numCache>
            </c:numRef>
          </c:val>
          <c:smooth val="0"/>
        </c:ser>
        <c:ser>
          <c:idx val="3"/>
          <c:order val="3"/>
          <c:tx>
            <c:strRef>
              <c:f>Sheet1!$E$1</c:f>
              <c:strCache>
                <c:ptCount val="1"/>
                <c:pt idx="0">
                  <c:v>EW</c:v>
                </c:pt>
              </c:strCache>
            </c:strRef>
          </c:tx>
          <c:spPr>
            <a:solidFill>
              <a:srgbClr val="EDA100"/>
            </a:solidFill>
            <a:ln w="1905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Sheet1!$E$2:$E$373</c:f>
              <c:numCache>
                <c:formatCode>General</c:formatCode>
                <c:ptCount val="372"/>
                <c:pt idx="0">
                  <c:v>1.0262</c:v>
                </c:pt>
                <c:pt idx="1">
                  <c:v>1.0718</c:v>
                </c:pt>
                <c:pt idx="2">
                  <c:v>1.0981</c:v>
                </c:pt>
                <c:pt idx="3">
                  <c:v>1.1178</c:v>
                </c:pt>
                <c:pt idx="4">
                  <c:v>1.158</c:v>
                </c:pt>
                <c:pt idx="5">
                  <c:v>1.1895</c:v>
                </c:pt>
                <c:pt idx="6">
                  <c:v>1.2349</c:v>
                </c:pt>
                <c:pt idx="7">
                  <c:v>1.2535</c:v>
                </c:pt>
                <c:pt idx="8">
                  <c:v>1.29</c:v>
                </c:pt>
                <c:pt idx="9">
                  <c:v>1.2685</c:v>
                </c:pt>
                <c:pt idx="10">
                  <c:v>1.3288</c:v>
                </c:pt>
                <c:pt idx="11">
                  <c:v>1.3427</c:v>
                </c:pt>
                <c:pt idx="12">
                  <c:v>1.3832</c:v>
                </c:pt>
                <c:pt idx="13">
                  <c:v>1.4054</c:v>
                </c:pt>
                <c:pt idx="14">
                  <c:v>1.4234</c:v>
                </c:pt>
                <c:pt idx="15">
                  <c:v>1.4518</c:v>
                </c:pt>
                <c:pt idx="16">
                  <c:v>1.4782</c:v>
                </c:pt>
                <c:pt idx="17">
                  <c:v>1.4631</c:v>
                </c:pt>
                <c:pt idx="18">
                  <c:v>1.3883</c:v>
                </c:pt>
                <c:pt idx="19">
                  <c:v>1.4375</c:v>
                </c:pt>
                <c:pt idx="20">
                  <c:v>1.5136</c:v>
                </c:pt>
                <c:pt idx="21">
                  <c:v>1.5374</c:v>
                </c:pt>
                <c:pt idx="22">
                  <c:v>1.6469</c:v>
                </c:pt>
                <c:pt idx="23">
                  <c:v>1.6189</c:v>
                </c:pt>
                <c:pt idx="24">
                  <c:v>1.6928</c:v>
                </c:pt>
                <c:pt idx="25">
                  <c:v>1.702</c:v>
                </c:pt>
                <c:pt idx="26">
                  <c:v>1.6358</c:v>
                </c:pt>
                <c:pt idx="27">
                  <c:v>1.6908</c:v>
                </c:pt>
                <c:pt idx="28">
                  <c:v>1.809</c:v>
                </c:pt>
                <c:pt idx="29">
                  <c:v>1.8748</c:v>
                </c:pt>
                <c:pt idx="30">
                  <c:v>2.0372</c:v>
                </c:pt>
                <c:pt idx="31">
                  <c:v>1.983</c:v>
                </c:pt>
                <c:pt idx="32">
                  <c:v>2.0873</c:v>
                </c:pt>
                <c:pt idx="33">
                  <c:v>2.0075</c:v>
                </c:pt>
                <c:pt idx="34">
                  <c:v>2.0729</c:v>
                </c:pt>
                <c:pt idx="35">
                  <c:v>2.1267</c:v>
                </c:pt>
                <c:pt idx="36">
                  <c:v>2.1014</c:v>
                </c:pt>
                <c:pt idx="37">
                  <c:v>2.2619</c:v>
                </c:pt>
                <c:pt idx="38">
                  <c:v>2.3737</c:v>
                </c:pt>
                <c:pt idx="39">
                  <c:v>2.3858</c:v>
                </c:pt>
                <c:pt idx="40">
                  <c:v>2.3187</c:v>
                </c:pt>
                <c:pt idx="41">
                  <c:v>2.3619</c:v>
                </c:pt>
                <c:pt idx="42">
                  <c:v>2.2791</c:v>
                </c:pt>
                <c:pt idx="43">
                  <c:v>1.9442</c:v>
                </c:pt>
                <c:pt idx="44">
                  <c:v>2.0678</c:v>
                </c:pt>
                <c:pt idx="45">
                  <c:v>2.2416</c:v>
                </c:pt>
                <c:pt idx="46">
                  <c:v>2.3561</c:v>
                </c:pt>
                <c:pt idx="47">
                  <c:v>2.4739</c:v>
                </c:pt>
                <c:pt idx="48">
                  <c:v>2.4845</c:v>
                </c:pt>
                <c:pt idx="49">
                  <c:v>2.4183</c:v>
                </c:pt>
                <c:pt idx="50">
                  <c:v>2.4919</c:v>
                </c:pt>
                <c:pt idx="51">
                  <c:v>2.6705</c:v>
                </c:pt>
                <c:pt idx="52">
                  <c:v>2.6668</c:v>
                </c:pt>
                <c:pt idx="53">
                  <c:v>2.7651</c:v>
                </c:pt>
                <c:pt idx="54">
                  <c:v>2.6891</c:v>
                </c:pt>
                <c:pt idx="55">
                  <c:v>2.6197</c:v>
                </c:pt>
                <c:pt idx="56">
                  <c:v>2.5202</c:v>
                </c:pt>
                <c:pt idx="57">
                  <c:v>2.6493</c:v>
                </c:pt>
                <c:pt idx="58">
                  <c:v>2.6883</c:v>
                </c:pt>
                <c:pt idx="59">
                  <c:v>2.8336</c:v>
                </c:pt>
                <c:pt idx="60">
                  <c:v>2.6976</c:v>
                </c:pt>
                <c:pt idx="61">
                  <c:v>2.6966</c:v>
                </c:pt>
                <c:pt idx="62">
                  <c:v>2.9125</c:v>
                </c:pt>
                <c:pt idx="63">
                  <c:v>2.8927</c:v>
                </c:pt>
                <c:pt idx="64">
                  <c:v>2.8975</c:v>
                </c:pt>
                <c:pt idx="65">
                  <c:v>2.8738</c:v>
                </c:pt>
                <c:pt idx="66">
                  <c:v>2.8753</c:v>
                </c:pt>
                <c:pt idx="67">
                  <c:v>3.1281</c:v>
                </c:pt>
                <c:pt idx="68">
                  <c:v>3.0987</c:v>
                </c:pt>
                <c:pt idx="69">
                  <c:v>3.1292</c:v>
                </c:pt>
                <c:pt idx="70">
                  <c:v>2.9161</c:v>
                </c:pt>
                <c:pt idx="71">
                  <c:v>3.1073</c:v>
                </c:pt>
                <c:pt idx="72">
                  <c:v>3.2027</c:v>
                </c:pt>
                <c:pt idx="73">
                  <c:v>3.0323</c:v>
                </c:pt>
                <c:pt idx="74">
                  <c:v>2.8726</c:v>
                </c:pt>
                <c:pt idx="75">
                  <c:v>3.1158</c:v>
                </c:pt>
                <c:pt idx="76">
                  <c:v>3.1711</c:v>
                </c:pt>
                <c:pt idx="77">
                  <c:v>3.1367</c:v>
                </c:pt>
                <c:pt idx="78">
                  <c:v>3.0888</c:v>
                </c:pt>
                <c:pt idx="79">
                  <c:v>2.9463</c:v>
                </c:pt>
                <c:pt idx="80">
                  <c:v>2.6238</c:v>
                </c:pt>
                <c:pt idx="81">
                  <c:v>2.6939</c:v>
                </c:pt>
                <c:pt idx="82">
                  <c:v>2.9242</c:v>
                </c:pt>
                <c:pt idx="83">
                  <c:v>3.0101</c:v>
                </c:pt>
                <c:pt idx="84">
                  <c:v>3.0035</c:v>
                </c:pt>
                <c:pt idx="85">
                  <c:v>2.9532</c:v>
                </c:pt>
                <c:pt idx="86">
                  <c:v>3.1243</c:v>
                </c:pt>
                <c:pt idx="87">
                  <c:v>3.027</c:v>
                </c:pt>
                <c:pt idx="88">
                  <c:v>3.0045</c:v>
                </c:pt>
                <c:pt idx="89">
                  <c:v>2.7877</c:v>
                </c:pt>
                <c:pt idx="90">
                  <c:v>2.5361</c:v>
                </c:pt>
                <c:pt idx="91">
                  <c:v>2.5486</c:v>
                </c:pt>
                <c:pt idx="92">
                  <c:v>2.3055</c:v>
                </c:pt>
                <c:pt idx="93">
                  <c:v>2.4481</c:v>
                </c:pt>
                <c:pt idx="94">
                  <c:v>2.6092</c:v>
                </c:pt>
                <c:pt idx="95">
                  <c:v>2.4857</c:v>
                </c:pt>
                <c:pt idx="96">
                  <c:v>2.4351</c:v>
                </c:pt>
                <c:pt idx="97">
                  <c:v>2.3898</c:v>
                </c:pt>
                <c:pt idx="98">
                  <c:v>2.4007</c:v>
                </c:pt>
                <c:pt idx="99">
                  <c:v>2.5909</c:v>
                </c:pt>
                <c:pt idx="100">
                  <c:v>2.802</c:v>
                </c:pt>
                <c:pt idx="101">
                  <c:v>2.8212</c:v>
                </c:pt>
                <c:pt idx="102">
                  <c:v>2.8939</c:v>
                </c:pt>
                <c:pt idx="103">
                  <c:v>3.005</c:v>
                </c:pt>
                <c:pt idx="104">
                  <c:v>2.957</c:v>
                </c:pt>
                <c:pt idx="105">
                  <c:v>3.1793</c:v>
                </c:pt>
                <c:pt idx="106">
                  <c:v>3.2384</c:v>
                </c:pt>
                <c:pt idx="107">
                  <c:v>3.3616</c:v>
                </c:pt>
                <c:pt idx="108">
                  <c:v>3.418</c:v>
                </c:pt>
                <c:pt idx="109">
                  <c:v>3.4815</c:v>
                </c:pt>
                <c:pt idx="110">
                  <c:v>3.4581</c:v>
                </c:pt>
                <c:pt idx="111">
                  <c:v>3.3936</c:v>
                </c:pt>
                <c:pt idx="112">
                  <c:v>3.4574</c:v>
                </c:pt>
                <c:pt idx="113">
                  <c:v>3.5359</c:v>
                </c:pt>
                <c:pt idx="114">
                  <c:v>3.3901</c:v>
                </c:pt>
                <c:pt idx="115">
                  <c:v>3.3889</c:v>
                </c:pt>
                <c:pt idx="116">
                  <c:v>3.4894</c:v>
                </c:pt>
                <c:pt idx="117">
                  <c:v>3.5551</c:v>
                </c:pt>
                <c:pt idx="118">
                  <c:v>3.7457</c:v>
                </c:pt>
                <c:pt idx="119">
                  <c:v>3.8827</c:v>
                </c:pt>
                <c:pt idx="120">
                  <c:v>3.7909</c:v>
                </c:pt>
                <c:pt idx="121">
                  <c:v>3.8742</c:v>
                </c:pt>
                <c:pt idx="122">
                  <c:v>3.8353</c:v>
                </c:pt>
                <c:pt idx="123">
                  <c:v>3.7304</c:v>
                </c:pt>
                <c:pt idx="124">
                  <c:v>3.8989</c:v>
                </c:pt>
                <c:pt idx="125">
                  <c:v>3.962</c:v>
                </c:pt>
                <c:pt idx="126">
                  <c:v>4.1565</c:v>
                </c:pt>
                <c:pt idx="127">
                  <c:v>4.1228</c:v>
                </c:pt>
                <c:pt idx="128">
                  <c:v>4.1673</c:v>
                </c:pt>
                <c:pt idx="129">
                  <c:v>4.0802</c:v>
                </c:pt>
                <c:pt idx="130">
                  <c:v>4.2501</c:v>
                </c:pt>
                <c:pt idx="131">
                  <c:v>4.2787</c:v>
                </c:pt>
                <c:pt idx="132">
                  <c:v>4.4406</c:v>
                </c:pt>
                <c:pt idx="133">
                  <c:v>4.4366</c:v>
                </c:pt>
                <c:pt idx="134">
                  <c:v>4.5182</c:v>
                </c:pt>
                <c:pt idx="135">
                  <c:v>4.5752</c:v>
                </c:pt>
                <c:pt idx="136">
                  <c:v>4.429</c:v>
                </c:pt>
                <c:pt idx="137">
                  <c:v>4.4335</c:v>
                </c:pt>
                <c:pt idx="138">
                  <c:v>4.3702</c:v>
                </c:pt>
                <c:pt idx="139">
                  <c:v>4.4688</c:v>
                </c:pt>
                <c:pt idx="140">
                  <c:v>4.5566</c:v>
                </c:pt>
                <c:pt idx="141">
                  <c:v>4.7159</c:v>
                </c:pt>
                <c:pt idx="142">
                  <c:v>4.8349</c:v>
                </c:pt>
                <c:pt idx="143">
                  <c:v>4.8573</c:v>
                </c:pt>
                <c:pt idx="144">
                  <c:v>4.9754</c:v>
                </c:pt>
                <c:pt idx="145">
                  <c:v>4.9644</c:v>
                </c:pt>
                <c:pt idx="146">
                  <c:v>5.01</c:v>
                </c:pt>
                <c:pt idx="147">
                  <c:v>5.2244</c:v>
                </c:pt>
                <c:pt idx="148">
                  <c:v>5.4229</c:v>
                </c:pt>
                <c:pt idx="149">
                  <c:v>5.3174</c:v>
                </c:pt>
                <c:pt idx="150">
                  <c:v>5.136</c:v>
                </c:pt>
                <c:pt idx="151">
                  <c:v>5.1676</c:v>
                </c:pt>
                <c:pt idx="152">
                  <c:v>5.3314</c:v>
                </c:pt>
                <c:pt idx="153">
                  <c:v>5.451</c:v>
                </c:pt>
                <c:pt idx="154">
                  <c:v>5.2077</c:v>
                </c:pt>
                <c:pt idx="155">
                  <c:v>5.1442</c:v>
                </c:pt>
                <c:pt idx="156">
                  <c:v>4.8536</c:v>
                </c:pt>
                <c:pt idx="157">
                  <c:v>4.747</c:v>
                </c:pt>
                <c:pt idx="158">
                  <c:v>4.6688</c:v>
                </c:pt>
                <c:pt idx="159">
                  <c:v>4.9336</c:v>
                </c:pt>
                <c:pt idx="160">
                  <c:v>5.1093</c:v>
                </c:pt>
                <c:pt idx="161">
                  <c:v>4.691</c:v>
                </c:pt>
                <c:pt idx="162">
                  <c:v>4.6214</c:v>
                </c:pt>
                <c:pt idx="163">
                  <c:v>4.6862</c:v>
                </c:pt>
                <c:pt idx="164">
                  <c:v>4.1391</c:v>
                </c:pt>
                <c:pt idx="165">
                  <c:v>3.3313</c:v>
                </c:pt>
                <c:pt idx="166">
                  <c:v>3.0561</c:v>
                </c:pt>
                <c:pt idx="167">
                  <c:v>3.1477</c:v>
                </c:pt>
                <c:pt idx="168">
                  <c:v>2.9257</c:v>
                </c:pt>
                <c:pt idx="169">
                  <c:v>2.6331</c:v>
                </c:pt>
                <c:pt idx="170">
                  <c:v>2.8677</c:v>
                </c:pt>
                <c:pt idx="171">
                  <c:v>3.225</c:v>
                </c:pt>
                <c:pt idx="172">
                  <c:v>3.3667</c:v>
                </c:pt>
                <c:pt idx="173">
                  <c:v>3.3707</c:v>
                </c:pt>
                <c:pt idx="174">
                  <c:v>3.6465</c:v>
                </c:pt>
                <c:pt idx="175">
                  <c:v>3.7879</c:v>
                </c:pt>
                <c:pt idx="176">
                  <c:v>3.9702</c:v>
                </c:pt>
                <c:pt idx="177">
                  <c:v>3.8452</c:v>
                </c:pt>
                <c:pt idx="178">
                  <c:v>4.053</c:v>
                </c:pt>
                <c:pt idx="179">
                  <c:v>4.2282</c:v>
                </c:pt>
                <c:pt idx="180">
                  <c:v>4.0919</c:v>
                </c:pt>
                <c:pt idx="181">
                  <c:v>4.2773</c:v>
                </c:pt>
                <c:pt idx="182">
                  <c:v>4.5506</c:v>
                </c:pt>
                <c:pt idx="183">
                  <c:v>4.6743</c:v>
                </c:pt>
                <c:pt idx="184">
                  <c:v>4.3285</c:v>
                </c:pt>
                <c:pt idx="185">
                  <c:v>4.0763</c:v>
                </c:pt>
                <c:pt idx="186">
                  <c:v>4.3696</c:v>
                </c:pt>
                <c:pt idx="187">
                  <c:v>4.1776</c:v>
                </c:pt>
                <c:pt idx="188">
                  <c:v>4.6037</c:v>
                </c:pt>
                <c:pt idx="189">
                  <c:v>4.7865</c:v>
                </c:pt>
                <c:pt idx="190">
                  <c:v>4.8572</c:v>
                </c:pt>
                <c:pt idx="191">
                  <c:v>5.1881</c:v>
                </c:pt>
                <c:pt idx="192">
                  <c:v>5.2965</c:v>
                </c:pt>
                <c:pt idx="193">
                  <c:v>5.4945</c:v>
                </c:pt>
                <c:pt idx="194">
                  <c:v>5.5609</c:v>
                </c:pt>
                <c:pt idx="195">
                  <c:v>5.729</c:v>
                </c:pt>
                <c:pt idx="196">
                  <c:v>5.6963</c:v>
                </c:pt>
                <c:pt idx="197">
                  <c:v>5.5961</c:v>
                </c:pt>
                <c:pt idx="198">
                  <c:v>5.4144</c:v>
                </c:pt>
                <c:pt idx="199">
                  <c:v>5.0689</c:v>
                </c:pt>
                <c:pt idx="200">
                  <c:v>4.6325</c:v>
                </c:pt>
                <c:pt idx="201">
                  <c:v>5.2109</c:v>
                </c:pt>
                <c:pt idx="202">
                  <c:v>5.184</c:v>
                </c:pt>
                <c:pt idx="203">
                  <c:v>5.1564</c:v>
                </c:pt>
                <c:pt idx="204">
                  <c:v>5.4475</c:v>
                </c:pt>
                <c:pt idx="205">
                  <c:v>5.6845</c:v>
                </c:pt>
                <c:pt idx="206">
                  <c:v>5.8172</c:v>
                </c:pt>
                <c:pt idx="207">
                  <c:v>5.7718</c:v>
                </c:pt>
                <c:pt idx="208">
                  <c:v>5.3821</c:v>
                </c:pt>
                <c:pt idx="209">
                  <c:v>5.5494</c:v>
                </c:pt>
                <c:pt idx="210">
                  <c:v>5.5562</c:v>
                </c:pt>
                <c:pt idx="211">
                  <c:v>5.7267</c:v>
                </c:pt>
                <c:pt idx="212">
                  <c:v>5.8634</c:v>
                </c:pt>
                <c:pt idx="213">
                  <c:v>5.8215</c:v>
                </c:pt>
                <c:pt idx="214">
                  <c:v>5.8869</c:v>
                </c:pt>
                <c:pt idx="215">
                  <c:v>6.0074</c:v>
                </c:pt>
                <c:pt idx="216">
                  <c:v>6.4087</c:v>
                </c:pt>
                <c:pt idx="217">
                  <c:v>6.4885</c:v>
                </c:pt>
                <c:pt idx="218">
                  <c:v>6.7834</c:v>
                </c:pt>
                <c:pt idx="219">
                  <c:v>6.8843</c:v>
                </c:pt>
                <c:pt idx="220">
                  <c:v>7.0567</c:v>
                </c:pt>
                <c:pt idx="221">
                  <c:v>6.9712</c:v>
                </c:pt>
                <c:pt idx="222">
                  <c:v>7.3787</c:v>
                </c:pt>
                <c:pt idx="223">
                  <c:v>7.1994</c:v>
                </c:pt>
                <c:pt idx="224">
                  <c:v>7.5132</c:v>
                </c:pt>
                <c:pt idx="225">
                  <c:v>7.7955</c:v>
                </c:pt>
                <c:pt idx="226">
                  <c:v>7.976</c:v>
                </c:pt>
                <c:pt idx="227">
                  <c:v>8.2215</c:v>
                </c:pt>
                <c:pt idx="228">
                  <c:v>7.981</c:v>
                </c:pt>
                <c:pt idx="229">
                  <c:v>8.4106</c:v>
                </c:pt>
                <c:pt idx="230">
                  <c:v>8.4385</c:v>
                </c:pt>
                <c:pt idx="231">
                  <c:v>8.4226</c:v>
                </c:pt>
                <c:pt idx="232">
                  <c:v>8.6212</c:v>
                </c:pt>
                <c:pt idx="233">
                  <c:v>8.8635</c:v>
                </c:pt>
                <c:pt idx="234">
                  <c:v>8.6565</c:v>
                </c:pt>
                <c:pt idx="235">
                  <c:v>9.0322</c:v>
                </c:pt>
                <c:pt idx="236">
                  <c:v>8.8203</c:v>
                </c:pt>
                <c:pt idx="237">
                  <c:v>9.0672</c:v>
                </c:pt>
                <c:pt idx="238">
                  <c:v>9.325</c:v>
                </c:pt>
                <c:pt idx="239">
                  <c:v>9.3475</c:v>
                </c:pt>
                <c:pt idx="240">
                  <c:v>9.1294</c:v>
                </c:pt>
                <c:pt idx="241">
                  <c:v>9.6817</c:v>
                </c:pt>
                <c:pt idx="242">
                  <c:v>9.6182</c:v>
                </c:pt>
                <c:pt idx="243">
                  <c:v>9.6283</c:v>
                </c:pt>
                <c:pt idx="244">
                  <c:v>9.7618</c:v>
                </c:pt>
                <c:pt idx="245">
                  <c:v>9.5856</c:v>
                </c:pt>
                <c:pt idx="246">
                  <c:v>9.6911</c:v>
                </c:pt>
                <c:pt idx="247">
                  <c:v>9.1571</c:v>
                </c:pt>
                <c:pt idx="248">
                  <c:v>8.8485</c:v>
                </c:pt>
                <c:pt idx="249">
                  <c:v>9.4685</c:v>
                </c:pt>
                <c:pt idx="250">
                  <c:v>9.5018</c:v>
                </c:pt>
                <c:pt idx="251">
                  <c:v>9.2571</c:v>
                </c:pt>
                <c:pt idx="252">
                  <c:v>8.6798</c:v>
                </c:pt>
                <c:pt idx="253">
                  <c:v>8.7836</c:v>
                </c:pt>
                <c:pt idx="254">
                  <c:v>9.433</c:v>
                </c:pt>
                <c:pt idx="255">
                  <c:v>9.5568</c:v>
                </c:pt>
                <c:pt idx="256">
                  <c:v>9.7193</c:v>
                </c:pt>
                <c:pt idx="257">
                  <c:v>9.7346</c:v>
                </c:pt>
                <c:pt idx="258">
                  <c:v>10.1209</c:v>
                </c:pt>
                <c:pt idx="259">
                  <c:v>10.1782</c:v>
                </c:pt>
                <c:pt idx="260">
                  <c:v>10.1944</c:v>
                </c:pt>
                <c:pt idx="261">
                  <c:v>9.9867</c:v>
                </c:pt>
                <c:pt idx="262">
                  <c:v>10.5627</c:v>
                </c:pt>
                <c:pt idx="263">
                  <c:v>10.6758</c:v>
                </c:pt>
                <c:pt idx="264">
                  <c:v>10.9382</c:v>
                </c:pt>
                <c:pt idx="265">
                  <c:v>11.3263</c:v>
                </c:pt>
                <c:pt idx="266">
                  <c:v>11.332</c:v>
                </c:pt>
                <c:pt idx="267">
                  <c:v>11.4381</c:v>
                </c:pt>
                <c:pt idx="268">
                  <c:v>11.5535</c:v>
                </c:pt>
                <c:pt idx="269">
                  <c:v>11.6573</c:v>
                </c:pt>
                <c:pt idx="270">
                  <c:v>11.8675</c:v>
                </c:pt>
                <c:pt idx="271">
                  <c:v>11.8298</c:v>
                </c:pt>
                <c:pt idx="272">
                  <c:v>12.1867</c:v>
                </c:pt>
                <c:pt idx="273">
                  <c:v>12.4041</c:v>
                </c:pt>
                <c:pt idx="274">
                  <c:v>12.8996</c:v>
                </c:pt>
                <c:pt idx="275">
                  <c:v>13.0664</c:v>
                </c:pt>
                <c:pt idx="276">
                  <c:v>13.7347</c:v>
                </c:pt>
                <c:pt idx="277">
                  <c:v>13.196</c:v>
                </c:pt>
                <c:pt idx="278">
                  <c:v>13.0841</c:v>
                </c:pt>
                <c:pt idx="279">
                  <c:v>13.1208</c:v>
                </c:pt>
                <c:pt idx="280">
                  <c:v>13.3538</c:v>
                </c:pt>
                <c:pt idx="281">
                  <c:v>13.4313</c:v>
                </c:pt>
                <c:pt idx="282">
                  <c:v>13.8869</c:v>
                </c:pt>
                <c:pt idx="283">
                  <c:v>14.2518</c:v>
                </c:pt>
                <c:pt idx="284">
                  <c:v>14.2843</c:v>
                </c:pt>
                <c:pt idx="285">
                  <c:v>13.1617</c:v>
                </c:pt>
                <c:pt idx="286">
                  <c:v>13.5011</c:v>
                </c:pt>
                <c:pt idx="287">
                  <c:v>12.1982</c:v>
                </c:pt>
                <c:pt idx="288">
                  <c:v>13.3595</c:v>
                </c:pt>
                <c:pt idx="289">
                  <c:v>13.8756</c:v>
                </c:pt>
                <c:pt idx="290">
                  <c:v>13.9882</c:v>
                </c:pt>
                <c:pt idx="291">
                  <c:v>14.5429</c:v>
                </c:pt>
                <c:pt idx="292">
                  <c:v>13.6163</c:v>
                </c:pt>
                <c:pt idx="293">
                  <c:v>14.6534</c:v>
                </c:pt>
                <c:pt idx="294">
                  <c:v>14.8349</c:v>
                </c:pt>
                <c:pt idx="295">
                  <c:v>14.4283</c:v>
                </c:pt>
                <c:pt idx="296">
                  <c:v>14.7316</c:v>
                </c:pt>
                <c:pt idx="297">
                  <c:v>14.9502</c:v>
                </c:pt>
                <c:pt idx="298">
                  <c:v>15.5886</c:v>
                </c:pt>
                <c:pt idx="299">
                  <c:v>15.9549</c:v>
                </c:pt>
                <c:pt idx="300">
                  <c:v>15.7961</c:v>
                </c:pt>
                <c:pt idx="301">
                  <c:v>14.4788</c:v>
                </c:pt>
                <c:pt idx="302">
                  <c:v>12.0556</c:v>
                </c:pt>
                <c:pt idx="303">
                  <c:v>13.6726</c:v>
                </c:pt>
                <c:pt idx="304">
                  <c:v>14.6019</c:v>
                </c:pt>
                <c:pt idx="305">
                  <c:v>14.7384</c:v>
                </c:pt>
                <c:pt idx="306">
                  <c:v>15.5584</c:v>
                </c:pt>
                <c:pt idx="307">
                  <c:v>16.1948</c:v>
                </c:pt>
                <c:pt idx="308">
                  <c:v>15.8787</c:v>
                </c:pt>
                <c:pt idx="309">
                  <c:v>15.8287</c:v>
                </c:pt>
                <c:pt idx="310">
                  <c:v>17.8793</c:v>
                </c:pt>
                <c:pt idx="311">
                  <c:v>18.681</c:v>
                </c:pt>
                <c:pt idx="312">
                  <c:v>18.4949</c:v>
                </c:pt>
                <c:pt idx="313">
                  <c:v>19.339</c:v>
                </c:pt>
                <c:pt idx="314">
                  <c:v>20.2188</c:v>
                </c:pt>
                <c:pt idx="315">
                  <c:v>21.146</c:v>
                </c:pt>
                <c:pt idx="316">
                  <c:v>21.3734</c:v>
                </c:pt>
                <c:pt idx="317">
                  <c:v>21.5693</c:v>
                </c:pt>
                <c:pt idx="318">
                  <c:v>21.7521</c:v>
                </c:pt>
                <c:pt idx="319">
                  <c:v>22.3009</c:v>
                </c:pt>
                <c:pt idx="320">
                  <c:v>21.3878</c:v>
                </c:pt>
                <c:pt idx="321">
                  <c:v>22.6141</c:v>
                </c:pt>
                <c:pt idx="322">
                  <c:v>22.0252</c:v>
                </c:pt>
                <c:pt idx="323">
                  <c:v>23.096</c:v>
                </c:pt>
                <c:pt idx="324">
                  <c:v>21.8574</c:v>
                </c:pt>
                <c:pt idx="325">
                  <c:v>21.7256</c:v>
                </c:pt>
                <c:pt idx="326">
                  <c:v>22.2686</c:v>
                </c:pt>
                <c:pt idx="327">
                  <c:v>20.7023</c:v>
                </c:pt>
                <c:pt idx="328">
                  <c:v>20.8924</c:v>
                </c:pt>
                <c:pt idx="329">
                  <c:v>19.025</c:v>
                </c:pt>
                <c:pt idx="330">
                  <c:v>20.7399</c:v>
                </c:pt>
                <c:pt idx="331">
                  <c:v>20.2049</c:v>
                </c:pt>
                <c:pt idx="332">
                  <c:v>18.3824</c:v>
                </c:pt>
                <c:pt idx="333">
                  <c:v>20.0839</c:v>
                </c:pt>
                <c:pt idx="334">
                  <c:v>21.3906</c:v>
                </c:pt>
                <c:pt idx="335">
                  <c:v>20.3407</c:v>
                </c:pt>
                <c:pt idx="336">
                  <c:v>21.7644</c:v>
                </c:pt>
                <c:pt idx="337">
                  <c:v>21.1319</c:v>
                </c:pt>
                <c:pt idx="338">
                  <c:v>21.1686</c:v>
                </c:pt>
                <c:pt idx="339">
                  <c:v>21.1618</c:v>
                </c:pt>
                <c:pt idx="340">
                  <c:v>20.5271</c:v>
                </c:pt>
                <c:pt idx="341">
                  <c:v>22.0725</c:v>
                </c:pt>
                <c:pt idx="342">
                  <c:v>22.7842</c:v>
                </c:pt>
                <c:pt idx="343">
                  <c:v>22.1813</c:v>
                </c:pt>
                <c:pt idx="344">
                  <c:v>21.1089</c:v>
                </c:pt>
                <c:pt idx="345">
                  <c:v>20.2655</c:v>
                </c:pt>
                <c:pt idx="346">
                  <c:v>22.1092</c:v>
                </c:pt>
                <c:pt idx="347">
                  <c:v>23.6067</c:v>
                </c:pt>
                <c:pt idx="348">
                  <c:v>23.5235</c:v>
                </c:pt>
                <c:pt idx="349">
                  <c:v>24.637</c:v>
                </c:pt>
                <c:pt idx="350">
                  <c:v>25.7856</c:v>
                </c:pt>
                <c:pt idx="351">
                  <c:v>24.5285</c:v>
                </c:pt>
                <c:pt idx="352">
                  <c:v>25.1955</c:v>
                </c:pt>
                <c:pt idx="353">
                  <c:v>25.1289</c:v>
                </c:pt>
                <c:pt idx="354">
                  <c:v>26.1028</c:v>
                </c:pt>
                <c:pt idx="355">
                  <c:v>26.682</c:v>
                </c:pt>
                <c:pt idx="356">
                  <c:v>27.2145</c:v>
                </c:pt>
                <c:pt idx="357">
                  <c:v>26.9724</c:v>
                </c:pt>
                <c:pt idx="358">
                  <c:v>28.8569</c:v>
                </c:pt>
                <c:pt idx="359">
                  <c:v>27.0389</c:v>
                </c:pt>
                <c:pt idx="360">
                  <c:v>28.1807</c:v>
                </c:pt>
                <c:pt idx="361">
                  <c:v>27.7072</c:v>
                </c:pt>
                <c:pt idx="362">
                  <c:v>26.5702</c:v>
                </c:pt>
                <c:pt idx="363">
                  <c:v>26.0999</c:v>
                </c:pt>
                <c:pt idx="364">
                  <c:v>27.3334</c:v>
                </c:pt>
                <c:pt idx="365">
                  <c:v>28.365</c:v>
                </c:pt>
                <c:pt idx="366">
                  <c:v>28.5871</c:v>
                </c:pt>
                <c:pt idx="367">
                  <c:v>29.2894</c:v>
                </c:pt>
                <c:pt idx="368">
                  <c:v>29.6378</c:v>
                </c:pt>
                <c:pt idx="369">
                  <c:v>29.6661</c:v>
                </c:pt>
                <c:pt idx="370">
                  <c:v>30.1566</c:v>
                </c:pt>
                <c:pt idx="371">
                  <c:v>30.2868</c:v>
                </c:pt>
              </c:numCache>
            </c:numRef>
          </c:val>
          <c:smooth val="0"/>
        </c:ser>
        <c:ser>
          <c:idx val="4"/>
          <c:order val="4"/>
          <c:tx>
            <c:strRef>
              <c:f>Sheet1!$F$1</c:f>
              <c:strCache>
                <c:ptCount val="1"/>
                <c:pt idx="0">
                  <c:v>VW</c:v>
                </c:pt>
              </c:strCache>
            </c:strRef>
          </c:tx>
          <c:spPr>
            <a:solidFill>
              <a:srgbClr val="E87BA4"/>
            </a:solidFill>
            <a:ln w="1905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Sheet1!$A$2:$A$373</c:f>
              <c:multiLvlStrCache>
                <c:ptCount val="372"/>
                <c:lvl>
                  <c:pt idx="0">
                    <c:v>1995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2000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2005</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2010</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2015</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2020</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2025</c:v>
                  </c:pt>
                  <c:pt idx="361">
                    <c:v/>
                  </c:pt>
                  <c:pt idx="362">
                    <c:v/>
                  </c:pt>
                  <c:pt idx="363">
                    <c:v/>
                  </c:pt>
                  <c:pt idx="364">
                    <c:v/>
                  </c:pt>
                  <c:pt idx="365">
                    <c:v/>
                  </c:pt>
                  <c:pt idx="366">
                    <c:v/>
                  </c:pt>
                  <c:pt idx="367">
                    <c:v/>
                  </c:pt>
                  <c:pt idx="368">
                    <c:v/>
                  </c:pt>
                  <c:pt idx="369">
                    <c:v/>
                  </c:pt>
                  <c:pt idx="370">
                    <c:v/>
                  </c:pt>
                  <c:pt idx="371">
                    <c:v/>
                  </c:pt>
                </c:lvl>
              </c:multiLvlStrCache>
            </c:multiLvlStrRef>
          </c:cat>
          <c:val>
            <c:numRef>
              <c:f>Sheet1!$F$2:$F$373</c:f>
              <c:numCache>
                <c:formatCode>General</c:formatCode>
                <c:ptCount val="372"/>
                <c:pt idx="0">
                  <c:v>1.0283</c:v>
                </c:pt>
                <c:pt idx="1">
                  <c:v>1.0679</c:v>
                </c:pt>
                <c:pt idx="2">
                  <c:v>1.0963</c:v>
                </c:pt>
                <c:pt idx="3">
                  <c:v>1.1276</c:v>
                </c:pt>
                <c:pt idx="4">
                  <c:v>1.172</c:v>
                </c:pt>
                <c:pt idx="5">
                  <c:v>1.2021</c:v>
                </c:pt>
                <c:pt idx="6">
                  <c:v>1.2431</c:v>
                </c:pt>
                <c:pt idx="7">
                  <c:v>1.2514</c:v>
                </c:pt>
                <c:pt idx="8">
                  <c:v>1.3058</c:v>
                </c:pt>
                <c:pt idx="9">
                  <c:v>1.303</c:v>
                </c:pt>
                <c:pt idx="10">
                  <c:v>1.3589</c:v>
                </c:pt>
                <c:pt idx="11">
                  <c:v>1.3812</c:v>
                </c:pt>
                <c:pt idx="12">
                  <c:v>1.4277</c:v>
                </c:pt>
                <c:pt idx="13">
                  <c:v>1.4458</c:v>
                </c:pt>
                <c:pt idx="14">
                  <c:v>1.4572</c:v>
                </c:pt>
                <c:pt idx="15">
                  <c:v>1.4779</c:v>
                </c:pt>
                <c:pt idx="16">
                  <c:v>1.515</c:v>
                </c:pt>
                <c:pt idx="17">
                  <c:v>1.5189</c:v>
                </c:pt>
                <c:pt idx="18">
                  <c:v>1.4524</c:v>
                </c:pt>
                <c:pt idx="19">
                  <c:v>1.4862</c:v>
                </c:pt>
                <c:pt idx="20">
                  <c:v>1.5705</c:v>
                </c:pt>
                <c:pt idx="21">
                  <c:v>1.6107</c:v>
                </c:pt>
                <c:pt idx="22">
                  <c:v>1.7332</c:v>
                </c:pt>
                <c:pt idx="23">
                  <c:v>1.7025</c:v>
                </c:pt>
                <c:pt idx="24">
                  <c:v>1.8109</c:v>
                </c:pt>
                <c:pt idx="25">
                  <c:v>1.8214</c:v>
                </c:pt>
                <c:pt idx="26">
                  <c:v>1.7433</c:v>
                </c:pt>
                <c:pt idx="27">
                  <c:v>1.8479</c:v>
                </c:pt>
                <c:pt idx="28">
                  <c:v>1.961</c:v>
                </c:pt>
                <c:pt idx="29">
                  <c:v>2.0465</c:v>
                </c:pt>
                <c:pt idx="30">
                  <c:v>2.2126</c:v>
                </c:pt>
                <c:pt idx="31">
                  <c:v>2.0967</c:v>
                </c:pt>
                <c:pt idx="32">
                  <c:v>2.209</c:v>
                </c:pt>
                <c:pt idx="33">
                  <c:v>2.136</c:v>
                </c:pt>
                <c:pt idx="34">
                  <c:v>2.2363</c:v>
                </c:pt>
                <c:pt idx="35">
                  <c:v>2.2792</c:v>
                </c:pt>
                <c:pt idx="36">
                  <c:v>2.3002</c:v>
                </c:pt>
                <c:pt idx="37">
                  <c:v>2.4636</c:v>
                </c:pt>
                <c:pt idx="38">
                  <c:v>2.5899</c:v>
                </c:pt>
                <c:pt idx="39">
                  <c:v>2.6157</c:v>
                </c:pt>
                <c:pt idx="40">
                  <c:v>2.5674</c:v>
                </c:pt>
                <c:pt idx="41">
                  <c:v>2.6759</c:v>
                </c:pt>
                <c:pt idx="42">
                  <c:v>2.6478</c:v>
                </c:pt>
                <c:pt idx="43">
                  <c:v>2.2685</c:v>
                </c:pt>
                <c:pt idx="44">
                  <c:v>2.4196</c:v>
                </c:pt>
                <c:pt idx="45">
                  <c:v>2.6056</c:v>
                </c:pt>
                <c:pt idx="46">
                  <c:v>2.7714</c:v>
                </c:pt>
                <c:pt idx="47">
                  <c:v>2.9398</c:v>
                </c:pt>
                <c:pt idx="48">
                  <c:v>3.0576</c:v>
                </c:pt>
                <c:pt idx="49">
                  <c:v>2.9614</c:v>
                </c:pt>
                <c:pt idx="50">
                  <c:v>3.0742</c:v>
                </c:pt>
                <c:pt idx="51">
                  <c:v>3.1803</c:v>
                </c:pt>
                <c:pt idx="52">
                  <c:v>3.1087</c:v>
                </c:pt>
                <c:pt idx="53">
                  <c:v>3.2677</c:v>
                </c:pt>
                <c:pt idx="54">
                  <c:v>3.1695</c:v>
                </c:pt>
                <c:pt idx="55">
                  <c:v>3.1541</c:v>
                </c:pt>
                <c:pt idx="56">
                  <c:v>3.0566</c:v>
                </c:pt>
                <c:pt idx="57">
                  <c:v>3.2751</c:v>
                </c:pt>
                <c:pt idx="58">
                  <c:v>3.3446</c:v>
                </c:pt>
                <c:pt idx="59">
                  <c:v>3.5516</c:v>
                </c:pt>
                <c:pt idx="60">
                  <c:v>3.3974</c:v>
                </c:pt>
                <c:pt idx="61">
                  <c:v>3.3613</c:v>
                </c:pt>
                <c:pt idx="62">
                  <c:v>3.6755</c:v>
                </c:pt>
                <c:pt idx="63">
                  <c:v>3.5517</c:v>
                </c:pt>
                <c:pt idx="64">
                  <c:v>3.4669</c:v>
                </c:pt>
                <c:pt idx="65">
                  <c:v>3.5629</c:v>
                </c:pt>
                <c:pt idx="66">
                  <c:v>3.5279</c:v>
                </c:pt>
                <c:pt idx="67">
                  <c:v>3.7552</c:v>
                </c:pt>
                <c:pt idx="68">
                  <c:v>3.5874</c:v>
                </c:pt>
                <c:pt idx="69">
                  <c:v>3.5861</c:v>
                </c:pt>
                <c:pt idx="70">
                  <c:v>3.3129</c:v>
                </c:pt>
                <c:pt idx="71">
                  <c:v>3.337</c:v>
                </c:pt>
                <c:pt idx="72">
                  <c:v>3.4303</c:v>
                </c:pt>
                <c:pt idx="73">
                  <c:v>3.1506</c:v>
                </c:pt>
                <c:pt idx="74">
                  <c:v>2.958</c:v>
                </c:pt>
                <c:pt idx="75">
                  <c:v>3.1799</c:v>
                </c:pt>
                <c:pt idx="76">
                  <c:v>3.2062</c:v>
                </c:pt>
                <c:pt idx="77">
                  <c:v>3.1405</c:v>
                </c:pt>
                <c:pt idx="78">
                  <c:v>3.1091</c:v>
                </c:pt>
                <c:pt idx="79">
                  <c:v>2.9168</c:v>
                </c:pt>
                <c:pt idx="80">
                  <c:v>2.6957</c:v>
                </c:pt>
                <c:pt idx="81">
                  <c:v>2.7477</c:v>
                </c:pt>
                <c:pt idx="82">
                  <c:v>2.9526</c:v>
                </c:pt>
                <c:pt idx="83">
                  <c:v>2.9802</c:v>
                </c:pt>
                <c:pt idx="84">
                  <c:v>2.9531</c:v>
                </c:pt>
                <c:pt idx="85">
                  <c:v>2.8994</c:v>
                </c:pt>
                <c:pt idx="86">
                  <c:v>3.0065</c:v>
                </c:pt>
                <c:pt idx="87">
                  <c:v>2.8332</c:v>
                </c:pt>
                <c:pt idx="88">
                  <c:v>2.8137</c:v>
                </c:pt>
                <c:pt idx="89">
                  <c:v>2.6182</c:v>
                </c:pt>
                <c:pt idx="90">
                  <c:v>2.4306</c:v>
                </c:pt>
                <c:pt idx="91">
                  <c:v>2.4469</c:v>
                </c:pt>
                <c:pt idx="92">
                  <c:v>2.1905</c:v>
                </c:pt>
                <c:pt idx="93">
                  <c:v>2.3798</c:v>
                </c:pt>
                <c:pt idx="94">
                  <c:v>2.5045</c:v>
                </c:pt>
                <c:pt idx="95">
                  <c:v>2.3602</c:v>
                </c:pt>
                <c:pt idx="96">
                  <c:v>2.2965</c:v>
                </c:pt>
                <c:pt idx="97">
                  <c:v>2.2584</c:v>
                </c:pt>
                <c:pt idx="98">
                  <c:v>2.2852</c:v>
                </c:pt>
                <c:pt idx="99">
                  <c:v>2.4667</c:v>
                </c:pt>
                <c:pt idx="100">
                  <c:v>2.5933</c:v>
                </c:pt>
                <c:pt idx="101">
                  <c:v>2.626</c:v>
                </c:pt>
                <c:pt idx="102">
                  <c:v>2.6737</c:v>
                </c:pt>
                <c:pt idx="103">
                  <c:v>2.725</c:v>
                </c:pt>
                <c:pt idx="104">
                  <c:v>2.6945</c:v>
                </c:pt>
                <c:pt idx="105">
                  <c:v>2.8481</c:v>
                </c:pt>
                <c:pt idx="106">
                  <c:v>2.8738</c:v>
                </c:pt>
                <c:pt idx="107">
                  <c:v>3.0105</c:v>
                </c:pt>
                <c:pt idx="108">
                  <c:v>3.0594</c:v>
                </c:pt>
                <c:pt idx="109">
                  <c:v>3.1014</c:v>
                </c:pt>
                <c:pt idx="110">
                  <c:v>3.0538</c:v>
                </c:pt>
                <c:pt idx="111">
                  <c:v>3.0117</c:v>
                </c:pt>
                <c:pt idx="112">
                  <c:v>3.0499</c:v>
                </c:pt>
                <c:pt idx="113">
                  <c:v>3.1014</c:v>
                </c:pt>
                <c:pt idx="114">
                  <c:v>2.9965</c:v>
                </c:pt>
                <c:pt idx="115">
                  <c:v>3.0079</c:v>
                </c:pt>
                <c:pt idx="116">
                  <c:v>3.0402</c:v>
                </c:pt>
                <c:pt idx="117">
                  <c:v>3.0791</c:v>
                </c:pt>
                <c:pt idx="118">
                  <c:v>3.2004</c:v>
                </c:pt>
                <c:pt idx="119">
                  <c:v>3.307</c:v>
                </c:pt>
                <c:pt idx="120">
                  <c:v>3.2286</c:v>
                </c:pt>
                <c:pt idx="121">
                  <c:v>3.2943</c:v>
                </c:pt>
                <c:pt idx="122">
                  <c:v>3.2385</c:v>
                </c:pt>
                <c:pt idx="123">
                  <c:v>3.1824</c:v>
                </c:pt>
                <c:pt idx="124">
                  <c:v>3.2902</c:v>
                </c:pt>
                <c:pt idx="125">
                  <c:v>3.2946</c:v>
                </c:pt>
                <c:pt idx="126">
                  <c:v>3.42</c:v>
                </c:pt>
                <c:pt idx="127">
                  <c:v>3.3917</c:v>
                </c:pt>
                <c:pt idx="128">
                  <c:v>3.4196</c:v>
                </c:pt>
                <c:pt idx="129">
                  <c:v>3.3686</c:v>
                </c:pt>
                <c:pt idx="130">
                  <c:v>3.496</c:v>
                </c:pt>
                <c:pt idx="131">
                  <c:v>3.4934</c:v>
                </c:pt>
                <c:pt idx="132">
                  <c:v>3.5798</c:v>
                </c:pt>
                <c:pt idx="133">
                  <c:v>3.5849</c:v>
                </c:pt>
                <c:pt idx="134">
                  <c:v>3.6313</c:v>
                </c:pt>
                <c:pt idx="135">
                  <c:v>3.6707</c:v>
                </c:pt>
                <c:pt idx="136">
                  <c:v>3.566</c:v>
                </c:pt>
                <c:pt idx="137">
                  <c:v>3.5682</c:v>
                </c:pt>
                <c:pt idx="138">
                  <c:v>3.5881</c:v>
                </c:pt>
                <c:pt idx="139">
                  <c:v>3.6762</c:v>
                </c:pt>
                <c:pt idx="140">
                  <c:v>3.7636</c:v>
                </c:pt>
                <c:pt idx="141">
                  <c:v>3.8815</c:v>
                </c:pt>
                <c:pt idx="142">
                  <c:v>3.9511</c:v>
                </c:pt>
                <c:pt idx="143">
                  <c:v>4.0056</c:v>
                </c:pt>
                <c:pt idx="144">
                  <c:v>4.0648</c:v>
                </c:pt>
                <c:pt idx="145">
                  <c:v>3.9925</c:v>
                </c:pt>
                <c:pt idx="146">
                  <c:v>4.0357</c:v>
                </c:pt>
                <c:pt idx="147">
                  <c:v>4.2102</c:v>
                </c:pt>
                <c:pt idx="148">
                  <c:v>4.3602</c:v>
                </c:pt>
                <c:pt idx="149">
                  <c:v>4.2841</c:v>
                </c:pt>
                <c:pt idx="150">
                  <c:v>4.1624</c:v>
                </c:pt>
                <c:pt idx="151">
                  <c:v>4.2319</c:v>
                </c:pt>
                <c:pt idx="152">
                  <c:v>4.3913</c:v>
                </c:pt>
                <c:pt idx="153">
                  <c:v>4.4767</c:v>
                </c:pt>
                <c:pt idx="154">
                  <c:v>4.2992</c:v>
                </c:pt>
                <c:pt idx="155">
                  <c:v>4.2715</c:v>
                </c:pt>
                <c:pt idx="156">
                  <c:v>4.021</c:v>
                </c:pt>
                <c:pt idx="157">
                  <c:v>3.9068</c:v>
                </c:pt>
                <c:pt idx="158">
                  <c:v>3.8856</c:v>
                </c:pt>
                <c:pt idx="159">
                  <c:v>4.0588</c:v>
                </c:pt>
                <c:pt idx="160">
                  <c:v>4.1209</c:v>
                </c:pt>
                <c:pt idx="161">
                  <c:v>3.7853</c:v>
                </c:pt>
                <c:pt idx="162">
                  <c:v>3.7587</c:v>
                </c:pt>
                <c:pt idx="163">
                  <c:v>3.8127</c:v>
                </c:pt>
                <c:pt idx="164">
                  <c:v>3.4891</c:v>
                </c:pt>
                <c:pt idx="165">
                  <c:v>2.927</c:v>
                </c:pt>
                <c:pt idx="166">
                  <c:v>2.7296</c:v>
                </c:pt>
                <c:pt idx="167">
                  <c:v>2.7561</c:v>
                </c:pt>
                <c:pt idx="168">
                  <c:v>2.5345</c:v>
                </c:pt>
                <c:pt idx="169">
                  <c:v>2.2773</c:v>
                </c:pt>
                <c:pt idx="170">
                  <c:v>2.4778</c:v>
                </c:pt>
                <c:pt idx="171">
                  <c:v>2.6854</c:v>
                </c:pt>
                <c:pt idx="172">
                  <c:v>2.8167</c:v>
                </c:pt>
                <c:pt idx="173">
                  <c:v>2.8278</c:v>
                </c:pt>
                <c:pt idx="174">
                  <c:v>3.0369</c:v>
                </c:pt>
                <c:pt idx="175">
                  <c:v>3.1358</c:v>
                </c:pt>
                <c:pt idx="176">
                  <c:v>3.2443</c:v>
                </c:pt>
                <c:pt idx="177">
                  <c:v>3.1858</c:v>
                </c:pt>
                <c:pt idx="178">
                  <c:v>3.3754</c:v>
                </c:pt>
                <c:pt idx="179">
                  <c:v>3.4355</c:v>
                </c:pt>
                <c:pt idx="180">
                  <c:v>3.3209</c:v>
                </c:pt>
                <c:pt idx="181">
                  <c:v>3.4261</c:v>
                </c:pt>
                <c:pt idx="182">
                  <c:v>3.6268</c:v>
                </c:pt>
                <c:pt idx="183">
                  <c:v>3.6774</c:v>
                </c:pt>
                <c:pt idx="184">
                  <c:v>3.3889</c:v>
                </c:pt>
                <c:pt idx="185">
                  <c:v>3.2099</c:v>
                </c:pt>
                <c:pt idx="186">
                  <c:v>3.4311</c:v>
                </c:pt>
                <c:pt idx="187">
                  <c:v>3.2791</c:v>
                </c:pt>
                <c:pt idx="188">
                  <c:v>3.574</c:v>
                </c:pt>
                <c:pt idx="189">
                  <c:v>3.7129</c:v>
                </c:pt>
                <c:pt idx="190">
                  <c:v>3.7179</c:v>
                </c:pt>
                <c:pt idx="191">
                  <c:v>3.9684</c:v>
                </c:pt>
                <c:pt idx="192">
                  <c:v>4.0566</c:v>
                </c:pt>
                <c:pt idx="193">
                  <c:v>4.1844</c:v>
                </c:pt>
                <c:pt idx="194">
                  <c:v>4.1838</c:v>
                </c:pt>
                <c:pt idx="195">
                  <c:v>4.3023</c:v>
                </c:pt>
                <c:pt idx="196">
                  <c:v>4.2479</c:v>
                </c:pt>
                <c:pt idx="197">
                  <c:v>4.1785</c:v>
                </c:pt>
                <c:pt idx="198">
                  <c:v>4.0925</c:v>
                </c:pt>
                <c:pt idx="199">
                  <c:v>3.871</c:v>
                </c:pt>
                <c:pt idx="200">
                  <c:v>3.608</c:v>
                </c:pt>
                <c:pt idx="201">
                  <c:v>3.9897</c:v>
                </c:pt>
                <c:pt idx="202">
                  <c:v>3.976</c:v>
                </c:pt>
                <c:pt idx="203">
                  <c:v>4.0084</c:v>
                </c:pt>
                <c:pt idx="204">
                  <c:v>4.1937</c:v>
                </c:pt>
                <c:pt idx="205">
                  <c:v>4.3738</c:v>
                </c:pt>
                <c:pt idx="206">
                  <c:v>4.5174</c:v>
                </c:pt>
                <c:pt idx="207">
                  <c:v>4.4824</c:v>
                </c:pt>
                <c:pt idx="208">
                  <c:v>4.2178</c:v>
                </c:pt>
                <c:pt idx="209">
                  <c:v>4.3838</c:v>
                </c:pt>
                <c:pt idx="210">
                  <c:v>4.4343</c:v>
                </c:pt>
                <c:pt idx="211">
                  <c:v>4.5414</c:v>
                </c:pt>
                <c:pt idx="212">
                  <c:v>4.6608</c:v>
                </c:pt>
                <c:pt idx="213">
                  <c:v>4.576</c:v>
                </c:pt>
                <c:pt idx="214">
                  <c:v>4.596</c:v>
                </c:pt>
                <c:pt idx="215">
                  <c:v>4.6371</c:v>
                </c:pt>
                <c:pt idx="216">
                  <c:v>4.8818</c:v>
                </c:pt>
                <c:pt idx="217">
                  <c:v>4.9454</c:v>
                </c:pt>
                <c:pt idx="218">
                  <c:v>5.1367</c:v>
                </c:pt>
                <c:pt idx="219">
                  <c:v>5.2341</c:v>
                </c:pt>
                <c:pt idx="220">
                  <c:v>5.3643</c:v>
                </c:pt>
                <c:pt idx="221">
                  <c:v>5.2941</c:v>
                </c:pt>
                <c:pt idx="222">
                  <c:v>5.5676</c:v>
                </c:pt>
                <c:pt idx="223">
                  <c:v>5.4111</c:v>
                </c:pt>
                <c:pt idx="224">
                  <c:v>5.5872</c:v>
                </c:pt>
                <c:pt idx="225">
                  <c:v>5.8365</c:v>
                </c:pt>
                <c:pt idx="226">
                  <c:v>6.019</c:v>
                </c:pt>
                <c:pt idx="227">
                  <c:v>6.1725</c:v>
                </c:pt>
                <c:pt idx="228">
                  <c:v>5.951</c:v>
                </c:pt>
                <c:pt idx="229">
                  <c:v>6.222</c:v>
                </c:pt>
                <c:pt idx="230">
                  <c:v>6.2765</c:v>
                </c:pt>
                <c:pt idx="231">
                  <c:v>6.3095</c:v>
                </c:pt>
                <c:pt idx="232">
                  <c:v>6.45</c:v>
                </c:pt>
                <c:pt idx="233">
                  <c:v>6.5758</c:v>
                </c:pt>
                <c:pt idx="234">
                  <c:v>6.4837</c:v>
                </c:pt>
                <c:pt idx="235">
                  <c:v>6.7454</c:v>
                </c:pt>
                <c:pt idx="236">
                  <c:v>6.6525</c:v>
                </c:pt>
                <c:pt idx="237">
                  <c:v>6.8115</c:v>
                </c:pt>
                <c:pt idx="238">
                  <c:v>7.0124</c:v>
                </c:pt>
                <c:pt idx="239">
                  <c:v>6.9916</c:v>
                </c:pt>
                <c:pt idx="240">
                  <c:v>6.7803</c:v>
                </c:pt>
                <c:pt idx="241">
                  <c:v>7.1801</c:v>
                </c:pt>
                <c:pt idx="242">
                  <c:v>7.0586</c:v>
                </c:pt>
                <c:pt idx="243">
                  <c:v>7.129</c:v>
                </c:pt>
                <c:pt idx="244">
                  <c:v>7.2248</c:v>
                </c:pt>
                <c:pt idx="245">
                  <c:v>7.0884</c:v>
                </c:pt>
                <c:pt idx="246">
                  <c:v>7.2255</c:v>
                </c:pt>
                <c:pt idx="247">
                  <c:v>6.7876</c:v>
                </c:pt>
                <c:pt idx="248">
                  <c:v>6.6249</c:v>
                </c:pt>
                <c:pt idx="249">
                  <c:v>7.1504</c:v>
                </c:pt>
                <c:pt idx="250">
                  <c:v>7.1696</c:v>
                </c:pt>
                <c:pt idx="251">
                  <c:v>7.0506</c:v>
                </c:pt>
                <c:pt idx="252">
                  <c:v>6.6717</c:v>
                </c:pt>
                <c:pt idx="253">
                  <c:v>6.6759</c:v>
                </c:pt>
                <c:pt idx="254">
                  <c:v>7.1255</c:v>
                </c:pt>
                <c:pt idx="255">
                  <c:v>7.1751</c:v>
                </c:pt>
                <c:pt idx="256">
                  <c:v>7.3019</c:v>
                </c:pt>
                <c:pt idx="257">
                  <c:v>7.3267</c:v>
                </c:pt>
                <c:pt idx="258">
                  <c:v>7.5819</c:v>
                </c:pt>
                <c:pt idx="259">
                  <c:v>7.6042</c:v>
                </c:pt>
                <c:pt idx="260">
                  <c:v>7.6062</c:v>
                </c:pt>
                <c:pt idx="261">
                  <c:v>7.482</c:v>
                </c:pt>
                <c:pt idx="262">
                  <c:v>7.8138</c:v>
                </c:pt>
                <c:pt idx="263">
                  <c:v>7.9654</c:v>
                </c:pt>
                <c:pt idx="264">
                  <c:v>8.1155</c:v>
                </c:pt>
                <c:pt idx="265">
                  <c:v>8.4403</c:v>
                </c:pt>
                <c:pt idx="266">
                  <c:v>8.4492</c:v>
                </c:pt>
                <c:pt idx="267">
                  <c:v>8.5291</c:v>
                </c:pt>
                <c:pt idx="268">
                  <c:v>8.651</c:v>
                </c:pt>
                <c:pt idx="269">
                  <c:v>8.7048</c:v>
                </c:pt>
                <c:pt idx="270">
                  <c:v>8.8904</c:v>
                </c:pt>
                <c:pt idx="271">
                  <c:v>8.9314</c:v>
                </c:pt>
                <c:pt idx="272">
                  <c:v>9.1132</c:v>
                </c:pt>
                <c:pt idx="273">
                  <c:v>9.3373</c:v>
                </c:pt>
                <c:pt idx="274">
                  <c:v>9.641</c:v>
                </c:pt>
                <c:pt idx="275">
                  <c:v>9.7623</c:v>
                </c:pt>
                <c:pt idx="276">
                  <c:v>10.3474</c:v>
                </c:pt>
                <c:pt idx="277">
                  <c:v>9.9905</c:v>
                </c:pt>
                <c:pt idx="278">
                  <c:v>9.7384</c:v>
                </c:pt>
                <c:pt idx="279">
                  <c:v>9.7899</c:v>
                </c:pt>
                <c:pt idx="280">
                  <c:v>10.0163</c:v>
                </c:pt>
                <c:pt idx="281">
                  <c:v>10.0647</c:v>
                </c:pt>
                <c:pt idx="282">
                  <c:v>10.4406</c:v>
                </c:pt>
                <c:pt idx="283">
                  <c:v>10.8077</c:v>
                </c:pt>
                <c:pt idx="284">
                  <c:v>10.8808</c:v>
                </c:pt>
                <c:pt idx="285">
                  <c:v>10.1366</c:v>
                </c:pt>
                <c:pt idx="286">
                  <c:v>10.3292</c:v>
                </c:pt>
                <c:pt idx="287">
                  <c:v>9.3926</c:v>
                </c:pt>
                <c:pt idx="288">
                  <c:v>10.147</c:v>
                </c:pt>
                <c:pt idx="289">
                  <c:v>10.4861</c:v>
                </c:pt>
                <c:pt idx="290">
                  <c:v>10.662</c:v>
                </c:pt>
                <c:pt idx="291">
                  <c:v>11.1088</c:v>
                </c:pt>
                <c:pt idx="292">
                  <c:v>10.4036</c:v>
                </c:pt>
                <c:pt idx="293">
                  <c:v>11.1373</c:v>
                </c:pt>
                <c:pt idx="294">
                  <c:v>11.3108</c:v>
                </c:pt>
                <c:pt idx="295">
                  <c:v>11.1082</c:v>
                </c:pt>
                <c:pt idx="296">
                  <c:v>11.2998</c:v>
                </c:pt>
                <c:pt idx="297">
                  <c:v>11.5625</c:v>
                </c:pt>
                <c:pt idx="298">
                  <c:v>12.0126</c:v>
                </c:pt>
                <c:pt idx="299">
                  <c:v>12.3632</c:v>
                </c:pt>
                <c:pt idx="300">
                  <c:v>12.4102</c:v>
                </c:pt>
                <c:pt idx="301">
                  <c:v>11.4182</c:v>
                </c:pt>
                <c:pt idx="302">
                  <c:v>10.0611</c:v>
                </c:pt>
                <c:pt idx="303">
                  <c:v>11.3682</c:v>
                </c:pt>
                <c:pt idx="304">
                  <c:v>11.9346</c:v>
                </c:pt>
                <c:pt idx="305">
                  <c:v>12.1842</c:v>
                </c:pt>
                <c:pt idx="306">
                  <c:v>12.9248</c:v>
                </c:pt>
                <c:pt idx="307">
                  <c:v>13.9478</c:v>
                </c:pt>
                <c:pt idx="308">
                  <c:v>13.3904</c:v>
                </c:pt>
                <c:pt idx="309">
                  <c:v>13.0326</c:v>
                </c:pt>
                <c:pt idx="310">
                  <c:v>14.5066</c:v>
                </c:pt>
                <c:pt idx="311">
                  <c:v>15.1253</c:v>
                </c:pt>
                <c:pt idx="312">
                  <c:v>14.9782</c:v>
                </c:pt>
                <c:pt idx="313">
                  <c:v>15.3234</c:v>
                </c:pt>
                <c:pt idx="314">
                  <c:v>15.9214</c:v>
                </c:pt>
                <c:pt idx="315">
                  <c:v>16.7777</c:v>
                </c:pt>
                <c:pt idx="316">
                  <c:v>16.8382</c:v>
                </c:pt>
                <c:pt idx="317">
                  <c:v>17.276</c:v>
                </c:pt>
                <c:pt idx="318">
                  <c:v>17.6329</c:v>
                </c:pt>
                <c:pt idx="319">
                  <c:v>18.1765</c:v>
                </c:pt>
                <c:pt idx="320">
                  <c:v>17.3314</c:v>
                </c:pt>
                <c:pt idx="321">
                  <c:v>18.5655</c:v>
                </c:pt>
                <c:pt idx="322">
                  <c:v>18.4074</c:v>
                </c:pt>
                <c:pt idx="323">
                  <c:v>19.1084</c:v>
                </c:pt>
                <c:pt idx="324">
                  <c:v>18.1239</c:v>
                </c:pt>
                <c:pt idx="325">
                  <c:v>17.6347</c:v>
                </c:pt>
                <c:pt idx="326">
                  <c:v>18.275</c:v>
                </c:pt>
                <c:pt idx="327">
                  <c:v>16.615</c:v>
                </c:pt>
                <c:pt idx="328">
                  <c:v>16.6007</c:v>
                </c:pt>
                <c:pt idx="329">
                  <c:v>15.2561</c:v>
                </c:pt>
                <c:pt idx="330">
                  <c:v>16.6976</c:v>
                </c:pt>
                <c:pt idx="331">
                  <c:v>16.0647</c:v>
                </c:pt>
                <c:pt idx="332">
                  <c:v>14.6153</c:v>
                </c:pt>
                <c:pt idx="333">
                  <c:v>15.7776</c:v>
                </c:pt>
                <c:pt idx="334">
                  <c:v>16.6141</c:v>
                </c:pt>
                <c:pt idx="335">
                  <c:v>15.619</c:v>
                </c:pt>
                <c:pt idx="336">
                  <c:v>16.5988</c:v>
                </c:pt>
                <c:pt idx="337">
                  <c:v>16.2164</c:v>
                </c:pt>
                <c:pt idx="338">
                  <c:v>16.8456</c:v>
                </c:pt>
                <c:pt idx="339">
                  <c:v>17.0972</c:v>
                </c:pt>
                <c:pt idx="340">
                  <c:v>17.2342</c:v>
                </c:pt>
                <c:pt idx="341">
                  <c:v>18.3816</c:v>
                </c:pt>
                <c:pt idx="342">
                  <c:v>18.9776</c:v>
                </c:pt>
                <c:pt idx="343">
                  <c:v>18.7049</c:v>
                </c:pt>
                <c:pt idx="344">
                  <c:v>17.822</c:v>
                </c:pt>
                <c:pt idx="345">
                  <c:v>17.4536</c:v>
                </c:pt>
                <c:pt idx="346">
                  <c:v>19.0406</c:v>
                </c:pt>
                <c:pt idx="347">
                  <c:v>19.8892</c:v>
                </c:pt>
                <c:pt idx="348">
                  <c:v>20.2462</c:v>
                </c:pt>
                <c:pt idx="349">
                  <c:v>21.3268</c:v>
                </c:pt>
                <c:pt idx="350">
                  <c:v>22.0273</c:v>
                </c:pt>
                <c:pt idx="351">
                  <c:v>21.1871</c:v>
                </c:pt>
                <c:pt idx="352">
                  <c:v>22.2413</c:v>
                </c:pt>
                <c:pt idx="353">
                  <c:v>23.075</c:v>
                </c:pt>
                <c:pt idx="354">
                  <c:v>23.319</c:v>
                </c:pt>
                <c:pt idx="355">
                  <c:v>23.8799</c:v>
                </c:pt>
                <c:pt idx="356">
                  <c:v>24.3808</c:v>
                </c:pt>
                <c:pt idx="357">
                  <c:v>24.2164</c:v>
                </c:pt>
                <c:pt idx="358">
                  <c:v>25.7157</c:v>
                </c:pt>
                <c:pt idx="359">
                  <c:v>25.1299</c:v>
                </c:pt>
                <c:pt idx="360">
                  <c:v>25.8736</c:v>
                </c:pt>
                <c:pt idx="361">
                  <c:v>25.4331</c:v>
                </c:pt>
                <c:pt idx="362">
                  <c:v>23.9394</c:v>
                </c:pt>
                <c:pt idx="363">
                  <c:v>23.8039</c:v>
                </c:pt>
                <c:pt idx="364">
                  <c:v>25.3024</c:v>
                </c:pt>
                <c:pt idx="365">
                  <c:v>26.6129</c:v>
                </c:pt>
                <c:pt idx="366">
                  <c:v>27.2009</c:v>
                </c:pt>
                <c:pt idx="367">
                  <c:v>27.7467</c:v>
                </c:pt>
                <c:pt idx="368">
                  <c:v>28.7758</c:v>
                </c:pt>
                <c:pt idx="369">
                  <c:v>29.5357</c:v>
                </c:pt>
                <c:pt idx="370">
                  <c:v>29.5874</c:v>
                </c:pt>
                <c:pt idx="371">
                  <c:v>29.5812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1"/>
      </c:catAx>
      <c:valAx>
        <c:axId val="2094734552"/>
        <c:scaling>
          <c:logBase val="10"/>
          <c:orientation val="minMax"/>
          <c:max val="100"/>
          <c:min val="1"/>
        </c:scaling>
        <c:delete val="0"/>
        <c:axPos val="l"/>
        <c:majorGridlines>
          <c:spPr>
            <a:ln w="6350" cap="flat">
              <a:solidFill>
                <a:srgbClr val="E3E7E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three ways of diversifying a long-only stock portfolio with two simple benchmarks, and then ask whether the answer changes with the covariance estimate. Three findings: risk parity has the best risk-adjusted return and is robust to the risk model; minimum risk is the most defensive but only as good as its covariance estimate; maximum diversification maximizes an estimated ratio that does not translate into the best realized Sharpe.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month we estimate the covariance on the previous 60 months, form all five portfolios on the same universe, and record their return over the next month. The three optimized rules differ only in what they optimize: total variance, the diversification ratio, or equal risk contributions. The baseline covariance is the single-factor model from Homework 3, which gives closed-form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growth of one dollar on a log scale, in the format of Exhibit 4 of Clarke, de Silva and Thorley (2006). Equal weighting, risk parity and value weighting end within a dollar of each other at about 30 dollars. Minimum risk is the smoothest line but compounds to only 11.5 dollars: lower risk did not buy higher growth in this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statistics in the Exhibit 1 format. Risk parity has the highest Sharpe ratio, 0.689, with a return close to equal weighting and lower volatility. Minimum risk has the lowest volatility, the lowest beta and the smallest drawdown, but also the lowest return. Maximum diversification holds about 63 names on average and trades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deepest market drawdowns, each defined by the market itself: from the previous high to the trough, then until the market regains that high. Minimum risk lost the least in the dot-com bust and the financial crisis, but it earned the least in every rebound. That asymmetry is why it compounds to the lowest wealth. Maximum diversification held up in the dot-com bust and COVID but fell the most in 2008. Monthly data cannot show moves within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description lists two alternatives to the single-factor model. Constant correlation keeps the rank-one-plus-diagonal structure, so our closed forms still apply; one consequence is that maximum diversification and risk parity collapse to the same inverse-volatility portfolio. The shrunk sample covariance pulls the sample matrix towards a constant target with the intensity from the Clarke, de Silva and Thorley appendix. Same universe, dates and constraints; only the risk model given to the optimizers changes. In the demo, rho, lambda and every optimizer are checked against direct computations.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rules under three risk models, with equal and value weighting as references. Minimum risk changes the most: with the shrunk sample covariance its volatility is the lowest of every portfolio, 11.75 percent, and its Sharpe ratio rises from 0.499 to 0.675. Maximum diversification moves in both directions. Risk parity barely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rules react so differently. Minimum risk depends on the inverse covariance, which is where the estimators disagree: the single-factor model misses the utilities' common risk, the optimizer concentrates there, and realized risk is 1.74 times the forecast. Risk parity only needs each stock's covariance with the whole portfolio, essentially its beta, which all estimators agree on. One caution: the shrinkage intensity is driven by fourth moments, so a single meme-stock month, GameStop in January 2021, pushes it close to one. We kept the estimator exactly as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notions of diversification are not the same thing. Maximum diversification gets the highest diversification ratio with about 63 names. Risk parity equalizes risk contributions across all 500 names, but 99 percent of that risk is the market factor. On the right, turnover: value weighting trades 10 percent a year, equal weighting and risk parity about 60, and the concentrated rules over 100, up to 261 percent for MaxDiv on the shrunk sample covariance. None of our results deduct trading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If the goal is risk-adjusted return, risk parity was the best and most robust rule. If the goal is protection, minimum risk delivers it in crashes but gives it back in rebounds, and it needs a better covariance estimate than the single-factor model. And a higher estimated diversification ratio is not the same as a higher realized Sharpe ratio. Every number on these slides is reproduced by the demo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material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 drawdowns: minimum risk −37.5%, risk parity −48.9%, VW −49.1%, EW −51.7%, MaxDiv −53.6%, all in 2007–2009.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868680"/>
            <a:ext cx="11247120" cy="12801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457200" y="2240280"/>
            <a:ext cx="11247120" cy="457200"/>
          </a:xfrm>
          <a:prstGeom prst="rect">
            <a:avLst/>
          </a:prstGeom>
          <a:noFill/>
          <a:ln/>
        </p:spPr>
        <p:txBody>
          <a:bodyPr wrap="square" rtlCol="0"/>
          <a:lstStyle>
            <a:lvl1pPr indent="0" marL="0">
              <a:buNone/>
              <a:defRPr lang="en-US" sz="1800" dirty="0">
                <a:solidFill>
                  <a:srgbClr val="B8C2D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471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457200" y="3429000"/>
            <a:ext cx="11247120" cy="1097280"/>
          </a:xfrm>
          <a:prstGeom prst="rect">
            <a:avLst/>
          </a:prstGeom>
          <a:noFill/>
          <a:ln/>
        </p:spPr>
        <p:txBody>
          <a:bodyPr wrap="square" rtlCol="0"/>
          <a:lstStyle>
            <a:lvl1pPr indent="0" marL="0">
              <a:buNone/>
              <a:defRPr lang="en-US" sz="1800" dirty="0">
                <a:solidFill>
                  <a:srgbClr val="B8C2D6"/>
                </a:solidFill>
              </a:defRPr>
            </a:lvl1pPr>
          </a:lstStyle>
          <a:p>
            <a:pPr indent="0" marL="0">
              <a:buNone/>
            </a:pPr>
            <a:endParaRPr lang="en-US" sz="1800" dirty="0"/>
          </a:p>
        </p:txBody>
      </p:sp>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1000" dirty="0">
                <a:solidFill>
                  <a:srgbClr val="B8C2D6"/>
                </a:solidFill>
              </a:rPr>
              <a:t>Topic 3 · Comparison of diversification approaches · CRSP 1995–2025</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1000" dirty="0">
                <a:solidFill>
                  <a:srgbClr val="5B6577"/>
                </a:solidFill>
              </a:rPr>
              <a:t>Topic 3 · Comparison of diversification approaches · CRSP 1995–2025</a:t>
            </a:r>
            <a:endParaRPr lang="en-US" sz="1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868680"/>
            <a:ext cx="11247120" cy="1280160"/>
          </a:xfrm>
          <a:prstGeom prst="rect">
            <a:avLst/>
          </a:prstGeom>
          <a:noFill/>
          <a:ln/>
        </p:spPr>
        <p:txBody>
          <a:bodyPr wrap="square" lIns="0" tIns="0" rIns="0" bIns="0" rtlCol="0" anchor="t"/>
          <a:lstStyle/>
          <a:p>
            <a:pPr algn="l" indent="0" marL="0">
              <a:buNone/>
            </a:pPr>
            <a:r>
              <a:rPr lang="en-US" sz="3800" b="1" dirty="0">
                <a:solidFill>
                  <a:schemeClr val="bg1"/>
                </a:solidFill>
              </a:rPr>
              <a:t>Diversification Rules and Risk Models Both Matter</a:t>
            </a:r>
            <a:endParaRPr lang="en-US" sz="3800" dirty="0"/>
          </a:p>
        </p:txBody>
      </p:sp>
      <p:sp>
        <p:nvSpPr>
          <p:cNvPr id="3" name="Text 0"/>
          <p:cNvSpPr/>
          <p:nvPr>
            <p:ph idx="101" type="body" hasCustomPrompt="1"/>
          </p:nvPr>
        </p:nvSpPr>
        <p:spPr>
          <a:xfrm>
            <a:off x="457200" y="2240280"/>
            <a:ext cx="11247120" cy="457200"/>
          </a:xfrm>
          <a:prstGeom prst="rect">
            <a:avLst/>
          </a:prstGeom>
          <a:noFill/>
          <a:ln/>
        </p:spPr>
        <p:txBody>
          <a:bodyPr wrap="square" lIns="0" tIns="0" rIns="0" bIns="0" rtlCol="0" anchor="t"/>
          <a:lstStyle/>
          <a:p>
            <a:pPr indent="0" marL="0">
              <a:buNone/>
            </a:pPr>
            <a:r>
              <a:rPr lang="en-US" sz="1800" dirty="0">
                <a:solidFill>
                  <a:srgbClr val="B8C2D6"/>
                </a:solidFill>
              </a:rPr>
              <a:t>Minimum risk, maximum diversification and risk parity vs. equal and value weighting · 500 largest U.S. stocks · 1995–2025</a:t>
            </a:r>
            <a:endParaRPr lang="en-US" sz="1800" dirty="0"/>
          </a:p>
        </p:txBody>
      </p:sp>
      <p:sp>
        <p:nvSpPr>
          <p:cNvPr id="4" name="Kicker"/>
          <p:cNvSpPr txBox="1"/>
          <p:nvPr/>
        </p:nvSpPr>
        <p:spPr>
          <a:xfrm>
            <a:off x="457200" y="411480"/>
            <a:ext cx="7315200" cy="365760"/>
          </a:xfrm>
          <a:prstGeom prst="rect">
            <a:avLst/>
          </a:prstGeom>
          <a:noFill/>
          <a:ln/>
        </p:spPr>
        <p:txBody>
          <a:bodyPr wrap="square" lIns="0" tIns="0" rIns="0" bIns="0" rtlCol="0" anchor="ctr"/>
          <a:lstStyle/>
          <a:p>
            <a:pPr indent="0" marL="0">
              <a:buNone/>
            </a:pPr>
            <a:r>
              <a:rPr lang="en-US" sz="1400" dirty="0">
                <a:solidFill>
                  <a:srgbClr val="B8C2D6"/>
                </a:solidFill>
              </a:rPr>
              <a:t>46-976 Financial Optimization · Topic 3</a:t>
            </a:r>
            <a:endParaRPr lang="en-US" sz="1400" dirty="0"/>
          </a:p>
        </p:txBody>
      </p:sp>
      <p:sp>
        <p:nvSpPr>
          <p:cNvPr id="5" name="Question card"/>
          <p:cNvSpPr/>
          <p:nvPr/>
        </p:nvSpPr>
        <p:spPr>
          <a:xfrm>
            <a:off x="457200" y="2880360"/>
            <a:ext cx="11247120" cy="822960"/>
          </a:xfrm>
          <a:prstGeom prst="roundRect">
            <a:avLst>
              <a:gd name="adj" fmla="val 8889"/>
            </a:avLst>
          </a:prstGeom>
          <a:solidFill>
            <a:srgbClr val="2B385A"/>
          </a:solidFill>
          <a:ln w="12700">
            <a:solidFill>
              <a:srgbClr val="2B385A"/>
            </a:solidFill>
            <a:prstDash val="solid"/>
          </a:ln>
        </p:spPr>
      </p:sp>
      <p:sp>
        <p:nvSpPr>
          <p:cNvPr id="6" name="Question"/>
          <p:cNvSpPr txBox="1"/>
          <p:nvPr/>
        </p:nvSpPr>
        <p:spPr>
          <a:xfrm>
            <a:off x="731520" y="2880360"/>
            <a:ext cx="10698480" cy="822960"/>
          </a:xfrm>
          <a:prstGeom prst="rect">
            <a:avLst/>
          </a:prstGeom>
          <a:noFill/>
          <a:ln/>
        </p:spPr>
        <p:txBody>
          <a:bodyPr wrap="square" lIns="0" tIns="0" rIns="0" bIns="0" rtlCol="0" anchor="ctr"/>
          <a:lstStyle/>
          <a:p>
            <a:pPr indent="0" marL="0">
              <a:buNone/>
            </a:pPr>
            <a:r>
              <a:rPr lang="en-US" sz="1600" b="1" dirty="0">
                <a:solidFill>
                  <a:srgbClr val="F4B183"/>
                </a:solidFill>
              </a:rPr>
              <a:t>Research question   </a:t>
            </a:r>
            <a:pPr indent="0" marL="0">
              <a:buNone/>
            </a:pPr>
            <a:r>
              <a:rPr lang="en-US" sz="1600" dirty="0">
                <a:solidFill>
                  <a:srgbClr val="FFFFFF"/>
                </a:solidFill>
              </a:rPr>
              <a:t>How do three diversification rules compare out of sample with equal and value weighting, and does the covariance estimator change the answer?</a:t>
            </a:r>
            <a:endParaRPr lang="en-US" sz="1600" dirty="0"/>
          </a:p>
        </p:txBody>
      </p:sp>
      <p:sp>
        <p:nvSpPr>
          <p:cNvPr id="7" name="Finding card 1"/>
          <p:cNvSpPr/>
          <p:nvPr/>
        </p:nvSpPr>
        <p:spPr>
          <a:xfrm>
            <a:off x="457200" y="3977640"/>
            <a:ext cx="3566160" cy="2148840"/>
          </a:xfrm>
          <a:prstGeom prst="roundRect">
            <a:avLst>
              <a:gd name="adj" fmla="val 3404"/>
            </a:avLst>
          </a:prstGeom>
          <a:solidFill>
            <a:srgbClr val="2B385A"/>
          </a:solidFill>
          <a:ln w="12700">
            <a:solidFill>
              <a:srgbClr val="2B385A"/>
            </a:solidFill>
            <a:prstDash val="solid"/>
          </a:ln>
        </p:spPr>
      </p:sp>
      <p:sp>
        <p:nvSpPr>
          <p:cNvPr id="8" name="Finding number 1"/>
          <p:cNvSpPr txBox="1"/>
          <p:nvPr/>
        </p:nvSpPr>
        <p:spPr>
          <a:xfrm>
            <a:off x="731520" y="4114800"/>
            <a:ext cx="3017520" cy="822960"/>
          </a:xfrm>
          <a:prstGeom prst="rect">
            <a:avLst/>
          </a:prstGeom>
          <a:noFill/>
          <a:ln/>
        </p:spPr>
        <p:txBody>
          <a:bodyPr wrap="square" lIns="0" tIns="0" rIns="0" bIns="0" rtlCol="0" anchor="ctr"/>
          <a:lstStyle/>
          <a:p>
            <a:pPr indent="0" marL="0">
              <a:buNone/>
            </a:pPr>
            <a:r>
              <a:rPr lang="en-US" sz="3600" b="1" dirty="0">
                <a:solidFill>
                  <a:srgbClr val="6FD3A6"/>
                </a:solidFill>
                <a:latin typeface="Cambria" pitchFamily="34" charset="0"/>
                <a:ea typeface="Cambria" pitchFamily="34" charset="-122"/>
                <a:cs typeface="Cambria" pitchFamily="34" charset="-120"/>
              </a:rPr>
              <a:t>0.689</a:t>
            </a:r>
            <a:endParaRPr lang="en-US" sz="3600" dirty="0"/>
          </a:p>
        </p:txBody>
      </p:sp>
      <p:sp>
        <p:nvSpPr>
          <p:cNvPr id="9" name="Finding label 1"/>
          <p:cNvSpPr txBox="1"/>
          <p:nvPr/>
        </p:nvSpPr>
        <p:spPr>
          <a:xfrm>
            <a:off x="731520" y="4937760"/>
            <a:ext cx="3017520" cy="365760"/>
          </a:xfrm>
          <a:prstGeom prst="rect">
            <a:avLst/>
          </a:prstGeom>
          <a:noFill/>
          <a:ln/>
        </p:spPr>
        <p:txBody>
          <a:bodyPr wrap="square" lIns="0" tIns="0" rIns="0" bIns="0" rtlCol="0" anchor="ctr"/>
          <a:lstStyle/>
          <a:p>
            <a:pPr indent="0" marL="0">
              <a:buNone/>
            </a:pPr>
            <a:r>
              <a:rPr lang="en-US" sz="1600" b="1" dirty="0">
                <a:solidFill>
                  <a:srgbClr val="FFFFFF"/>
                </a:solidFill>
              </a:rPr>
              <a:t>Risk parity</a:t>
            </a:r>
            <a:endParaRPr lang="en-US" sz="1600" dirty="0"/>
          </a:p>
        </p:txBody>
      </p:sp>
      <p:sp>
        <p:nvSpPr>
          <p:cNvPr id="10" name="Finding text 1"/>
          <p:cNvSpPr txBox="1"/>
          <p:nvPr/>
        </p:nvSpPr>
        <p:spPr>
          <a:xfrm>
            <a:off x="731520" y="5303520"/>
            <a:ext cx="3017520" cy="731520"/>
          </a:xfrm>
          <a:prstGeom prst="rect">
            <a:avLst/>
          </a:prstGeom>
          <a:noFill/>
          <a:ln/>
        </p:spPr>
        <p:txBody>
          <a:bodyPr wrap="square" lIns="0" tIns="0" rIns="0" bIns="0" rtlCol="0" anchor="t"/>
          <a:lstStyle/>
          <a:p>
            <a:pPr indent="0" marL="0">
              <a:buNone/>
            </a:pPr>
            <a:r>
              <a:rPr lang="en-US" sz="1400" dirty="0">
                <a:solidFill>
                  <a:srgbClr val="D5DCE8"/>
                </a:solidFill>
              </a:rPr>
              <a:t>Highest Sharpe ratio, and 0.656–0.689 under all three risk models</a:t>
            </a:r>
            <a:endParaRPr lang="en-US" sz="1400" dirty="0"/>
          </a:p>
        </p:txBody>
      </p:sp>
      <p:sp>
        <p:nvSpPr>
          <p:cNvPr id="11" name="Finding card 2"/>
          <p:cNvSpPr/>
          <p:nvPr/>
        </p:nvSpPr>
        <p:spPr>
          <a:xfrm>
            <a:off x="4297680" y="3977640"/>
            <a:ext cx="3566160" cy="2148840"/>
          </a:xfrm>
          <a:prstGeom prst="roundRect">
            <a:avLst>
              <a:gd name="adj" fmla="val 3404"/>
            </a:avLst>
          </a:prstGeom>
          <a:solidFill>
            <a:srgbClr val="2B385A"/>
          </a:solidFill>
          <a:ln w="12700">
            <a:solidFill>
              <a:srgbClr val="2B385A"/>
            </a:solidFill>
            <a:prstDash val="solid"/>
          </a:ln>
        </p:spPr>
      </p:sp>
      <p:sp>
        <p:nvSpPr>
          <p:cNvPr id="12" name="Finding number 2"/>
          <p:cNvSpPr txBox="1"/>
          <p:nvPr/>
        </p:nvSpPr>
        <p:spPr>
          <a:xfrm>
            <a:off x="4572000" y="4114800"/>
            <a:ext cx="3017520" cy="822960"/>
          </a:xfrm>
          <a:prstGeom prst="rect">
            <a:avLst/>
          </a:prstGeom>
          <a:noFill/>
          <a:ln/>
        </p:spPr>
        <p:txBody>
          <a:bodyPr wrap="square" lIns="0" tIns="0" rIns="0" bIns="0" rtlCol="0" anchor="ctr"/>
          <a:lstStyle/>
          <a:p>
            <a:pPr indent="0" marL="0">
              <a:buNone/>
            </a:pPr>
            <a:r>
              <a:rPr lang="en-US" sz="3600" b="1" dirty="0">
                <a:solidFill>
                  <a:srgbClr val="7FB2F0"/>
                </a:solidFill>
                <a:latin typeface="Cambria" pitchFamily="34" charset="0"/>
                <a:ea typeface="Cambria" pitchFamily="34" charset="-122"/>
                <a:cs typeface="Cambria" pitchFamily="34" charset="-120"/>
              </a:rPr>
              <a:t>0.499 → 0.675</a:t>
            </a:r>
            <a:endParaRPr lang="en-US" sz="3600" dirty="0"/>
          </a:p>
        </p:txBody>
      </p:sp>
      <p:sp>
        <p:nvSpPr>
          <p:cNvPr id="13" name="Finding label 2"/>
          <p:cNvSpPr txBox="1"/>
          <p:nvPr/>
        </p:nvSpPr>
        <p:spPr>
          <a:xfrm>
            <a:off x="4572000" y="4937760"/>
            <a:ext cx="3017520" cy="365760"/>
          </a:xfrm>
          <a:prstGeom prst="rect">
            <a:avLst/>
          </a:prstGeom>
          <a:noFill/>
          <a:ln/>
        </p:spPr>
        <p:txBody>
          <a:bodyPr wrap="square" lIns="0" tIns="0" rIns="0" bIns="0" rtlCol="0" anchor="ctr"/>
          <a:lstStyle/>
          <a:p>
            <a:pPr indent="0" marL="0">
              <a:buNone/>
            </a:pPr>
            <a:r>
              <a:rPr lang="en-US" sz="1600" b="1" dirty="0">
                <a:solidFill>
                  <a:srgbClr val="FFFFFF"/>
                </a:solidFill>
              </a:rPr>
              <a:t>Minimum risk</a:t>
            </a:r>
            <a:endParaRPr lang="en-US" sz="1600" dirty="0"/>
          </a:p>
        </p:txBody>
      </p:sp>
      <p:sp>
        <p:nvSpPr>
          <p:cNvPr id="14" name="Finding text 2"/>
          <p:cNvSpPr txBox="1"/>
          <p:nvPr/>
        </p:nvSpPr>
        <p:spPr>
          <a:xfrm>
            <a:off x="4572000" y="5303520"/>
            <a:ext cx="3017520" cy="731520"/>
          </a:xfrm>
          <a:prstGeom prst="rect">
            <a:avLst/>
          </a:prstGeom>
          <a:noFill/>
          <a:ln/>
        </p:spPr>
        <p:txBody>
          <a:bodyPr wrap="square" lIns="0" tIns="0" rIns="0" bIns="0" rtlCol="0" anchor="t"/>
          <a:lstStyle/>
          <a:p>
            <a:pPr indent="0" marL="0">
              <a:buNone/>
            </a:pPr>
            <a:r>
              <a:rPr lang="en-US" sz="1400" dirty="0">
                <a:solidFill>
                  <a:srgbClr val="D5DCE8"/>
                </a:solidFill>
              </a:rPr>
              <a:t>Lowest risk, but its Sharpe ratio depends on the covariance estimator</a:t>
            </a:r>
            <a:endParaRPr lang="en-US" sz="1400" dirty="0"/>
          </a:p>
        </p:txBody>
      </p:sp>
      <p:sp>
        <p:nvSpPr>
          <p:cNvPr id="15" name="Finding card 3"/>
          <p:cNvSpPr/>
          <p:nvPr/>
        </p:nvSpPr>
        <p:spPr>
          <a:xfrm>
            <a:off x="8138160" y="3977640"/>
            <a:ext cx="3566160" cy="2148840"/>
          </a:xfrm>
          <a:prstGeom prst="roundRect">
            <a:avLst>
              <a:gd name="adj" fmla="val 3404"/>
            </a:avLst>
          </a:prstGeom>
          <a:solidFill>
            <a:srgbClr val="2B385A"/>
          </a:solidFill>
          <a:ln w="12700">
            <a:solidFill>
              <a:srgbClr val="2B385A"/>
            </a:solidFill>
            <a:prstDash val="solid"/>
          </a:ln>
        </p:spPr>
      </p:sp>
      <p:sp>
        <p:nvSpPr>
          <p:cNvPr id="16" name="Finding number 3"/>
          <p:cNvSpPr txBox="1"/>
          <p:nvPr/>
        </p:nvSpPr>
        <p:spPr>
          <a:xfrm>
            <a:off x="8412480" y="4114800"/>
            <a:ext cx="3017520" cy="822960"/>
          </a:xfrm>
          <a:prstGeom prst="rect">
            <a:avLst/>
          </a:prstGeom>
          <a:noFill/>
          <a:ln/>
        </p:spPr>
        <p:txBody>
          <a:bodyPr wrap="square" lIns="0" tIns="0" rIns="0" bIns="0" rtlCol="0" anchor="ctr"/>
          <a:lstStyle/>
          <a:p>
            <a:pPr indent="0" marL="0">
              <a:buNone/>
            </a:pPr>
            <a:r>
              <a:rPr lang="en-US" sz="3600" b="1" dirty="0">
                <a:solidFill>
                  <a:srgbClr val="F5A27A"/>
                </a:solidFill>
                <a:latin typeface="Cambria" pitchFamily="34" charset="0"/>
                <a:ea typeface="Cambria" pitchFamily="34" charset="-122"/>
                <a:cs typeface="Cambria" pitchFamily="34" charset="-120"/>
              </a:rPr>
              <a:t>3.66</a:t>
            </a:r>
            <a:endParaRPr lang="en-US" sz="3600" dirty="0"/>
          </a:p>
        </p:txBody>
      </p:sp>
      <p:sp>
        <p:nvSpPr>
          <p:cNvPr id="17" name="Finding label 3"/>
          <p:cNvSpPr txBox="1"/>
          <p:nvPr/>
        </p:nvSpPr>
        <p:spPr>
          <a:xfrm>
            <a:off x="8412480" y="4937760"/>
            <a:ext cx="3017520" cy="365760"/>
          </a:xfrm>
          <a:prstGeom prst="rect">
            <a:avLst/>
          </a:prstGeom>
          <a:noFill/>
          <a:ln/>
        </p:spPr>
        <p:txBody>
          <a:bodyPr wrap="square" lIns="0" tIns="0" rIns="0" bIns="0" rtlCol="0" anchor="ctr"/>
          <a:lstStyle/>
          <a:p>
            <a:pPr indent="0" marL="0">
              <a:buNone/>
            </a:pPr>
            <a:r>
              <a:rPr lang="en-US" sz="1600" b="1" dirty="0">
                <a:solidFill>
                  <a:srgbClr val="FFFFFF"/>
                </a:solidFill>
              </a:rPr>
              <a:t>Maximum diversification</a:t>
            </a:r>
            <a:endParaRPr lang="en-US" sz="1600" dirty="0"/>
          </a:p>
        </p:txBody>
      </p:sp>
      <p:sp>
        <p:nvSpPr>
          <p:cNvPr id="18" name="Finding text 3"/>
          <p:cNvSpPr txBox="1"/>
          <p:nvPr/>
        </p:nvSpPr>
        <p:spPr>
          <a:xfrm>
            <a:off x="8412480" y="5303520"/>
            <a:ext cx="3017520" cy="731520"/>
          </a:xfrm>
          <a:prstGeom prst="rect">
            <a:avLst/>
          </a:prstGeom>
          <a:noFill/>
          <a:ln/>
        </p:spPr>
        <p:txBody>
          <a:bodyPr wrap="square" lIns="0" tIns="0" rIns="0" bIns="0" rtlCol="0" anchor="t"/>
          <a:lstStyle/>
          <a:p>
            <a:pPr indent="0" marL="0">
              <a:buNone/>
            </a:pPr>
            <a:r>
              <a:rPr lang="en-US" sz="1400" dirty="0">
                <a:solidFill>
                  <a:srgbClr val="D5DCE8"/>
                </a:solidFill>
              </a:rPr>
              <a:t>Highest estimated diversification ratio, yet a realized Sharpe of only 0.604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Data, Backtest Design and Five Portfolio Rules</a:t>
            </a:r>
            <a:endParaRPr lang="en-US" sz="3000" dirty="0"/>
          </a:p>
        </p:txBody>
      </p:sp>
      <p:sp>
        <p:nvSpPr>
          <p:cNvPr id="3" name="Data and design"/>
          <p:cNvSpPr txBox="1"/>
          <p:nvPr/>
        </p:nvSpPr>
        <p:spPr>
          <a:xfrm>
            <a:off x="457200" y="1234440"/>
            <a:ext cx="5257800" cy="3246120"/>
          </a:xfrm>
          <a:prstGeom prst="rect">
            <a:avLst/>
          </a:prstGeom>
          <a:noFill/>
          <a:ln/>
        </p:spPr>
        <p:txBody>
          <a:bodyPr wrap="square" lIns="0" tIns="0" rIns="0" bIns="0" rtlCol="0" anchor="t"/>
          <a:lstStyle/>
          <a:p>
            <a:pPr indent="0" marL="0">
              <a:spcAft>
                <a:spcPts val="600"/>
              </a:spcAft>
              <a:buNone/>
            </a:pPr>
            <a:r>
              <a:rPr lang="en-US" sz="1800" b="1" dirty="0">
                <a:solidFill>
                  <a:srgbClr val="1F2A44"/>
                </a:solidFill>
              </a:rPr>
              <a:t>Data</a:t>
            </a:r>
            <a:endParaRPr lang="en-US" sz="1400" dirty="0"/>
          </a:p>
          <a:p>
            <a:pPr marL="342900" indent="-342900">
              <a:spcAft>
                <a:spcPts val="600"/>
              </a:spcAft>
              <a:buSzPct val="100000"/>
              <a:buChar char="•"/>
            </a:pPr>
            <a:r>
              <a:rPr lang="en-US" sz="1400" dirty="0">
                <a:solidFill>
                  <a:srgbClr val="1B1F2A"/>
                </a:solidFill>
              </a:rPr>
              <a:t>CRSP monthly stock file (msf_v2): U.S. common stocks on NYSE, AMEX and Nasdaq</a:t>
            </a:r>
            <a:endParaRPr lang="en-US" sz="1400" dirty="0"/>
          </a:p>
          <a:p>
            <a:pPr marL="342900" indent="-342900">
              <a:spcAft>
                <a:spcPts val="600"/>
              </a:spcAft>
              <a:buSzPct val="100000"/>
              <a:buChar char="•"/>
            </a:pPr>
            <a:r>
              <a:rPr lang="en-US" sz="1400" dirty="0">
                <a:solidFill>
                  <a:srgbClr val="1B1F2A"/>
                </a:solidFill>
              </a:rPr>
              <a:t>Market excess return and risk-free rate: Kenneth French (MktRf.csv, ÷100)</a:t>
            </a:r>
            <a:endParaRPr lang="en-US" sz="1400" dirty="0"/>
          </a:p>
          <a:p>
            <a:pPr indent="0" marL="0">
              <a:spcAft>
                <a:spcPts val="600"/>
              </a:spcAft>
              <a:buNone/>
            </a:pPr>
            <a:r>
              <a:rPr lang="en-US" sz="1800" b="1" dirty="0">
                <a:solidFill>
                  <a:srgbClr val="1F2A44"/>
                </a:solidFill>
              </a:rPr>
              <a:t>Design</a:t>
            </a:r>
            <a:endParaRPr lang="en-US" sz="1400" dirty="0"/>
          </a:p>
          <a:p>
            <a:pPr marL="342900" indent="-342900">
              <a:spcAft>
                <a:spcPts val="600"/>
              </a:spcAft>
              <a:buSzPct val="100000"/>
              <a:buChar char="•"/>
            </a:pPr>
            <a:r>
              <a:rPr lang="en-US" sz="1400" dirty="0">
                <a:solidFill>
                  <a:srgbClr val="1B1F2A"/>
                </a:solidFill>
              </a:rPr>
              <a:t>Universe: 500 largest stocks with a complete 60-month history</a:t>
            </a:r>
            <a:endParaRPr lang="en-US" sz="1400" dirty="0"/>
          </a:p>
          <a:p>
            <a:pPr marL="342900" indent="-342900">
              <a:spcAft>
                <a:spcPts val="600"/>
              </a:spcAft>
              <a:buSzPct val="100000"/>
              <a:buChar char="•"/>
            </a:pPr>
            <a:r>
              <a:rPr lang="en-US" sz="1400" dirty="0">
                <a:solidFill>
                  <a:srgbClr val="1B1F2A"/>
                </a:solidFill>
              </a:rPr>
              <a:t>Out of sample 1995-01 to 2025-12: 372 months, rebalanced monthly</a:t>
            </a:r>
            <a:endParaRPr lang="en-US" sz="1400" dirty="0"/>
          </a:p>
          <a:p>
            <a:pPr marL="342900" indent="-342900">
              <a:spcAft>
                <a:spcPts val="600"/>
              </a:spcAft>
              <a:buSzPct val="100000"/>
              <a:buChar char="•"/>
            </a:pPr>
            <a:r>
              <a:rPr lang="en-US" sz="1400" dirty="0">
                <a:solidFill>
                  <a:srgbClr val="1B1F2A"/>
                </a:solidFill>
              </a:rPr>
              <a:t>Missing next-month return earns RF; all results gross of trading costs</a:t>
            </a:r>
            <a:endParaRPr lang="en-US" sz="1400" dirty="0"/>
          </a:p>
        </p:txBody>
      </p:sp>
      <p:sp>
        <p:nvSpPr>
          <p:cNvPr id="4" name="Timeline step 1"/>
          <p:cNvSpPr/>
          <p:nvPr/>
        </p:nvSpPr>
        <p:spPr>
          <a:xfrm>
            <a:off x="457200" y="4800600"/>
            <a:ext cx="1108710" cy="914400"/>
          </a:xfrm>
          <a:prstGeom prst="roundRect">
            <a:avLst>
              <a:gd name="adj" fmla="val 8000"/>
            </a:avLst>
          </a:prstGeom>
          <a:solidFill>
            <a:srgbClr val="1F2A44"/>
          </a:solidFill>
          <a:ln w="12700">
            <a:solidFill>
              <a:srgbClr val="1F2A44"/>
            </a:solidFill>
            <a:prstDash val="solid"/>
          </a:ln>
        </p:spPr>
      </p:sp>
      <p:sp>
        <p:nvSpPr>
          <p:cNvPr id="5" name="Timeline text 1"/>
          <p:cNvSpPr txBox="1"/>
          <p:nvPr/>
        </p:nvSpPr>
        <p:spPr>
          <a:xfrm>
            <a:off x="502920" y="4800600"/>
            <a:ext cx="1017270" cy="914400"/>
          </a:xfrm>
          <a:prstGeom prst="rect">
            <a:avLst/>
          </a:prstGeom>
          <a:noFill/>
          <a:ln/>
        </p:spPr>
        <p:txBody>
          <a:bodyPr wrap="square" lIns="0" tIns="0" rIns="0" bIns="0" rtlCol="0" anchor="ctr"/>
          <a:lstStyle/>
          <a:p>
            <a:pPr algn="ctr" indent="0" marL="0">
              <a:buNone/>
            </a:pPr>
            <a:r>
              <a:rPr lang="en-US" sz="1200" b="1" dirty="0">
                <a:solidFill>
                  <a:srgbClr val="FFFFFF"/>
                </a:solidFill>
              </a:rPr>
              <a:t>Estimate V</a:t>
            </a:r>
            <a:endParaRPr lang="en-US" sz="1200" dirty="0"/>
          </a:p>
          <a:p>
            <a:pPr algn="ctr" indent="0" marL="0">
              <a:buNone/>
            </a:pPr>
            <a:r>
              <a:rPr lang="en-US" sz="1100" dirty="0">
                <a:solidFill>
                  <a:srgbClr val="FFFFFF"/>
                </a:solidFill>
              </a:rPr>
              <a:t>months t−59 … t</a:t>
            </a:r>
            <a:endParaRPr lang="en-US" sz="1200" dirty="0"/>
          </a:p>
        </p:txBody>
      </p:sp>
      <p:sp>
        <p:nvSpPr>
          <p:cNvPr id="6" name="Timeline arrow 1"/>
          <p:cNvSpPr/>
          <p:nvPr/>
        </p:nvSpPr>
        <p:spPr>
          <a:xfrm rot="5400000">
            <a:off x="1639062" y="5148072"/>
            <a:ext cx="146304" cy="219456"/>
          </a:xfrm>
          <a:prstGeom prst="triangle">
            <a:avLst/>
          </a:prstGeom>
          <a:solidFill>
            <a:srgbClr val="5B6577"/>
          </a:solidFill>
          <a:ln w="12700">
            <a:solidFill>
              <a:srgbClr val="5B6577"/>
            </a:solidFill>
            <a:prstDash val="solid"/>
          </a:ln>
        </p:spPr>
      </p:sp>
      <p:sp>
        <p:nvSpPr>
          <p:cNvPr id="7" name="Timeline step 2"/>
          <p:cNvSpPr/>
          <p:nvPr/>
        </p:nvSpPr>
        <p:spPr>
          <a:xfrm>
            <a:off x="1840230" y="4800600"/>
            <a:ext cx="1108710" cy="914400"/>
          </a:xfrm>
          <a:prstGeom prst="roundRect">
            <a:avLst>
              <a:gd name="adj" fmla="val 8000"/>
            </a:avLst>
          </a:prstGeom>
          <a:solidFill>
            <a:srgbClr val="1F2A44"/>
          </a:solidFill>
          <a:ln w="12700">
            <a:solidFill>
              <a:srgbClr val="1F2A44"/>
            </a:solidFill>
            <a:prstDash val="solid"/>
          </a:ln>
        </p:spPr>
      </p:sp>
      <p:sp>
        <p:nvSpPr>
          <p:cNvPr id="8" name="Timeline text 2"/>
          <p:cNvSpPr txBox="1"/>
          <p:nvPr/>
        </p:nvSpPr>
        <p:spPr>
          <a:xfrm>
            <a:off x="1885950" y="4800600"/>
            <a:ext cx="1017270" cy="914400"/>
          </a:xfrm>
          <a:prstGeom prst="rect">
            <a:avLst/>
          </a:prstGeom>
          <a:noFill/>
          <a:ln/>
        </p:spPr>
        <p:txBody>
          <a:bodyPr wrap="square" lIns="0" tIns="0" rIns="0" bIns="0" rtlCol="0" anchor="ctr"/>
          <a:lstStyle/>
          <a:p>
            <a:pPr algn="ctr" indent="0" marL="0">
              <a:buNone/>
            </a:pPr>
            <a:r>
              <a:rPr lang="en-US" sz="1200" b="1" dirty="0">
                <a:solidFill>
                  <a:srgbClr val="FFFFFF"/>
                </a:solidFill>
              </a:rPr>
              <a:t>Form portfolio</a:t>
            </a:r>
            <a:endParaRPr lang="en-US" sz="1200" dirty="0"/>
          </a:p>
          <a:p>
            <a:pPr algn="ctr" indent="0" marL="0">
              <a:buNone/>
            </a:pPr>
            <a:r>
              <a:rPr lang="en-US" sz="1100" dirty="0">
                <a:solidFill>
                  <a:srgbClr val="FFFFFF"/>
                </a:solidFill>
              </a:rPr>
              <a:t>at month-end t</a:t>
            </a:r>
            <a:endParaRPr lang="en-US" sz="1200" dirty="0"/>
          </a:p>
        </p:txBody>
      </p:sp>
      <p:sp>
        <p:nvSpPr>
          <p:cNvPr id="9" name="Timeline arrow 2"/>
          <p:cNvSpPr/>
          <p:nvPr/>
        </p:nvSpPr>
        <p:spPr>
          <a:xfrm rot="5400000">
            <a:off x="3022092" y="5148072"/>
            <a:ext cx="146304" cy="219456"/>
          </a:xfrm>
          <a:prstGeom prst="triangle">
            <a:avLst/>
          </a:prstGeom>
          <a:solidFill>
            <a:srgbClr val="5B6577"/>
          </a:solidFill>
          <a:ln w="12700">
            <a:solidFill>
              <a:srgbClr val="5B6577"/>
            </a:solidFill>
            <a:prstDash val="solid"/>
          </a:ln>
        </p:spPr>
      </p:sp>
      <p:sp>
        <p:nvSpPr>
          <p:cNvPr id="10" name="Timeline step 3"/>
          <p:cNvSpPr/>
          <p:nvPr/>
        </p:nvSpPr>
        <p:spPr>
          <a:xfrm>
            <a:off x="3223260" y="4800600"/>
            <a:ext cx="1108710" cy="914400"/>
          </a:xfrm>
          <a:prstGeom prst="roundRect">
            <a:avLst>
              <a:gd name="adj" fmla="val 8000"/>
            </a:avLst>
          </a:prstGeom>
          <a:solidFill>
            <a:srgbClr val="2A78D6"/>
          </a:solidFill>
          <a:ln w="12700">
            <a:solidFill>
              <a:srgbClr val="2A78D6"/>
            </a:solidFill>
            <a:prstDash val="solid"/>
          </a:ln>
        </p:spPr>
      </p:sp>
      <p:sp>
        <p:nvSpPr>
          <p:cNvPr id="11" name="Timeline text 3"/>
          <p:cNvSpPr txBox="1"/>
          <p:nvPr/>
        </p:nvSpPr>
        <p:spPr>
          <a:xfrm>
            <a:off x="3268980" y="4800600"/>
            <a:ext cx="1017270" cy="914400"/>
          </a:xfrm>
          <a:prstGeom prst="rect">
            <a:avLst/>
          </a:prstGeom>
          <a:noFill/>
          <a:ln/>
        </p:spPr>
        <p:txBody>
          <a:bodyPr wrap="square" lIns="0" tIns="0" rIns="0" bIns="0" rtlCol="0" anchor="ctr"/>
          <a:lstStyle/>
          <a:p>
            <a:pPr algn="ctr" indent="0" marL="0">
              <a:buNone/>
            </a:pPr>
            <a:r>
              <a:rPr lang="en-US" sz="1200" b="1" dirty="0">
                <a:solidFill>
                  <a:srgbClr val="FFFFFF"/>
                </a:solidFill>
              </a:rPr>
              <a:t>Record return</a:t>
            </a:r>
            <a:endParaRPr lang="en-US" sz="1200" dirty="0"/>
          </a:p>
          <a:p>
            <a:pPr algn="ctr" indent="0" marL="0">
              <a:buNone/>
            </a:pPr>
            <a:r>
              <a:rPr lang="en-US" sz="1100" dirty="0">
                <a:solidFill>
                  <a:srgbClr val="FFFFFF"/>
                </a:solidFill>
              </a:rPr>
              <a:t>in month t+1</a:t>
            </a:r>
            <a:endParaRPr lang="en-US" sz="1200" dirty="0"/>
          </a:p>
        </p:txBody>
      </p:sp>
      <p:sp>
        <p:nvSpPr>
          <p:cNvPr id="12" name="Timeline arrow 3"/>
          <p:cNvSpPr/>
          <p:nvPr/>
        </p:nvSpPr>
        <p:spPr>
          <a:xfrm rot="5400000">
            <a:off x="4405122" y="5148072"/>
            <a:ext cx="146304" cy="219456"/>
          </a:xfrm>
          <a:prstGeom prst="triangle">
            <a:avLst/>
          </a:prstGeom>
          <a:solidFill>
            <a:srgbClr val="5B6577"/>
          </a:solidFill>
          <a:ln w="12700">
            <a:solidFill>
              <a:srgbClr val="5B6577"/>
            </a:solidFill>
            <a:prstDash val="solid"/>
          </a:ln>
        </p:spPr>
      </p:sp>
      <p:sp>
        <p:nvSpPr>
          <p:cNvPr id="13" name="Timeline step 4"/>
          <p:cNvSpPr/>
          <p:nvPr/>
        </p:nvSpPr>
        <p:spPr>
          <a:xfrm>
            <a:off x="4606290" y="4800600"/>
            <a:ext cx="1108710" cy="914400"/>
          </a:xfrm>
          <a:prstGeom prst="roundRect">
            <a:avLst>
              <a:gd name="adj" fmla="val 8000"/>
            </a:avLst>
          </a:prstGeom>
          <a:solidFill>
            <a:srgbClr val="1F2A44"/>
          </a:solidFill>
          <a:ln w="12700">
            <a:solidFill>
              <a:srgbClr val="1F2A44"/>
            </a:solidFill>
            <a:prstDash val="solid"/>
          </a:ln>
        </p:spPr>
      </p:sp>
      <p:sp>
        <p:nvSpPr>
          <p:cNvPr id="14" name="Timeline text 4"/>
          <p:cNvSpPr txBox="1"/>
          <p:nvPr/>
        </p:nvSpPr>
        <p:spPr>
          <a:xfrm>
            <a:off x="4652010" y="4800600"/>
            <a:ext cx="1017270" cy="914400"/>
          </a:xfrm>
          <a:prstGeom prst="rect">
            <a:avLst/>
          </a:prstGeom>
          <a:noFill/>
          <a:ln/>
        </p:spPr>
        <p:txBody>
          <a:bodyPr wrap="square" lIns="0" tIns="0" rIns="0" bIns="0" rtlCol="0" anchor="ctr"/>
          <a:lstStyle/>
          <a:p>
            <a:pPr algn="ctr" indent="0" marL="0">
              <a:buNone/>
            </a:pPr>
            <a:r>
              <a:rPr lang="en-US" sz="1200" b="1" dirty="0">
                <a:solidFill>
                  <a:srgbClr val="FFFFFF"/>
                </a:solidFill>
              </a:rPr>
              <a:t>Roll forward</a:t>
            </a:r>
            <a:endParaRPr lang="en-US" sz="1200" dirty="0"/>
          </a:p>
          <a:p>
            <a:pPr algn="ctr" indent="0" marL="0">
              <a:buNone/>
            </a:pPr>
            <a:r>
              <a:rPr lang="en-US" sz="1100" dirty="0">
                <a:solidFill>
                  <a:srgbClr val="FFFFFF"/>
                </a:solidFill>
              </a:rPr>
              <a:t>one month</a:t>
            </a:r>
            <a:endParaRPr lang="en-US" sz="1200" dirty="0"/>
          </a:p>
        </p:txBody>
      </p:sp>
      <p:sp>
        <p:nvSpPr>
          <p:cNvPr id="15" name="Timeline caption"/>
          <p:cNvSpPr txBox="1"/>
          <p:nvPr/>
        </p:nvSpPr>
        <p:spPr>
          <a:xfrm>
            <a:off x="457200" y="5897880"/>
            <a:ext cx="5257800" cy="274320"/>
          </a:xfrm>
          <a:prstGeom prst="rect">
            <a:avLst/>
          </a:prstGeom>
          <a:noFill/>
          <a:ln/>
        </p:spPr>
        <p:txBody>
          <a:bodyPr wrap="square" lIns="0" tIns="0" rIns="0" bIns="0" rtlCol="0" anchor="ctr"/>
          <a:lstStyle/>
          <a:p>
            <a:pPr indent="0" marL="0">
              <a:buNone/>
            </a:pPr>
            <a:r>
              <a:rPr lang="en-US" sz="1100" i="1" dirty="0">
                <a:solidFill>
                  <a:srgbClr val="5B6577"/>
                </a:solidFill>
              </a:rPr>
              <a:t>Repeated for each of the 372 out-of-sample months</a:t>
            </a:r>
            <a:endParaRPr lang="en-US" sz="1100" dirty="0"/>
          </a:p>
        </p:txBody>
      </p:sp>
      <p:graphicFrame>
        <p:nvGraphicFramePr>
          <p:cNvPr id="3" name="Definitions"/>
          <p:cNvGraphicFramePr>
            <a:graphicFrameLocks noGrp="1"/>
          </p:cNvGraphicFramePr>
          <p:nvPr>
            <p:extLst>
              <p:ext uri="{D42A27DB-BD31-4B8C-83A1-F6EECF244321}">
                <p14:modId xmlns:p14="http://schemas.microsoft.com/office/powerpoint/2010/main" val="1579011935"/>
              </p:ext>
            </p:extLst>
          </p:nvPr>
        </p:nvGraphicFramePr>
        <p:xfrm>
          <a:off x="6172200" y="1280160"/>
          <a:ext cx="5559552" cy="914400"/>
        </p:xfrm>
        <a:graphic>
          <a:graphicData uri="http://schemas.openxmlformats.org/drawingml/2006/table">
            <a:tbl>
              <a:tblPr/>
              <a:tblGrid>
                <a:gridCol w="2514600"/>
                <a:gridCol w="3044952"/>
              </a:tblGrid>
              <a:tr h="420624">
                <a:tc>
                  <a:txBody>
                    <a:bodyPr/>
                    <a:lstStyle/>
                    <a:p>
                      <a:pPr algn="l" indent="0" marL="0">
                        <a:buNone/>
                      </a:pPr>
                      <a:r>
                        <a:rPr lang="en-US" sz="1200" b="1" dirty="0">
                          <a:solidFill>
                            <a:schemeClr val="bg1"/>
                          </a:solidFill>
                        </a:rPr>
                        <a:t>Strategy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l" indent="0" marL="0">
                        <a:buNone/>
                      </a:pPr>
                      <a:r>
                        <a:rPr lang="en-US" sz="1200" b="1" dirty="0">
                          <a:solidFill>
                            <a:schemeClr val="bg1"/>
                          </a:solidFill>
                        </a:rPr>
                        <a:t>Rule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20624">
                <a:tc>
                  <a:txBody>
                    <a:bodyPr/>
                    <a:lstStyle/>
                    <a:p>
                      <a:pPr indent="0" marL="0">
                        <a:buNone/>
                      </a:pPr>
                      <a:r>
                        <a:rPr lang="en-US" sz="1400" dirty="0">
                          <a:solidFill>
                            <a:srgbClr val="EDA100"/>
                          </a:solidFill>
                        </a:rPr>
                        <a:t>■  </a:t>
                      </a:r>
                      <a:pPr indent="0" marL="0">
                        <a:buNone/>
                      </a:pPr>
                      <a:r>
                        <a:rPr lang="en-US" sz="1400" b="1" dirty="0">
                          <a:solidFill>
                            <a:srgbClr val="1B1F2A"/>
                          </a:solidFill>
                        </a:rPr>
                        <a:t>Equally weighted</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indent="0" marL="0">
                        <a:buNone/>
                      </a:pPr>
                      <a:r>
                        <a:rPr lang="en-US" sz="1400" dirty="0">
                          <a:solidFill>
                            <a:srgbClr val="1B1F2A"/>
                          </a:solidFill>
                        </a:rPr>
                        <a:t>xᵢ = 1/n</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20624">
                <a:tc>
                  <a:txBody>
                    <a:bodyPr/>
                    <a:lstStyle/>
                    <a:p>
                      <a:pPr indent="0" marL="0">
                        <a:buNone/>
                      </a:pPr>
                      <a:r>
                        <a:rPr lang="en-US" sz="1400" dirty="0">
                          <a:solidFill>
                            <a:srgbClr val="E87BA4"/>
                          </a:solidFill>
                        </a:rPr>
                        <a:t>■  </a:t>
                      </a:r>
                      <a:pPr indent="0" marL="0">
                        <a:buNone/>
                      </a:pPr>
                      <a:r>
                        <a:rPr lang="en-US" sz="1400" b="1" dirty="0">
                          <a:solidFill>
                            <a:srgbClr val="1B1F2A"/>
                          </a:solidFill>
                        </a:rPr>
                        <a:t>Value weighted</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indent="0" marL="0">
                        <a:buNone/>
                      </a:pPr>
                      <a:r>
                        <a:rPr lang="en-US" sz="1400" dirty="0">
                          <a:solidFill>
                            <a:srgbClr val="1B1F2A"/>
                          </a:solidFill>
                        </a:rPr>
                        <a:t>xᵢ ∝ market capᵢ</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20624">
                <a:tc>
                  <a:txBody>
                    <a:bodyPr/>
                    <a:lstStyle/>
                    <a:p>
                      <a:pPr indent="0" marL="0">
                        <a:buNone/>
                      </a:pPr>
                      <a:r>
                        <a:rPr lang="en-US" sz="1400" dirty="0">
                          <a:solidFill>
                            <a:srgbClr val="2A78D6"/>
                          </a:solidFill>
                        </a:rPr>
                        <a:t>■  </a:t>
                      </a:r>
                      <a:pPr indent="0" marL="0">
                        <a:buNone/>
                      </a:pPr>
                      <a:r>
                        <a:rPr lang="en-US" sz="1400" b="1" dirty="0">
                          <a:solidFill>
                            <a:srgbClr val="1B1F2A"/>
                          </a:solidFill>
                        </a:rPr>
                        <a:t>Minimum risk</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indent="0" marL="0">
                        <a:buNone/>
                      </a:pPr>
                      <a:r>
                        <a:rPr lang="en-US" sz="1400" dirty="0">
                          <a:solidFill>
                            <a:srgbClr val="1B1F2A"/>
                          </a:solidFill>
                        </a:rPr>
                        <a:t>min  x′Vx</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20624">
                <a:tc>
                  <a:txBody>
                    <a:bodyPr/>
                    <a:lstStyle/>
                    <a:p>
                      <a:pPr indent="0" marL="0">
                        <a:buNone/>
                      </a:pPr>
                      <a:r>
                        <a:rPr lang="en-US" sz="1400" dirty="0">
                          <a:solidFill>
                            <a:srgbClr val="EB6834"/>
                          </a:solidFill>
                        </a:rPr>
                        <a:t>■  </a:t>
                      </a:r>
                      <a:pPr indent="0" marL="0">
                        <a:buNone/>
                      </a:pPr>
                      <a:r>
                        <a:rPr lang="en-US" sz="1400" b="1" dirty="0">
                          <a:solidFill>
                            <a:srgbClr val="1B1F2A"/>
                          </a:solidFill>
                        </a:rPr>
                        <a:t>Maximum diversification</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indent="0" marL="0">
                        <a:buNone/>
                      </a:pPr>
                      <a:r>
                        <a:rPr lang="en-US" sz="1400" dirty="0">
                          <a:solidFill>
                            <a:srgbClr val="1B1F2A"/>
                          </a:solidFill>
                        </a:rPr>
                        <a:t>max  σ′x / √(x′Vx),  σᵢ = √Vᵢᵢ</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20624">
                <a:tc>
                  <a:txBody>
                    <a:bodyPr/>
                    <a:lstStyle/>
                    <a:p>
                      <a:pPr indent="0" marL="0">
                        <a:buNone/>
                      </a:pPr>
                      <a:r>
                        <a:rPr lang="en-US" sz="1400" dirty="0">
                          <a:solidFill>
                            <a:srgbClr val="1BAF7A"/>
                          </a:solidFill>
                        </a:rPr>
                        <a:t>■  </a:t>
                      </a:r>
                      <a:pPr indent="0" marL="0">
                        <a:buNone/>
                      </a:pPr>
                      <a:r>
                        <a:rPr lang="en-US" sz="1400" b="1" dirty="0">
                          <a:solidFill>
                            <a:srgbClr val="1B1F2A"/>
                          </a:solidFill>
                        </a:rPr>
                        <a:t>Risk parity</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indent="0" marL="0">
                        <a:buNone/>
                      </a:pPr>
                      <a:r>
                        <a:rPr lang="en-US" sz="1400" dirty="0">
                          <a:solidFill>
                            <a:srgbClr val="1B1F2A"/>
                          </a:solidFill>
                        </a:rPr>
                        <a:t>xᵢ (Vx)ᵢ equal for every stock i</a:t>
                      </a:r>
                      <a:endParaRPr lang="en-US" sz="14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17" name="Model card"/>
          <p:cNvSpPr/>
          <p:nvPr/>
        </p:nvSpPr>
        <p:spPr>
          <a:xfrm>
            <a:off x="6172200" y="4023360"/>
            <a:ext cx="5559552" cy="2148840"/>
          </a:xfrm>
          <a:prstGeom prst="roundRect">
            <a:avLst>
              <a:gd name="adj" fmla="val 3404"/>
            </a:avLst>
          </a:prstGeom>
          <a:solidFill>
            <a:srgbClr val="EEF1F5"/>
          </a:solidFill>
          <a:ln w="12700">
            <a:solidFill>
              <a:srgbClr val="EEF1F5"/>
            </a:solidFill>
            <a:prstDash val="solid"/>
          </a:ln>
        </p:spPr>
      </p:sp>
      <p:sp>
        <p:nvSpPr>
          <p:cNvPr id="18" name="Model text"/>
          <p:cNvSpPr txBox="1"/>
          <p:nvPr/>
        </p:nvSpPr>
        <p:spPr>
          <a:xfrm>
            <a:off x="6400800" y="4114800"/>
            <a:ext cx="5102352" cy="1965960"/>
          </a:xfrm>
          <a:prstGeom prst="rect">
            <a:avLst/>
          </a:prstGeom>
          <a:noFill/>
          <a:ln/>
        </p:spPr>
        <p:txBody>
          <a:bodyPr wrap="square" lIns="0" tIns="0" rIns="0" bIns="0" rtlCol="0" anchor="ctr"/>
          <a:lstStyle/>
          <a:p>
            <a:pPr indent="0" marL="0">
              <a:spcAft>
                <a:spcPts val="600"/>
              </a:spcAft>
              <a:buNone/>
            </a:pPr>
            <a:r>
              <a:rPr lang="en-US" sz="1400" b="1" dirty="0">
                <a:solidFill>
                  <a:srgbClr val="1B1F2A"/>
                </a:solidFill>
              </a:rPr>
              <a:t>All portfolios: </a:t>
            </a:r>
            <a:pPr indent="0" marL="0">
              <a:spcAft>
                <a:spcPts val="600"/>
              </a:spcAft>
              <a:buNone/>
            </a:pPr>
            <a:r>
              <a:rPr lang="en-US" sz="1400" dirty="0">
                <a:solidFill>
                  <a:srgbClr val="1B1F2A"/>
                </a:solidFill>
              </a:rPr>
              <a:t>1′x = 1,  x ≥ 0  (fully invested, long only)</a:t>
            </a:r>
            <a:endParaRPr lang="en-US" sz="1400" dirty="0"/>
          </a:p>
          <a:p>
            <a:pPr indent="0" marL="0">
              <a:spcAft>
                <a:spcPts val="600"/>
              </a:spcAft>
              <a:buNone/>
            </a:pPr>
            <a:r>
              <a:rPr lang="en-US" sz="1400" b="1" dirty="0">
                <a:solidFill>
                  <a:srgbClr val="1B1F2A"/>
                </a:solidFill>
              </a:rPr>
              <a:t>Baseline covariance: </a:t>
            </a:r>
            <a:pPr indent="0" marL="0">
              <a:spcAft>
                <a:spcPts val="600"/>
              </a:spcAft>
              <a:buNone/>
            </a:pPr>
            <a:r>
              <a:rPr lang="en-US" sz="1400" dirty="0">
                <a:solidFill>
                  <a:srgbClr val="1B1F2A"/>
                </a:solidFill>
              </a:rPr>
              <a:t>V = σ²ₘ ββ′ + Diag(ω²)</a:t>
            </a:r>
            <a:endParaRPr lang="en-US" sz="1400" dirty="0"/>
          </a:p>
          <a:p>
            <a:pPr indent="0" marL="0">
              <a:spcAft>
                <a:spcPts val="600"/>
              </a:spcAft>
              <a:buNone/>
            </a:pPr>
            <a:r>
              <a:rPr lang="en-US" sz="1400" dirty="0">
                <a:solidFill>
                  <a:srgbClr val="1B1F2A"/>
                </a:solidFill>
              </a:rPr>
              <a:t>OLS on 60 months of excess returns; Blume betas β = ⅔β̂ + ⅓</a:t>
            </a:r>
            <a:endParaRPr lang="en-US" sz="1400" dirty="0"/>
          </a:p>
          <a:p>
            <a:pPr indent="0" marL="0">
              <a:spcAft>
                <a:spcPts val="600"/>
              </a:spcAft>
              <a:buNone/>
            </a:pPr>
            <a:r>
              <a:rPr lang="en-US" sz="1400" b="1" dirty="0">
                <a:solidFill>
                  <a:srgbClr val="1B1F2A"/>
                </a:solidFill>
              </a:rPr>
              <a:t>Optimizers: </a:t>
            </a:r>
            <a:pPr indent="0" marL="0">
              <a:spcAft>
                <a:spcPts val="600"/>
              </a:spcAft>
              <a:buNone/>
            </a:pPr>
            <a:r>
              <a:rPr lang="en-US" sz="1400" dirty="0">
                <a:solidFill>
                  <a:srgbClr val="1B1F2A"/>
                </a:solidFill>
              </a:rPr>
              <a:t>closed-form solutions for the single-factor model (Homework 4, Exercise 2), checked against QP solvers</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Lower Risk Does Not Mean Higher Growth</a:t>
            </a:r>
            <a:endParaRPr lang="en-US" sz="3000" dirty="0"/>
          </a:p>
        </p:txBody>
      </p:sp>
      <p:graphicFrame>
        <p:nvGraphicFramePr>
          <p:cNvPr id="3" name="Cumulative returns" descr=""/>
          <p:cNvGraphicFramePr/>
          <p:nvPr/>
        </p:nvGraphicFramePr>
        <p:xfrm>
          <a:off x="457200" y="1188720"/>
          <a:ext cx="8138160" cy="5029200"/>
        </p:xfrm>
        <a:graphic xmlns:a="http://schemas.openxmlformats.org/drawingml/2006/main">
          <a:graphicData uri="http://schemas.openxmlformats.org/drawingml/2006/chart">
            <c:chart xmlns:c="http://schemas.openxmlformats.org/drawingml/2006/chart" r:id="rId1"/>
          </a:graphicData>
        </a:graphic>
      </p:graphicFrame>
      <p:sp>
        <p:nvSpPr>
          <p:cNvPr id="4" name="Terminal wealth card"/>
          <p:cNvSpPr/>
          <p:nvPr/>
        </p:nvSpPr>
        <p:spPr>
          <a:xfrm>
            <a:off x="8915400" y="1188720"/>
            <a:ext cx="2816352" cy="5029200"/>
          </a:xfrm>
          <a:prstGeom prst="roundRect">
            <a:avLst>
              <a:gd name="adj" fmla="val 2597"/>
            </a:avLst>
          </a:prstGeom>
          <a:solidFill>
            <a:srgbClr val="EEF1F5"/>
          </a:solidFill>
          <a:ln w="12700">
            <a:solidFill>
              <a:srgbClr val="EEF1F5"/>
            </a:solidFill>
            <a:prstDash val="solid"/>
          </a:ln>
        </p:spPr>
      </p:sp>
      <p:sp>
        <p:nvSpPr>
          <p:cNvPr id="5" name="Terminal wealth title"/>
          <p:cNvSpPr txBox="1"/>
          <p:nvPr/>
        </p:nvSpPr>
        <p:spPr>
          <a:xfrm>
            <a:off x="9144000" y="1325880"/>
            <a:ext cx="2359152" cy="365760"/>
          </a:xfrm>
          <a:prstGeom prst="rect">
            <a:avLst/>
          </a:prstGeom>
          <a:noFill/>
          <a:ln/>
        </p:spPr>
        <p:txBody>
          <a:bodyPr wrap="square" lIns="0" tIns="0" rIns="0" bIns="0" rtlCol="0" anchor="ctr"/>
          <a:lstStyle/>
          <a:p>
            <a:pPr indent="0" marL="0">
              <a:buNone/>
            </a:pPr>
            <a:r>
              <a:rPr lang="en-US" sz="1600" b="1" dirty="0">
                <a:solidFill>
                  <a:srgbClr val="1F2A44"/>
                </a:solidFill>
              </a:rPr>
              <a:t>Growth of $1 by 2025</a:t>
            </a:r>
            <a:endParaRPr lang="en-US" sz="1600" dirty="0"/>
          </a:p>
        </p:txBody>
      </p:sp>
      <p:sp>
        <p:nvSpPr>
          <p:cNvPr id="6" name="Terminal ew"/>
          <p:cNvSpPr txBox="1"/>
          <p:nvPr/>
        </p:nvSpPr>
        <p:spPr>
          <a:xfrm>
            <a:off x="9144000" y="1828800"/>
            <a:ext cx="1005840" cy="457200"/>
          </a:xfrm>
          <a:prstGeom prst="rect">
            <a:avLst/>
          </a:prstGeom>
          <a:noFill/>
          <a:ln/>
        </p:spPr>
        <p:txBody>
          <a:bodyPr wrap="square" lIns="0" tIns="0" rIns="0" bIns="0" rtlCol="0" anchor="ctr"/>
          <a:lstStyle/>
          <a:p>
            <a:pPr indent="0" marL="0">
              <a:buNone/>
            </a:pPr>
            <a:r>
              <a:rPr lang="en-US" sz="2200" b="1" dirty="0">
                <a:solidFill>
                  <a:srgbClr val="EDA100"/>
                </a:solidFill>
                <a:latin typeface="Cambria" pitchFamily="34" charset="0"/>
                <a:ea typeface="Cambria" pitchFamily="34" charset="-122"/>
                <a:cs typeface="Cambria" pitchFamily="34" charset="-120"/>
              </a:rPr>
              <a:t>$30.3</a:t>
            </a:r>
            <a:endParaRPr lang="en-US" sz="2200" dirty="0"/>
          </a:p>
        </p:txBody>
      </p:sp>
      <p:sp>
        <p:nvSpPr>
          <p:cNvPr id="7" name="Terminal label ew"/>
          <p:cNvSpPr txBox="1"/>
          <p:nvPr/>
        </p:nvSpPr>
        <p:spPr>
          <a:xfrm>
            <a:off x="10149840" y="1828800"/>
            <a:ext cx="1444752" cy="457200"/>
          </a:xfrm>
          <a:prstGeom prst="rect">
            <a:avLst/>
          </a:prstGeom>
          <a:noFill/>
          <a:ln/>
        </p:spPr>
        <p:txBody>
          <a:bodyPr wrap="square" lIns="0" tIns="0" rIns="0" bIns="0" rtlCol="0" anchor="ctr"/>
          <a:lstStyle/>
          <a:p>
            <a:pPr indent="0" marL="0">
              <a:buNone/>
            </a:pPr>
            <a:r>
              <a:rPr lang="en-US" sz="1400" dirty="0">
                <a:solidFill>
                  <a:srgbClr val="1B1F2A"/>
                </a:solidFill>
              </a:rPr>
              <a:t>Equally weighted</a:t>
            </a:r>
            <a:endParaRPr lang="en-US" sz="1400" dirty="0"/>
          </a:p>
        </p:txBody>
      </p:sp>
      <p:sp>
        <p:nvSpPr>
          <p:cNvPr id="8" name="Terminal risk_parity"/>
          <p:cNvSpPr txBox="1"/>
          <p:nvPr/>
        </p:nvSpPr>
        <p:spPr>
          <a:xfrm>
            <a:off x="9144000" y="2395728"/>
            <a:ext cx="1005840" cy="457200"/>
          </a:xfrm>
          <a:prstGeom prst="rect">
            <a:avLst/>
          </a:prstGeom>
          <a:noFill/>
          <a:ln/>
        </p:spPr>
        <p:txBody>
          <a:bodyPr wrap="square" lIns="0" tIns="0" rIns="0" bIns="0" rtlCol="0" anchor="ctr"/>
          <a:lstStyle/>
          <a:p>
            <a:pPr indent="0" marL="0">
              <a:buNone/>
            </a:pPr>
            <a:r>
              <a:rPr lang="en-US" sz="2200" b="1" dirty="0">
                <a:solidFill>
                  <a:srgbClr val="1BAF7A"/>
                </a:solidFill>
                <a:latin typeface="Cambria" pitchFamily="34" charset="0"/>
                <a:ea typeface="Cambria" pitchFamily="34" charset="-122"/>
                <a:cs typeface="Cambria" pitchFamily="34" charset="-120"/>
              </a:rPr>
              <a:t>$30.2</a:t>
            </a:r>
            <a:endParaRPr lang="en-US" sz="2200" dirty="0"/>
          </a:p>
        </p:txBody>
      </p:sp>
      <p:sp>
        <p:nvSpPr>
          <p:cNvPr id="9" name="Terminal label risk_parity"/>
          <p:cNvSpPr txBox="1"/>
          <p:nvPr/>
        </p:nvSpPr>
        <p:spPr>
          <a:xfrm>
            <a:off x="10149840" y="2395728"/>
            <a:ext cx="1444752" cy="457200"/>
          </a:xfrm>
          <a:prstGeom prst="rect">
            <a:avLst/>
          </a:prstGeom>
          <a:noFill/>
          <a:ln/>
        </p:spPr>
        <p:txBody>
          <a:bodyPr wrap="square" lIns="0" tIns="0" rIns="0" bIns="0" rtlCol="0" anchor="ctr"/>
          <a:lstStyle/>
          <a:p>
            <a:pPr indent="0" marL="0">
              <a:buNone/>
            </a:pPr>
            <a:r>
              <a:rPr lang="en-US" sz="1400" dirty="0">
                <a:solidFill>
                  <a:srgbClr val="1B1F2A"/>
                </a:solidFill>
              </a:rPr>
              <a:t>Risk parity</a:t>
            </a:r>
            <a:endParaRPr lang="en-US" sz="1400" dirty="0"/>
          </a:p>
        </p:txBody>
      </p:sp>
      <p:sp>
        <p:nvSpPr>
          <p:cNvPr id="10" name="Terminal vw"/>
          <p:cNvSpPr txBox="1"/>
          <p:nvPr/>
        </p:nvSpPr>
        <p:spPr>
          <a:xfrm>
            <a:off x="9144000" y="2962656"/>
            <a:ext cx="1005840" cy="457200"/>
          </a:xfrm>
          <a:prstGeom prst="rect">
            <a:avLst/>
          </a:prstGeom>
          <a:noFill/>
          <a:ln/>
        </p:spPr>
        <p:txBody>
          <a:bodyPr wrap="square" lIns="0" tIns="0" rIns="0" bIns="0" rtlCol="0" anchor="ctr"/>
          <a:lstStyle/>
          <a:p>
            <a:pPr indent="0" marL="0">
              <a:buNone/>
            </a:pPr>
            <a:r>
              <a:rPr lang="en-US" sz="2200" b="1" dirty="0">
                <a:solidFill>
                  <a:srgbClr val="E87BA4"/>
                </a:solidFill>
                <a:latin typeface="Cambria" pitchFamily="34" charset="0"/>
                <a:ea typeface="Cambria" pitchFamily="34" charset="-122"/>
                <a:cs typeface="Cambria" pitchFamily="34" charset="-120"/>
              </a:rPr>
              <a:t>$29.6</a:t>
            </a:r>
            <a:endParaRPr lang="en-US" sz="2200" dirty="0"/>
          </a:p>
        </p:txBody>
      </p:sp>
      <p:sp>
        <p:nvSpPr>
          <p:cNvPr id="11" name="Terminal label vw"/>
          <p:cNvSpPr txBox="1"/>
          <p:nvPr/>
        </p:nvSpPr>
        <p:spPr>
          <a:xfrm>
            <a:off x="10149840" y="2962656"/>
            <a:ext cx="1444752" cy="457200"/>
          </a:xfrm>
          <a:prstGeom prst="rect">
            <a:avLst/>
          </a:prstGeom>
          <a:noFill/>
          <a:ln/>
        </p:spPr>
        <p:txBody>
          <a:bodyPr wrap="square" lIns="0" tIns="0" rIns="0" bIns="0" rtlCol="0" anchor="ctr"/>
          <a:lstStyle/>
          <a:p>
            <a:pPr indent="0" marL="0">
              <a:buNone/>
            </a:pPr>
            <a:r>
              <a:rPr lang="en-US" sz="1400" dirty="0">
                <a:solidFill>
                  <a:srgbClr val="1B1F2A"/>
                </a:solidFill>
              </a:rPr>
              <a:t>Value weighted</a:t>
            </a:r>
            <a:endParaRPr lang="en-US" sz="1400" dirty="0"/>
          </a:p>
        </p:txBody>
      </p:sp>
      <p:sp>
        <p:nvSpPr>
          <p:cNvPr id="12" name="Terminal max_div"/>
          <p:cNvSpPr txBox="1"/>
          <p:nvPr/>
        </p:nvSpPr>
        <p:spPr>
          <a:xfrm>
            <a:off x="9144000" y="3529584"/>
            <a:ext cx="100584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$21.2</a:t>
            </a:r>
            <a:endParaRPr lang="en-US" sz="2200" dirty="0"/>
          </a:p>
        </p:txBody>
      </p:sp>
      <p:sp>
        <p:nvSpPr>
          <p:cNvPr id="13" name="Terminal label max_div"/>
          <p:cNvSpPr txBox="1"/>
          <p:nvPr/>
        </p:nvSpPr>
        <p:spPr>
          <a:xfrm>
            <a:off x="10149840" y="3529584"/>
            <a:ext cx="1444752" cy="457200"/>
          </a:xfrm>
          <a:prstGeom prst="rect">
            <a:avLst/>
          </a:prstGeom>
          <a:noFill/>
          <a:ln/>
        </p:spPr>
        <p:txBody>
          <a:bodyPr wrap="square" lIns="0" tIns="0" rIns="0" bIns="0" rtlCol="0" anchor="ctr"/>
          <a:lstStyle/>
          <a:p>
            <a:pPr indent="0" marL="0">
              <a:buNone/>
            </a:pPr>
            <a:r>
              <a:rPr lang="en-US" sz="1400" dirty="0">
                <a:solidFill>
                  <a:srgbClr val="1B1F2A"/>
                </a:solidFill>
              </a:rPr>
              <a:t>Maximum diversification</a:t>
            </a:r>
            <a:endParaRPr lang="en-US" sz="1400" dirty="0"/>
          </a:p>
        </p:txBody>
      </p:sp>
      <p:sp>
        <p:nvSpPr>
          <p:cNvPr id="14" name="Terminal min_risk"/>
          <p:cNvSpPr txBox="1"/>
          <p:nvPr/>
        </p:nvSpPr>
        <p:spPr>
          <a:xfrm>
            <a:off x="9144000" y="4096512"/>
            <a:ext cx="100584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$11.5</a:t>
            </a:r>
            <a:endParaRPr lang="en-US" sz="2200" dirty="0"/>
          </a:p>
        </p:txBody>
      </p:sp>
      <p:sp>
        <p:nvSpPr>
          <p:cNvPr id="15" name="Terminal label min_risk"/>
          <p:cNvSpPr txBox="1"/>
          <p:nvPr/>
        </p:nvSpPr>
        <p:spPr>
          <a:xfrm>
            <a:off x="10149840" y="4096512"/>
            <a:ext cx="1444752" cy="457200"/>
          </a:xfrm>
          <a:prstGeom prst="rect">
            <a:avLst/>
          </a:prstGeom>
          <a:noFill/>
          <a:ln/>
        </p:spPr>
        <p:txBody>
          <a:bodyPr wrap="square" lIns="0" tIns="0" rIns="0" bIns="0" rtlCol="0" anchor="ctr"/>
          <a:lstStyle/>
          <a:p>
            <a:pPr indent="0" marL="0">
              <a:buNone/>
            </a:pPr>
            <a:r>
              <a:rPr lang="en-US" sz="1400" dirty="0">
                <a:solidFill>
                  <a:srgbClr val="1B1F2A"/>
                </a:solidFill>
              </a:rPr>
              <a:t>Minimum risk</a:t>
            </a:r>
            <a:endParaRPr lang="en-US" sz="1400" dirty="0"/>
          </a:p>
        </p:txBody>
      </p:sp>
      <p:sp>
        <p:nvSpPr>
          <p:cNvPr id="16" name="Terminal takeaway"/>
          <p:cNvSpPr txBox="1"/>
          <p:nvPr/>
        </p:nvSpPr>
        <p:spPr>
          <a:xfrm>
            <a:off x="9144000" y="4754880"/>
            <a:ext cx="2359152" cy="1325880"/>
          </a:xfrm>
          <a:prstGeom prst="rect">
            <a:avLst/>
          </a:prstGeom>
          <a:noFill/>
          <a:ln/>
        </p:spPr>
        <p:txBody>
          <a:bodyPr wrap="square" lIns="0" tIns="0" rIns="0" bIns="0" rtlCol="0" anchor="t"/>
          <a:lstStyle/>
          <a:p>
            <a:pPr indent="0" marL="0">
              <a:buNone/>
            </a:pPr>
            <a:r>
              <a:rPr lang="en-US" sz="1400" i="1" dirty="0">
                <a:solidFill>
                  <a:srgbClr val="1B1F2A"/>
                </a:solidFill>
              </a:rPr>
              <a:t>Minimum risk had the lowest volatility (12.7%) and ended with about a third of the wealth of EW, VW and risk parity.</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Risk Parity: Best Sharpe; Minimum Risk: Lowest Risk</a:t>
            </a:r>
            <a:endParaRPr lang="en-US" sz="3000" dirty="0"/>
          </a:p>
        </p:txBody>
      </p:sp>
      <p:graphicFrame>
        <p:nvGraphicFramePr>
          <p:cNvPr id="5" name="Exhibit 1"/>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1645920"/>
                <a:gridCol w="1645920"/>
                <a:gridCol w="1645920"/>
                <a:gridCol w="1645920"/>
                <a:gridCol w="1645920"/>
              </a:tblGrid>
              <a:tr h="338328">
                <a:tc>
                  <a:txBody>
                    <a:bodyPr/>
                    <a:lstStyle/>
                    <a:p>
                      <a:pPr algn="l" indent="0" marL="0">
                        <a:buNone/>
                      </a:pPr>
                      <a:r>
                        <a:rPr lang="en-US" sz="1200" b="1" dirty="0">
                          <a:solidFill>
                            <a:schemeClr val="bg1"/>
                          </a:solidFill>
                        </a:rPr>
                        <a:t>1995–2025, monthly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EDA100"/>
                          </a:solidFill>
                        </a:rPr>
                        <a:t>■  </a:t>
                      </a:r>
                      <a:pPr algn="ctr" indent="0" marL="0">
                        <a:buNone/>
                      </a:pPr>
                      <a:r>
                        <a:rPr lang="en-US" sz="1200" b="1" dirty="0">
                          <a:solidFill>
                            <a:schemeClr val="bg1"/>
                          </a:solidFill>
                        </a:rPr>
                        <a:t>Equal weight</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E87BA4"/>
                          </a:solidFill>
                        </a:rPr>
                        <a:t>■  </a:t>
                      </a:r>
                      <a:pPr algn="ctr" indent="0" marL="0">
                        <a:buNone/>
                      </a:pPr>
                      <a:r>
                        <a:rPr lang="en-US" sz="1200" b="1" dirty="0">
                          <a:solidFill>
                            <a:schemeClr val="bg1"/>
                          </a:solidFill>
                        </a:rPr>
                        <a:t>Value weight</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2A78D6"/>
                          </a:solidFill>
                        </a:rPr>
                        <a:t>■  </a:t>
                      </a:r>
                      <a:pPr algn="ctr" indent="0" marL="0">
                        <a:buNone/>
                      </a:pPr>
                      <a:r>
                        <a:rPr lang="en-US" sz="1200" b="1" dirty="0">
                          <a:solidFill>
                            <a:schemeClr val="bg1"/>
                          </a:solidFill>
                        </a:rPr>
                        <a:t>Min. risk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1BAF7A"/>
                          </a:solidFill>
                        </a:rPr>
                        <a:t>■  </a:t>
                      </a:r>
                      <a:pPr algn="ctr" indent="0" marL="0">
                        <a:buNone/>
                      </a:pPr>
                      <a:r>
                        <a:rPr lang="en-US" sz="1200" b="1" dirty="0">
                          <a:solidFill>
                            <a:schemeClr val="bg1"/>
                          </a:solidFill>
                        </a:rPr>
                        <a:t>Risk parity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rgbClr val="EB6834"/>
                          </a:solidFill>
                        </a:rPr>
                        <a:t>■  </a:t>
                      </a:r>
                      <a:pPr algn="ctr" indent="0" marL="0">
                        <a:buNone/>
                      </a:pPr>
                      <a:r>
                        <a:rPr lang="en-US" sz="1200" b="1" dirty="0">
                          <a:solidFill>
                            <a:schemeClr val="bg1"/>
                          </a:solidFill>
                        </a:rPr>
                        <a:t>Max. div.</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338328">
                <a:tc>
                  <a:txBody>
                    <a:bodyPr/>
                    <a:lstStyle/>
                    <a:p>
                      <a:pPr algn="l" indent="0" marL="0">
                        <a:buNone/>
                      </a:pPr>
                      <a:r>
                        <a:rPr lang="en-US" sz="1300" dirty="0">
                          <a:solidFill>
                            <a:srgbClr val="1B1F2A"/>
                          </a:solidFill>
                        </a:rPr>
                        <a:t>Annual arithmetic excess return (%)</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9.7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8.5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Total-return CAGR (%)</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11.6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11.5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8.2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Annual excess-return volatility (%)</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15.7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14.8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12.7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14.0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14.1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b="1" dirty="0">
                          <a:solidFill>
                            <a:srgbClr val="1B1F2A"/>
                          </a:solidFill>
                        </a:rPr>
                        <a:t>Sharpe ratio</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0.631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0.656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0.499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0.689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0.604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Realized market beta</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0.98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0.94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0.34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0.85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0.67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Average holdings</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Average effective N (weights)</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424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37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Maximum drawdown (%)</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−51.7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−49.1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−37.5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−48.9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−53.6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38328">
                <a:tc>
                  <a:txBody>
                    <a:bodyPr/>
                    <a:lstStyle/>
                    <a:p>
                      <a:pPr algn="l" indent="0" marL="0">
                        <a:buNone/>
                      </a:pPr>
                      <a:r>
                        <a:rPr lang="en-US" sz="1300" dirty="0">
                          <a:solidFill>
                            <a:srgbClr val="1B1F2A"/>
                          </a:solidFill>
                        </a:rPr>
                        <a:t>Annual one-way turnover (%)</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117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160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4" name="Exhibit note"/>
          <p:cNvSpPr txBox="1"/>
          <p:nvPr/>
        </p:nvSpPr>
        <p:spPr>
          <a:xfrm>
            <a:off x="457200" y="5029200"/>
            <a:ext cx="11247120" cy="274320"/>
          </a:xfrm>
          <a:prstGeom prst="rect">
            <a:avLst/>
          </a:prstGeom>
          <a:noFill/>
          <a:ln/>
        </p:spPr>
        <p:txBody>
          <a:bodyPr wrap="square" lIns="0" tIns="0" rIns="0" bIns="0" rtlCol="0" anchor="ctr"/>
          <a:lstStyle/>
          <a:p>
            <a:pPr indent="0" marL="0">
              <a:buNone/>
            </a:pPr>
            <a:r>
              <a:rPr lang="en-US" sz="1100" dirty="0">
                <a:solidFill>
                  <a:srgbClr val="5B6577"/>
                </a:solidFill>
              </a:rPr>
              <a:t>Exhibit 1 format (Clarke, de Silva and Thorley, 2013). Shaded: best in the row. Volatility and Sharpe on excess returns; turnover one-way vs. drifted weights.</a:t>
            </a:r>
            <a:endParaRPr lang="en-US" sz="1100" dirty="0"/>
          </a:p>
        </p:txBody>
      </p:sp>
      <p:sp>
        <p:nvSpPr>
          <p:cNvPr id="5" name="Takeaway card 1"/>
          <p:cNvSpPr/>
          <p:nvPr/>
        </p:nvSpPr>
        <p:spPr>
          <a:xfrm>
            <a:off x="457200" y="5486400"/>
            <a:ext cx="3566160" cy="731520"/>
          </a:xfrm>
          <a:prstGeom prst="roundRect">
            <a:avLst>
              <a:gd name="adj" fmla="val 10000"/>
            </a:avLst>
          </a:prstGeom>
          <a:solidFill>
            <a:srgbClr val="EEF1F5"/>
          </a:solidFill>
          <a:ln w="12700">
            <a:solidFill>
              <a:srgbClr val="EEF1F5"/>
            </a:solidFill>
            <a:prstDash val="solid"/>
          </a:ln>
        </p:spPr>
      </p:sp>
      <p:sp>
        <p:nvSpPr>
          <p:cNvPr id="6" name="Takeaway 1"/>
          <p:cNvSpPr txBox="1"/>
          <p:nvPr/>
        </p:nvSpPr>
        <p:spPr>
          <a:xfrm>
            <a:off x="640080" y="5486400"/>
            <a:ext cx="3200400" cy="731520"/>
          </a:xfrm>
          <a:prstGeom prst="rect">
            <a:avLst/>
          </a:prstGeom>
          <a:noFill/>
          <a:ln/>
        </p:spPr>
        <p:txBody>
          <a:bodyPr wrap="square" lIns="0" tIns="0" rIns="0" bIns="0" rtlCol="0" anchor="ctr"/>
          <a:lstStyle/>
          <a:p>
            <a:pPr indent="0" marL="0">
              <a:buNone/>
            </a:pPr>
            <a:r>
              <a:rPr lang="en-US" sz="1300" b="1" dirty="0">
                <a:solidFill>
                  <a:srgbClr val="1BAF7A"/>
                </a:solidFill>
              </a:rPr>
              <a:t>Risk parity  </a:t>
            </a:r>
            <a:pPr indent="0" marL="0">
              <a:buNone/>
            </a:pPr>
            <a:r>
              <a:rPr lang="en-US" sz="1300" dirty="0">
                <a:solidFill>
                  <a:srgbClr val="1B1F2A"/>
                </a:solidFill>
              </a:rPr>
              <a:t>Best Sharpe (0.689): EW-like return with lower volatility</a:t>
            </a:r>
            <a:endParaRPr lang="en-US" sz="1300" dirty="0"/>
          </a:p>
        </p:txBody>
      </p:sp>
      <p:sp>
        <p:nvSpPr>
          <p:cNvPr id="7" name="Takeaway card 2"/>
          <p:cNvSpPr/>
          <p:nvPr/>
        </p:nvSpPr>
        <p:spPr>
          <a:xfrm>
            <a:off x="4297680" y="5486400"/>
            <a:ext cx="3566160" cy="731520"/>
          </a:xfrm>
          <a:prstGeom prst="roundRect">
            <a:avLst>
              <a:gd name="adj" fmla="val 10000"/>
            </a:avLst>
          </a:prstGeom>
          <a:solidFill>
            <a:srgbClr val="EEF1F5"/>
          </a:solidFill>
          <a:ln w="12700">
            <a:solidFill>
              <a:srgbClr val="EEF1F5"/>
            </a:solidFill>
            <a:prstDash val="solid"/>
          </a:ln>
        </p:spPr>
      </p:sp>
      <p:sp>
        <p:nvSpPr>
          <p:cNvPr id="8" name="Takeaway 2"/>
          <p:cNvSpPr txBox="1"/>
          <p:nvPr/>
        </p:nvSpPr>
        <p:spPr>
          <a:xfrm>
            <a:off x="4480560" y="5486400"/>
            <a:ext cx="3200400" cy="731520"/>
          </a:xfrm>
          <a:prstGeom prst="rect">
            <a:avLst/>
          </a:prstGeom>
          <a:noFill/>
          <a:ln/>
        </p:spPr>
        <p:txBody>
          <a:bodyPr wrap="square" lIns="0" tIns="0" rIns="0" bIns="0" rtlCol="0" anchor="ctr"/>
          <a:lstStyle/>
          <a:p>
            <a:pPr indent="0" marL="0">
              <a:buNone/>
            </a:pPr>
            <a:r>
              <a:rPr lang="en-US" sz="1300" b="1" dirty="0">
                <a:solidFill>
                  <a:srgbClr val="2A78D6"/>
                </a:solidFill>
              </a:rPr>
              <a:t>Minimum risk  </a:t>
            </a:r>
            <a:pPr indent="0" marL="0">
              <a:buNone/>
            </a:pPr>
            <a:r>
              <a:rPr lang="en-US" sz="1300" dirty="0">
                <a:solidFill>
                  <a:srgbClr val="1B1F2A"/>
                </a:solidFill>
              </a:rPr>
              <a:t>Lowest volatility, beta and drawdown, but the lowest return</a:t>
            </a:r>
            <a:endParaRPr lang="en-US" sz="1300" dirty="0"/>
          </a:p>
        </p:txBody>
      </p:sp>
      <p:sp>
        <p:nvSpPr>
          <p:cNvPr id="9" name="Takeaway card 3"/>
          <p:cNvSpPr/>
          <p:nvPr/>
        </p:nvSpPr>
        <p:spPr>
          <a:xfrm>
            <a:off x="8138160" y="5486400"/>
            <a:ext cx="3566160" cy="731520"/>
          </a:xfrm>
          <a:prstGeom prst="roundRect">
            <a:avLst>
              <a:gd name="adj" fmla="val 10000"/>
            </a:avLst>
          </a:prstGeom>
          <a:solidFill>
            <a:srgbClr val="EEF1F5"/>
          </a:solidFill>
          <a:ln w="12700">
            <a:solidFill>
              <a:srgbClr val="EEF1F5"/>
            </a:solidFill>
            <a:prstDash val="solid"/>
          </a:ln>
        </p:spPr>
      </p:sp>
      <p:sp>
        <p:nvSpPr>
          <p:cNvPr id="10" name="Takeaway 3"/>
          <p:cNvSpPr txBox="1"/>
          <p:nvPr/>
        </p:nvSpPr>
        <p:spPr>
          <a:xfrm>
            <a:off x="8321040" y="5486400"/>
            <a:ext cx="3200400" cy="731520"/>
          </a:xfrm>
          <a:prstGeom prst="rect">
            <a:avLst/>
          </a:prstGeom>
          <a:noFill/>
          <a:ln/>
        </p:spPr>
        <p:txBody>
          <a:bodyPr wrap="square" lIns="0" tIns="0" rIns="0" bIns="0" rtlCol="0" anchor="ctr"/>
          <a:lstStyle/>
          <a:p>
            <a:pPr indent="0" marL="0">
              <a:buNone/>
            </a:pPr>
            <a:r>
              <a:rPr lang="en-US" sz="1300" b="1" dirty="0">
                <a:solidFill>
                  <a:srgbClr val="EB6834"/>
                </a:solidFill>
              </a:rPr>
              <a:t>Maximum diversification  </a:t>
            </a:r>
            <a:pPr indent="0" marL="0">
              <a:buNone/>
            </a:pPr>
            <a:r>
              <a:rPr lang="en-US" sz="1300" dirty="0">
                <a:solidFill>
                  <a:srgbClr val="1B1F2A"/>
                </a:solidFill>
              </a:rPr>
              <a:t>About 63 holdings and the highest turnover (160% a year)</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Defensive in the Crash, Left Behind in the Rebound</a:t>
            </a:r>
            <a:endParaRPr lang="en-US" sz="3000" dirty="0"/>
          </a:p>
        </p:txBody>
      </p:sp>
      <p:graphicFrame>
        <p:nvGraphicFramePr>
          <p:cNvPr id="3" name="Crisis path Dot-com" descr=""/>
          <p:cNvGraphicFramePr/>
          <p:nvPr/>
        </p:nvGraphicFramePr>
        <p:xfrm>
          <a:off x="457200" y="1143000"/>
          <a:ext cx="3566160" cy="2560320"/>
        </p:xfrm>
        <a:graphic xmlns:a="http://schemas.openxmlformats.org/drawingml/2006/main">
          <a:graphicData uri="http://schemas.openxmlformats.org/drawingml/2006/chart">
            <c:chart xmlns:c="http://schemas.openxmlformats.org/drawingml/2006/chart" r:id="rId1"/>
          </a:graphicData>
        </a:graphic>
      </p:graphicFrame>
      <p:sp>
        <p:nvSpPr>
          <p:cNvPr id="4" name="Crisis window Dot-com"/>
          <p:cNvSpPr txBox="1"/>
          <p:nvPr/>
        </p:nvSpPr>
        <p:spPr>
          <a:xfrm>
            <a:off x="457200" y="3703320"/>
            <a:ext cx="3566160" cy="228600"/>
          </a:xfrm>
          <a:prstGeom prst="rect">
            <a:avLst/>
          </a:prstGeom>
          <a:noFill/>
          <a:ln/>
        </p:spPr>
        <p:txBody>
          <a:bodyPr wrap="square" lIns="0" tIns="0" rIns="0" bIns="0" rtlCol="0" anchor="ctr"/>
          <a:lstStyle/>
          <a:p>
            <a:pPr algn="ctr" indent="0" marL="0">
              <a:buNone/>
            </a:pPr>
            <a:r>
              <a:rPr lang="en-US" sz="1000" dirty="0">
                <a:solidFill>
                  <a:srgbClr val="5B6577"/>
                </a:solidFill>
              </a:rPr>
              <a:t>Crash 2000-09 → 2002-09 · market back at its high 2006-09</a:t>
            </a:r>
            <a:endParaRPr lang="en-US" sz="1000" dirty="0"/>
          </a:p>
        </p:txBody>
      </p:sp>
      <p:graphicFrame>
        <p:nvGraphicFramePr>
          <p:cNvPr id="5" name="Crisis path GFC" descr=""/>
          <p:cNvGraphicFramePr/>
          <p:nvPr/>
        </p:nvGraphicFramePr>
        <p:xfrm>
          <a:off x="4297680" y="1143000"/>
          <a:ext cx="3566160" cy="2560320"/>
        </p:xfrm>
        <a:graphic xmlns:a="http://schemas.openxmlformats.org/drawingml/2006/main">
          <a:graphicData uri="http://schemas.openxmlformats.org/drawingml/2006/chart">
            <c:chart xmlns:c="http://schemas.openxmlformats.org/drawingml/2006/chart" r:id="rId2"/>
          </a:graphicData>
        </a:graphic>
      </p:graphicFrame>
      <p:sp>
        <p:nvSpPr>
          <p:cNvPr id="6" name="Crisis window GFC"/>
          <p:cNvSpPr txBox="1"/>
          <p:nvPr/>
        </p:nvSpPr>
        <p:spPr>
          <a:xfrm>
            <a:off x="4297680" y="3703320"/>
            <a:ext cx="3566160" cy="228600"/>
          </a:xfrm>
          <a:prstGeom prst="rect">
            <a:avLst/>
          </a:prstGeom>
          <a:noFill/>
          <a:ln/>
        </p:spPr>
        <p:txBody>
          <a:bodyPr wrap="square" lIns="0" tIns="0" rIns="0" bIns="0" rtlCol="0" anchor="ctr"/>
          <a:lstStyle/>
          <a:p>
            <a:pPr algn="ctr" indent="0" marL="0">
              <a:buNone/>
            </a:pPr>
            <a:r>
              <a:rPr lang="en-US" sz="1000" dirty="0">
                <a:solidFill>
                  <a:srgbClr val="5B6577"/>
                </a:solidFill>
              </a:rPr>
              <a:t>Crash 2007-11 → 2009-02 · market back at its high 2012-02</a:t>
            </a:r>
            <a:endParaRPr lang="en-US" sz="1000" dirty="0"/>
          </a:p>
        </p:txBody>
      </p:sp>
      <p:graphicFrame>
        <p:nvGraphicFramePr>
          <p:cNvPr id="7" name="Crisis path COVID-19" descr=""/>
          <p:cNvGraphicFramePr/>
          <p:nvPr/>
        </p:nvGraphicFramePr>
        <p:xfrm>
          <a:off x="8138160" y="1143000"/>
          <a:ext cx="3566160" cy="2560320"/>
        </p:xfrm>
        <a:graphic xmlns:a="http://schemas.openxmlformats.org/drawingml/2006/main">
          <a:graphicData uri="http://schemas.openxmlformats.org/drawingml/2006/chart">
            <c:chart xmlns:c="http://schemas.openxmlformats.org/drawingml/2006/chart" r:id="rId3"/>
          </a:graphicData>
        </a:graphic>
      </p:graphicFrame>
      <p:sp>
        <p:nvSpPr>
          <p:cNvPr id="8" name="Crisis window COVID-19"/>
          <p:cNvSpPr txBox="1"/>
          <p:nvPr/>
        </p:nvSpPr>
        <p:spPr>
          <a:xfrm>
            <a:off x="8138160" y="3703320"/>
            <a:ext cx="3566160" cy="228600"/>
          </a:xfrm>
          <a:prstGeom prst="rect">
            <a:avLst/>
          </a:prstGeom>
          <a:noFill/>
          <a:ln/>
        </p:spPr>
        <p:txBody>
          <a:bodyPr wrap="square" lIns="0" tIns="0" rIns="0" bIns="0" rtlCol="0" anchor="ctr"/>
          <a:lstStyle/>
          <a:p>
            <a:pPr algn="ctr" indent="0" marL="0">
              <a:buNone/>
            </a:pPr>
            <a:r>
              <a:rPr lang="en-US" sz="1000" dirty="0">
                <a:solidFill>
                  <a:srgbClr val="5B6577"/>
                </a:solidFill>
              </a:rPr>
              <a:t>Crash 2020-02 → 2020-03 · market back at its high 2020-07</a:t>
            </a:r>
            <a:endParaRPr lang="en-US" sz="1000" dirty="0"/>
          </a:p>
        </p:txBody>
      </p:sp>
      <p:sp>
        <p:nvSpPr>
          <p:cNvPr id="9" name="Legend line ew"/>
          <p:cNvSpPr/>
          <p:nvPr/>
        </p:nvSpPr>
        <p:spPr>
          <a:xfrm>
            <a:off x="457200" y="4114800"/>
            <a:ext cx="320040" cy="0"/>
          </a:xfrm>
          <a:prstGeom prst="line">
            <a:avLst/>
          </a:prstGeom>
          <a:noFill/>
          <a:ln w="25400">
            <a:solidFill>
              <a:srgbClr val="EDA100"/>
            </a:solidFill>
            <a:prstDash val="solid"/>
          </a:ln>
        </p:spPr>
      </p:sp>
      <p:sp>
        <p:nvSpPr>
          <p:cNvPr id="10" name="Legend ew"/>
          <p:cNvSpPr txBox="1"/>
          <p:nvPr/>
        </p:nvSpPr>
        <p:spPr>
          <a:xfrm>
            <a:off x="84124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Equally weighted</a:t>
            </a:r>
            <a:endParaRPr lang="en-US" sz="1000" dirty="0"/>
          </a:p>
        </p:txBody>
      </p:sp>
      <p:sp>
        <p:nvSpPr>
          <p:cNvPr id="11" name="Legend line vw"/>
          <p:cNvSpPr/>
          <p:nvPr/>
        </p:nvSpPr>
        <p:spPr>
          <a:xfrm>
            <a:off x="2331720" y="4114800"/>
            <a:ext cx="320040" cy="0"/>
          </a:xfrm>
          <a:prstGeom prst="line">
            <a:avLst/>
          </a:prstGeom>
          <a:noFill/>
          <a:ln w="25400">
            <a:solidFill>
              <a:srgbClr val="E87BA4"/>
            </a:solidFill>
            <a:prstDash val="solid"/>
          </a:ln>
        </p:spPr>
      </p:sp>
      <p:sp>
        <p:nvSpPr>
          <p:cNvPr id="12" name="Legend vw"/>
          <p:cNvSpPr txBox="1"/>
          <p:nvPr/>
        </p:nvSpPr>
        <p:spPr>
          <a:xfrm>
            <a:off x="271576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Value weighted</a:t>
            </a:r>
            <a:endParaRPr lang="en-US" sz="1000" dirty="0"/>
          </a:p>
        </p:txBody>
      </p:sp>
      <p:sp>
        <p:nvSpPr>
          <p:cNvPr id="13" name="Legend line min_risk"/>
          <p:cNvSpPr/>
          <p:nvPr/>
        </p:nvSpPr>
        <p:spPr>
          <a:xfrm>
            <a:off x="4206240" y="4114800"/>
            <a:ext cx="320040" cy="0"/>
          </a:xfrm>
          <a:prstGeom prst="line">
            <a:avLst/>
          </a:prstGeom>
          <a:noFill/>
          <a:ln w="25400">
            <a:solidFill>
              <a:srgbClr val="2A78D6"/>
            </a:solidFill>
            <a:prstDash val="solid"/>
          </a:ln>
        </p:spPr>
      </p:sp>
      <p:sp>
        <p:nvSpPr>
          <p:cNvPr id="14" name="Legend min_risk"/>
          <p:cNvSpPr txBox="1"/>
          <p:nvPr/>
        </p:nvSpPr>
        <p:spPr>
          <a:xfrm>
            <a:off x="459028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Minimum risk</a:t>
            </a:r>
            <a:endParaRPr lang="en-US" sz="1000" dirty="0"/>
          </a:p>
        </p:txBody>
      </p:sp>
      <p:sp>
        <p:nvSpPr>
          <p:cNvPr id="15" name="Legend line risk_parity"/>
          <p:cNvSpPr/>
          <p:nvPr/>
        </p:nvSpPr>
        <p:spPr>
          <a:xfrm>
            <a:off x="6080760" y="4114800"/>
            <a:ext cx="320040" cy="0"/>
          </a:xfrm>
          <a:prstGeom prst="line">
            <a:avLst/>
          </a:prstGeom>
          <a:noFill/>
          <a:ln w="25400">
            <a:solidFill>
              <a:srgbClr val="1BAF7A"/>
            </a:solidFill>
            <a:prstDash val="solid"/>
          </a:ln>
        </p:spPr>
      </p:sp>
      <p:sp>
        <p:nvSpPr>
          <p:cNvPr id="16" name="Legend risk_parity"/>
          <p:cNvSpPr txBox="1"/>
          <p:nvPr/>
        </p:nvSpPr>
        <p:spPr>
          <a:xfrm>
            <a:off x="646480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Risk parity</a:t>
            </a:r>
            <a:endParaRPr lang="en-US" sz="1000" dirty="0"/>
          </a:p>
        </p:txBody>
      </p:sp>
      <p:sp>
        <p:nvSpPr>
          <p:cNvPr id="17" name="Legend line max_div"/>
          <p:cNvSpPr/>
          <p:nvPr/>
        </p:nvSpPr>
        <p:spPr>
          <a:xfrm>
            <a:off x="7955280" y="4114800"/>
            <a:ext cx="320040" cy="0"/>
          </a:xfrm>
          <a:prstGeom prst="line">
            <a:avLst/>
          </a:prstGeom>
          <a:noFill/>
          <a:ln w="25400">
            <a:solidFill>
              <a:srgbClr val="EB6834"/>
            </a:solidFill>
            <a:prstDash val="solid"/>
          </a:ln>
        </p:spPr>
      </p:sp>
      <p:sp>
        <p:nvSpPr>
          <p:cNvPr id="18" name="Legend max_div"/>
          <p:cNvSpPr txBox="1"/>
          <p:nvPr/>
        </p:nvSpPr>
        <p:spPr>
          <a:xfrm>
            <a:off x="833932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Maximum diversification</a:t>
            </a:r>
            <a:endParaRPr lang="en-US" sz="1000" dirty="0"/>
          </a:p>
        </p:txBody>
      </p:sp>
      <p:sp>
        <p:nvSpPr>
          <p:cNvPr id="19" name="Legend line min_risk_shrunk"/>
          <p:cNvSpPr/>
          <p:nvPr/>
        </p:nvSpPr>
        <p:spPr>
          <a:xfrm>
            <a:off x="9829800" y="4114800"/>
            <a:ext cx="320040" cy="0"/>
          </a:xfrm>
          <a:prstGeom prst="line">
            <a:avLst/>
          </a:prstGeom>
          <a:noFill/>
          <a:ln w="25400">
            <a:solidFill>
              <a:srgbClr val="2A78D6"/>
            </a:solidFill>
            <a:prstDash val="dash"/>
          </a:ln>
        </p:spPr>
      </p:sp>
      <p:sp>
        <p:nvSpPr>
          <p:cNvPr id="20" name="Legend min_risk_shrunk"/>
          <p:cNvSpPr txBox="1"/>
          <p:nvPr/>
        </p:nvSpPr>
        <p:spPr>
          <a:xfrm>
            <a:off x="10213848" y="3995928"/>
            <a:ext cx="1463040" cy="237744"/>
          </a:xfrm>
          <a:prstGeom prst="rect">
            <a:avLst/>
          </a:prstGeom>
          <a:noFill/>
          <a:ln/>
        </p:spPr>
        <p:txBody>
          <a:bodyPr wrap="square" lIns="0" tIns="0" rIns="0" bIns="0" rtlCol="0" anchor="ctr"/>
          <a:lstStyle/>
          <a:p>
            <a:pPr indent="0" marL="0">
              <a:buNone/>
            </a:pPr>
            <a:r>
              <a:rPr lang="en-US" sz="1000" dirty="0">
                <a:solidFill>
                  <a:srgbClr val="5B6577"/>
                </a:solidFill>
              </a:rPr>
              <a:t>Min. risk (shrunk sample)</a:t>
            </a:r>
            <a:endParaRPr lang="en-US" sz="1000" dirty="0"/>
          </a:p>
        </p:txBody>
      </p:sp>
      <p:graphicFrame>
        <p:nvGraphicFramePr>
          <p:cNvPr id="6" name="Crisis table"/>
          <p:cNvGraphicFramePr>
            <a:graphicFrameLocks noGrp="1"/>
          </p:cNvGraphicFramePr>
          <p:nvPr>
            <p:extLst>
              <p:ext uri="{D42A27DB-BD31-4B8C-83A1-F6EECF244321}">
                <p14:modId xmlns:p14="http://schemas.microsoft.com/office/powerpoint/2010/main" val="1579011935"/>
              </p:ext>
            </p:extLst>
          </p:nvPr>
        </p:nvGraphicFramePr>
        <p:xfrm>
          <a:off x="457200" y="4343400"/>
          <a:ext cx="11247120" cy="914400"/>
        </p:xfrm>
        <a:graphic>
          <a:graphicData uri="http://schemas.openxmlformats.org/drawingml/2006/table">
            <a:tbl>
              <a:tblPr/>
              <a:tblGrid>
                <a:gridCol w="2194560"/>
                <a:gridCol w="1508760"/>
                <a:gridCol w="1508760"/>
                <a:gridCol w="1508760"/>
                <a:gridCol w="1508760"/>
                <a:gridCol w="1508760"/>
                <a:gridCol w="1508760"/>
              </a:tblGrid>
              <a:tr h="265176">
                <a:tc>
                  <a:txBody>
                    <a:bodyPr/>
                    <a:lstStyle/>
                    <a:p>
                      <a:pPr algn="l" indent="0" marL="0">
                        <a:buNone/>
                      </a:pPr>
                      <a:r>
                        <a:rPr lang="en-US" sz="1200" b="1" dirty="0">
                          <a:solidFill>
                            <a:schemeClr val="bg1"/>
                          </a:solidFill>
                        </a:rPr>
                        <a:t>Return over the window (%)</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Equally weighted</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Value weighted</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Minimum risk</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Risk parity</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Max. diversification</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Min. risk (shrunk)</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265176">
                <a:tc>
                  <a:txBody>
                    <a:bodyPr/>
                    <a:lstStyle/>
                    <a:p>
                      <a:pPr algn="l" indent="0" marL="0">
                        <a:buNone/>
                      </a:pPr>
                      <a:r>
                        <a:rPr lang="en-US" sz="1200" b="1" dirty="0">
                          <a:solidFill>
                            <a:srgbClr val="1B1F2A"/>
                          </a:solidFill>
                        </a:rPr>
                        <a:t>Dot-com crash</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−26.3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+6.7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−12.3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+3.2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265176">
                <a:tc>
                  <a:txBody>
                    <a:bodyPr/>
                    <a:lstStyle/>
                    <a:p>
                      <a:pPr algn="l" indent="0" marL="0">
                        <a:buNone/>
                      </a:pPr>
                      <a:r>
                        <a:rPr lang="en-US" sz="1200" b="1" dirty="0">
                          <a:solidFill>
                            <a:srgbClr val="1B1F2A"/>
                          </a:solidFill>
                        </a:rPr>
                        <a:t>Dot-com rebound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+97.6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+71.8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+57.3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+88.0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+72.0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+77.5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265176">
                <a:tc>
                  <a:txBody>
                    <a:bodyPr/>
                    <a:lstStyle/>
                    <a:p>
                      <a:pPr algn="l" indent="0" marL="0">
                        <a:buNone/>
                      </a:pPr>
                      <a:r>
                        <a:rPr lang="en-US" sz="1200" b="1" dirty="0">
                          <a:solidFill>
                            <a:srgbClr val="1B1F2A"/>
                          </a:solidFill>
                        </a:rPr>
                        <a:t>GFC crash</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−37.1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−48.9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−53.6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265176">
                <a:tc>
                  <a:txBody>
                    <a:bodyPr/>
                    <a:lstStyle/>
                    <a:p>
                      <a:pPr algn="l" indent="0" marL="0">
                        <a:buNone/>
                      </a:pPr>
                      <a:r>
                        <a:rPr lang="en-US" sz="1200" b="1" dirty="0">
                          <a:solidFill>
                            <a:srgbClr val="1B1F2A"/>
                          </a:solidFill>
                        </a:rPr>
                        <a:t>GFC rebound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+115.9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+92.1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+55.2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+104.3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+70.8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265176">
                <a:tc>
                  <a:txBody>
                    <a:bodyPr/>
                    <a:lstStyle/>
                    <a:p>
                      <a:pPr algn="l" indent="0" marL="0">
                        <a:buNone/>
                      </a:pPr>
                      <a:r>
                        <a:rPr lang="en-US" sz="1200" b="1" dirty="0">
                          <a:solidFill>
                            <a:srgbClr val="1B1F2A"/>
                          </a:solidFill>
                        </a:rPr>
                        <a:t>COVID-19 crash</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−23.7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−15.6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−22.0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−13.6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−16.4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265176">
                <a:tc>
                  <a:txBody>
                    <a:bodyPr/>
                    <a:lstStyle/>
                    <a:p>
                      <a:pPr algn="l" indent="0" marL="0">
                        <a:buNone/>
                      </a:pPr>
                      <a:r>
                        <a:rPr lang="en-US" sz="1200" b="1" dirty="0">
                          <a:solidFill>
                            <a:srgbClr val="1B1F2A"/>
                          </a:solidFill>
                        </a:rPr>
                        <a:t>COVID-19 rebound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+28.5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+16.5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+26.7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b="1" dirty="0">
                          <a:solidFill>
                            <a:srgbClr val="1B1F2A"/>
                          </a:solidFill>
                        </a:rPr>
                        <a:t>+32.0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200" dirty="0">
                          <a:solidFill>
                            <a:srgbClr val="1B1F2A"/>
                          </a:solidFill>
                        </a:rPr>
                        <a:t>+18.4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Two Alternative Covariance Estimators</a:t>
            </a:r>
            <a:endParaRPr lang="en-US" sz="3000" dirty="0"/>
          </a:p>
        </p:txBody>
      </p:sp>
      <p:sp>
        <p:nvSpPr>
          <p:cNvPr id="3" name="Motivation card"/>
          <p:cNvSpPr/>
          <p:nvPr/>
        </p:nvSpPr>
        <p:spPr>
          <a:xfrm>
            <a:off x="457200" y="1188720"/>
            <a:ext cx="11247120" cy="777240"/>
          </a:xfrm>
          <a:prstGeom prst="roundRect">
            <a:avLst>
              <a:gd name="adj" fmla="val 9412"/>
            </a:avLst>
          </a:prstGeom>
          <a:solidFill>
            <a:srgbClr val="EEF1F5"/>
          </a:solidFill>
          <a:ln w="12700">
            <a:solidFill>
              <a:srgbClr val="EEF1F5"/>
            </a:solidFill>
            <a:prstDash val="solid"/>
          </a:ln>
        </p:spPr>
      </p:sp>
      <p:sp>
        <p:nvSpPr>
          <p:cNvPr id="4" name="Motivation"/>
          <p:cNvSpPr txBox="1"/>
          <p:nvPr/>
        </p:nvSpPr>
        <p:spPr>
          <a:xfrm>
            <a:off x="685800" y="1188720"/>
            <a:ext cx="10789920" cy="777240"/>
          </a:xfrm>
          <a:prstGeom prst="rect">
            <a:avLst/>
          </a:prstGeom>
          <a:noFill/>
          <a:ln/>
        </p:spPr>
        <p:txBody>
          <a:bodyPr wrap="square" lIns="0" tIns="0" rIns="0" bIns="0" rtlCol="0" anchor="ctr"/>
          <a:lstStyle/>
          <a:p>
            <a:pPr indent="0" marL="0">
              <a:buNone/>
            </a:pPr>
            <a:r>
              <a:rPr lang="en-US" sz="1400" b="1" dirty="0">
                <a:solidFill>
                  <a:srgbClr val="16A3B8"/>
                </a:solidFill>
              </a:rPr>
              <a:t>Why  </a:t>
            </a:r>
            <a:pPr indent="0" marL="0">
              <a:buNone/>
            </a:pPr>
            <a:r>
              <a:rPr lang="en-US" sz="1400" dirty="0">
                <a:solidFill>
                  <a:srgbClr val="1B1F2A"/>
                </a:solidFill>
              </a:rPr>
              <a:t>The single-factor model treats residuals as uncorrelated, so stocks that share an industry shock look more diversifiable than they are. We rerun the whole backtest with the two estimators from the project description.</a:t>
            </a:r>
            <a:endParaRPr lang="en-US" sz="1400" dirty="0"/>
          </a:p>
        </p:txBody>
      </p:sp>
      <p:sp>
        <p:nvSpPr>
          <p:cNvPr id="5" name="Estimator frame 1"/>
          <p:cNvSpPr/>
          <p:nvPr/>
        </p:nvSpPr>
        <p:spPr>
          <a:xfrm>
            <a:off x="457200" y="2240280"/>
            <a:ext cx="3566160" cy="3931920"/>
          </a:xfrm>
          <a:prstGeom prst="roundRect">
            <a:avLst>
              <a:gd name="adj" fmla="val 2051"/>
            </a:avLst>
          </a:prstGeom>
          <a:solidFill>
            <a:srgbClr val="FFFFFF"/>
          </a:solidFill>
          <a:ln w="12700">
            <a:solidFill>
              <a:srgbClr val="E3E7ED"/>
            </a:solidFill>
            <a:prstDash val="solid"/>
          </a:ln>
        </p:spPr>
      </p:sp>
      <p:sp>
        <p:nvSpPr>
          <p:cNvPr id="6" name="Estimator dot 1"/>
          <p:cNvSpPr/>
          <p:nvPr/>
        </p:nvSpPr>
        <p:spPr>
          <a:xfrm>
            <a:off x="685800" y="2487168"/>
            <a:ext cx="274320" cy="274320"/>
          </a:xfrm>
          <a:prstGeom prst="ellipse">
            <a:avLst/>
          </a:prstGeom>
          <a:solidFill>
            <a:srgbClr val="1F2D5C"/>
          </a:solidFill>
          <a:ln w="12700">
            <a:solidFill>
              <a:srgbClr val="1F2D5C"/>
            </a:solidFill>
            <a:prstDash val="solid"/>
          </a:ln>
        </p:spPr>
      </p:sp>
      <p:sp>
        <p:nvSpPr>
          <p:cNvPr id="7" name="Estimator name 1"/>
          <p:cNvSpPr txBox="1"/>
          <p:nvPr/>
        </p:nvSpPr>
        <p:spPr>
          <a:xfrm>
            <a:off x="1097280" y="2395728"/>
            <a:ext cx="2743200" cy="457200"/>
          </a:xfrm>
          <a:prstGeom prst="rect">
            <a:avLst/>
          </a:prstGeom>
          <a:noFill/>
          <a:ln/>
        </p:spPr>
        <p:txBody>
          <a:bodyPr wrap="square" lIns="0" tIns="0" rIns="0" bIns="0" rtlCol="0" anchor="ctr"/>
          <a:lstStyle/>
          <a:p>
            <a:pPr indent="0" marL="0">
              <a:buNone/>
            </a:pPr>
            <a:r>
              <a:rPr lang="en-US" sz="1800" b="1" dirty="0">
                <a:solidFill>
                  <a:srgbClr val="1F2A44"/>
                </a:solidFill>
              </a:rPr>
              <a:t>Single factor (baseline)</a:t>
            </a:r>
            <a:endParaRPr lang="en-US" sz="1800" dirty="0"/>
          </a:p>
        </p:txBody>
      </p:sp>
      <p:sp>
        <p:nvSpPr>
          <p:cNvPr id="8" name="Estimator formula 1"/>
          <p:cNvSpPr txBox="1"/>
          <p:nvPr/>
        </p:nvSpPr>
        <p:spPr>
          <a:xfrm>
            <a:off x="685800" y="2971800"/>
            <a:ext cx="3108960" cy="502920"/>
          </a:xfrm>
          <a:prstGeom prst="rect">
            <a:avLst/>
          </a:prstGeom>
          <a:noFill/>
          <a:ln/>
        </p:spPr>
        <p:txBody>
          <a:bodyPr wrap="square" lIns="0" tIns="0" rIns="0" bIns="0" rtlCol="0" anchor="ctr"/>
          <a:lstStyle/>
          <a:p>
            <a:pPr indent="0" marL="0">
              <a:buNone/>
            </a:pPr>
            <a:r>
              <a:rPr lang="en-US" sz="1600" b="1" dirty="0">
                <a:solidFill>
                  <a:srgbClr val="1F2D5C"/>
                </a:solidFill>
                <a:latin typeface="Cambria" pitchFamily="34" charset="0"/>
                <a:ea typeface="Cambria" pitchFamily="34" charset="-122"/>
                <a:cs typeface="Cambria" pitchFamily="34" charset="-120"/>
              </a:rPr>
              <a:t>V = σ²ₘ ββ′ + Diag(ω²)</a:t>
            </a:r>
            <a:endParaRPr lang="en-US" sz="1600" dirty="0"/>
          </a:p>
        </p:txBody>
      </p:sp>
      <p:sp>
        <p:nvSpPr>
          <p:cNvPr id="9" name="Estimator method 1"/>
          <p:cNvSpPr txBox="1"/>
          <p:nvPr/>
        </p:nvSpPr>
        <p:spPr>
          <a:xfrm>
            <a:off x="685800" y="3566160"/>
            <a:ext cx="31089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1F2A"/>
                </a:solidFill>
              </a:rPr>
              <a:t>OLS of excess returns on the market, 60 months</a:t>
            </a:r>
            <a:endParaRPr lang="en-US" sz="1400" dirty="0"/>
          </a:p>
          <a:p>
            <a:pPr marL="342900" indent="-342900">
              <a:spcAft>
                <a:spcPts val="400"/>
              </a:spcAft>
              <a:buSzPct val="100000"/>
              <a:buChar char="•"/>
            </a:pPr>
            <a:r>
              <a:rPr lang="en-US" sz="1400" dirty="0">
                <a:solidFill>
                  <a:srgbClr val="1B1F2A"/>
                </a:solidFill>
              </a:rPr>
              <a:t>Blume betas: ⅔β̂ + ⅓</a:t>
            </a:r>
            <a:endParaRPr lang="en-US" sz="1400" dirty="0"/>
          </a:p>
          <a:p>
            <a:pPr marL="342900" indent="-342900">
              <a:spcAft>
                <a:spcPts val="400"/>
              </a:spcAft>
              <a:buSzPct val="100000"/>
              <a:buChar char="•"/>
            </a:pPr>
            <a:r>
              <a:rPr lang="en-US" sz="1400" dirty="0">
                <a:solidFill>
                  <a:srgbClr val="1B1F2A"/>
                </a:solidFill>
              </a:rPr>
              <a:t>Residuals uncorrelated by assumption</a:t>
            </a:r>
            <a:endParaRPr lang="en-US" sz="1400" dirty="0"/>
          </a:p>
        </p:txBody>
      </p:sp>
      <p:sp>
        <p:nvSpPr>
          <p:cNvPr id="10" name="Estimator property 1"/>
          <p:cNvSpPr txBox="1"/>
          <p:nvPr/>
        </p:nvSpPr>
        <p:spPr>
          <a:xfrm>
            <a:off x="685800" y="5074920"/>
            <a:ext cx="3108960" cy="960120"/>
          </a:xfrm>
          <a:prstGeom prst="rect">
            <a:avLst/>
          </a:prstGeom>
          <a:noFill/>
          <a:ln/>
        </p:spPr>
        <p:txBody>
          <a:bodyPr wrap="square" lIns="0" tIns="0" rIns="0" bIns="0" rtlCol="0" anchor="t"/>
          <a:lstStyle/>
          <a:p>
            <a:pPr indent="0" marL="0">
              <a:buNone/>
            </a:pPr>
            <a:r>
              <a:rPr lang="en-US" sz="1300" i="1" dirty="0">
                <a:solidFill>
                  <a:srgbClr val="5B6577"/>
                </a:solidFill>
              </a:rPr>
              <a:t>Closed-form solutions for all three rules</a:t>
            </a:r>
            <a:endParaRPr lang="en-US" sz="1300" dirty="0"/>
          </a:p>
        </p:txBody>
      </p:sp>
      <p:sp>
        <p:nvSpPr>
          <p:cNvPr id="11" name="Estimator frame 2"/>
          <p:cNvSpPr/>
          <p:nvPr/>
        </p:nvSpPr>
        <p:spPr>
          <a:xfrm>
            <a:off x="4297680" y="2240280"/>
            <a:ext cx="3566160" cy="3931920"/>
          </a:xfrm>
          <a:prstGeom prst="roundRect">
            <a:avLst>
              <a:gd name="adj" fmla="val 2051"/>
            </a:avLst>
          </a:prstGeom>
          <a:solidFill>
            <a:srgbClr val="FFFFFF"/>
          </a:solidFill>
          <a:ln w="12700">
            <a:solidFill>
              <a:srgbClr val="E3E7ED"/>
            </a:solidFill>
            <a:prstDash val="solid"/>
          </a:ln>
        </p:spPr>
      </p:sp>
      <p:sp>
        <p:nvSpPr>
          <p:cNvPr id="12" name="Estimator dot 2"/>
          <p:cNvSpPr/>
          <p:nvPr/>
        </p:nvSpPr>
        <p:spPr>
          <a:xfrm>
            <a:off x="4526280" y="2487168"/>
            <a:ext cx="274320" cy="274320"/>
          </a:xfrm>
          <a:prstGeom prst="ellipse">
            <a:avLst/>
          </a:prstGeom>
          <a:solidFill>
            <a:srgbClr val="8E44AD"/>
          </a:solidFill>
          <a:ln w="12700">
            <a:solidFill>
              <a:srgbClr val="8E44AD"/>
            </a:solidFill>
            <a:prstDash val="solid"/>
          </a:ln>
        </p:spPr>
      </p:sp>
      <p:sp>
        <p:nvSpPr>
          <p:cNvPr id="13" name="Estimator name 2"/>
          <p:cNvSpPr txBox="1"/>
          <p:nvPr/>
        </p:nvSpPr>
        <p:spPr>
          <a:xfrm>
            <a:off x="4937760" y="2395728"/>
            <a:ext cx="2743200" cy="457200"/>
          </a:xfrm>
          <a:prstGeom prst="rect">
            <a:avLst/>
          </a:prstGeom>
          <a:noFill/>
          <a:ln/>
        </p:spPr>
        <p:txBody>
          <a:bodyPr wrap="square" lIns="0" tIns="0" rIns="0" bIns="0" rtlCol="0" anchor="ctr"/>
          <a:lstStyle/>
          <a:p>
            <a:pPr indent="0" marL="0">
              <a:buNone/>
            </a:pPr>
            <a:r>
              <a:rPr lang="en-US" sz="1800" b="1" dirty="0">
                <a:solidFill>
                  <a:srgbClr val="1F2A44"/>
                </a:solidFill>
              </a:rPr>
              <a:t>Constant correlation</a:t>
            </a:r>
            <a:endParaRPr lang="en-US" sz="1800" dirty="0"/>
          </a:p>
        </p:txBody>
      </p:sp>
      <p:sp>
        <p:nvSpPr>
          <p:cNvPr id="14" name="Estimator formula 2"/>
          <p:cNvSpPr txBox="1"/>
          <p:nvPr/>
        </p:nvSpPr>
        <p:spPr>
          <a:xfrm>
            <a:off x="4526280" y="2971800"/>
            <a:ext cx="3108960" cy="502920"/>
          </a:xfrm>
          <a:prstGeom prst="rect">
            <a:avLst/>
          </a:prstGeom>
          <a:noFill/>
          <a:ln/>
        </p:spPr>
        <p:txBody>
          <a:bodyPr wrap="square" lIns="0" tIns="0" rIns="0" bIns="0" rtlCol="0" anchor="ctr"/>
          <a:lstStyle/>
          <a:p>
            <a:pPr indent="0" marL="0">
              <a:buNone/>
            </a:pPr>
            <a:r>
              <a:rPr lang="en-US" sz="1600" b="1" dirty="0">
                <a:solidFill>
                  <a:srgbClr val="8E44AD"/>
                </a:solidFill>
                <a:latin typeface="Cambria" pitchFamily="34" charset="0"/>
                <a:ea typeface="Cambria" pitchFamily="34" charset="-122"/>
                <a:cs typeface="Cambria" pitchFamily="34" charset="-120"/>
              </a:rPr>
              <a:t>V = ρ σσ′ + (1 − ρ) Diag(σ)²</a:t>
            </a:r>
            <a:endParaRPr lang="en-US" sz="1600" dirty="0"/>
          </a:p>
        </p:txBody>
      </p:sp>
      <p:sp>
        <p:nvSpPr>
          <p:cNvPr id="15" name="Estimator method 2"/>
          <p:cNvSpPr txBox="1"/>
          <p:nvPr/>
        </p:nvSpPr>
        <p:spPr>
          <a:xfrm>
            <a:off x="4526280" y="3566160"/>
            <a:ext cx="31089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1F2A"/>
                </a:solidFill>
              </a:rPr>
              <a:t>ρ = average pairwise sample correlation (0.269 at the first rebalance)</a:t>
            </a:r>
            <a:endParaRPr lang="en-US" sz="1400" dirty="0"/>
          </a:p>
          <a:p>
            <a:pPr marL="342900" indent="-342900">
              <a:spcAft>
                <a:spcPts val="400"/>
              </a:spcAft>
              <a:buSzPct val="100000"/>
              <a:buChar char="•"/>
            </a:pPr>
            <a:r>
              <a:rPr lang="en-US" sz="1400" dirty="0">
                <a:solidFill>
                  <a:srgbClr val="1B1F2A"/>
                </a:solidFill>
              </a:rPr>
              <a:t>Log volatilities shrunk ⅓ towards their mean</a:t>
            </a:r>
            <a:endParaRPr lang="en-US" sz="1400" dirty="0"/>
          </a:p>
        </p:txBody>
      </p:sp>
      <p:sp>
        <p:nvSpPr>
          <p:cNvPr id="16" name="Estimator property 2"/>
          <p:cNvSpPr txBox="1"/>
          <p:nvPr/>
        </p:nvSpPr>
        <p:spPr>
          <a:xfrm>
            <a:off x="4526280" y="5074920"/>
            <a:ext cx="3108960" cy="960120"/>
          </a:xfrm>
          <a:prstGeom prst="rect">
            <a:avLst/>
          </a:prstGeom>
          <a:noFill/>
          <a:ln/>
        </p:spPr>
        <p:txBody>
          <a:bodyPr wrap="square" lIns="0" tIns="0" rIns="0" bIns="0" rtlCol="0" anchor="t"/>
          <a:lstStyle/>
          <a:p>
            <a:pPr indent="0" marL="0">
              <a:buNone/>
            </a:pPr>
            <a:r>
              <a:rPr lang="en-US" sz="1300" i="1" dirty="0">
                <a:solidFill>
                  <a:srgbClr val="5B6577"/>
                </a:solidFill>
              </a:rPr>
              <a:t>Still rank one plus diagonal, so the closed forms apply; MaxDiv and risk parity both become inverse-volatility weights</a:t>
            </a:r>
            <a:endParaRPr lang="en-US" sz="1300" dirty="0"/>
          </a:p>
        </p:txBody>
      </p:sp>
      <p:sp>
        <p:nvSpPr>
          <p:cNvPr id="17" name="Estimator frame 3"/>
          <p:cNvSpPr/>
          <p:nvPr/>
        </p:nvSpPr>
        <p:spPr>
          <a:xfrm>
            <a:off x="8138160" y="2240280"/>
            <a:ext cx="3566160" cy="3931920"/>
          </a:xfrm>
          <a:prstGeom prst="roundRect">
            <a:avLst>
              <a:gd name="adj" fmla="val 2051"/>
            </a:avLst>
          </a:prstGeom>
          <a:solidFill>
            <a:srgbClr val="FFFFFF"/>
          </a:solidFill>
          <a:ln w="12700">
            <a:solidFill>
              <a:srgbClr val="E3E7ED"/>
            </a:solidFill>
            <a:prstDash val="solid"/>
          </a:ln>
        </p:spPr>
      </p:sp>
      <p:sp>
        <p:nvSpPr>
          <p:cNvPr id="18" name="Estimator dot 3"/>
          <p:cNvSpPr/>
          <p:nvPr/>
        </p:nvSpPr>
        <p:spPr>
          <a:xfrm>
            <a:off x="8366760" y="2487168"/>
            <a:ext cx="274320" cy="274320"/>
          </a:xfrm>
          <a:prstGeom prst="ellipse">
            <a:avLst/>
          </a:prstGeom>
          <a:solidFill>
            <a:srgbClr val="16A3B8"/>
          </a:solidFill>
          <a:ln w="12700">
            <a:solidFill>
              <a:srgbClr val="16A3B8"/>
            </a:solidFill>
            <a:prstDash val="solid"/>
          </a:ln>
        </p:spPr>
      </p:sp>
      <p:sp>
        <p:nvSpPr>
          <p:cNvPr id="19" name="Estimator name 3"/>
          <p:cNvSpPr txBox="1"/>
          <p:nvPr/>
        </p:nvSpPr>
        <p:spPr>
          <a:xfrm>
            <a:off x="8778240" y="2395728"/>
            <a:ext cx="2743200" cy="457200"/>
          </a:xfrm>
          <a:prstGeom prst="rect">
            <a:avLst/>
          </a:prstGeom>
          <a:noFill/>
          <a:ln/>
        </p:spPr>
        <p:txBody>
          <a:bodyPr wrap="square" lIns="0" tIns="0" rIns="0" bIns="0" rtlCol="0" anchor="ctr"/>
          <a:lstStyle/>
          <a:p>
            <a:pPr indent="0" marL="0">
              <a:buNone/>
            </a:pPr>
            <a:r>
              <a:rPr lang="en-US" sz="1800" b="1" dirty="0">
                <a:solidFill>
                  <a:srgbClr val="1F2A44"/>
                </a:solidFill>
              </a:rPr>
              <a:t>Shrunk sample covariance</a:t>
            </a:r>
            <a:endParaRPr lang="en-US" sz="1800" dirty="0"/>
          </a:p>
        </p:txBody>
      </p:sp>
      <p:sp>
        <p:nvSpPr>
          <p:cNvPr id="20" name="Estimator formula 3"/>
          <p:cNvSpPr txBox="1"/>
          <p:nvPr/>
        </p:nvSpPr>
        <p:spPr>
          <a:xfrm>
            <a:off x="8366760" y="2971800"/>
            <a:ext cx="3108960" cy="502920"/>
          </a:xfrm>
          <a:prstGeom prst="rect">
            <a:avLst/>
          </a:prstGeom>
          <a:noFill/>
          <a:ln/>
        </p:spPr>
        <p:txBody>
          <a:bodyPr wrap="square" lIns="0" tIns="0" rIns="0" bIns="0" rtlCol="0" anchor="ctr"/>
          <a:lstStyle/>
          <a:p>
            <a:pPr indent="0" marL="0">
              <a:buNone/>
            </a:pPr>
            <a:r>
              <a:rPr lang="en-US" sz="1600" b="1" dirty="0">
                <a:solidFill>
                  <a:srgbClr val="16A3B8"/>
                </a:solidFill>
                <a:latin typeface="Cambria" pitchFamily="34" charset="0"/>
                <a:ea typeface="Cambria" pitchFamily="34" charset="-122"/>
                <a:cs typeface="Cambria" pitchFamily="34" charset="-120"/>
              </a:rPr>
              <a:t>V = V̂ + λ (C − V̂),  V̂ = RR′</a:t>
            </a:r>
            <a:endParaRPr lang="en-US" sz="1600" dirty="0"/>
          </a:p>
        </p:txBody>
      </p:sp>
      <p:sp>
        <p:nvSpPr>
          <p:cNvPr id="21" name="Estimator method 3"/>
          <p:cNvSpPr txBox="1"/>
          <p:nvPr/>
        </p:nvSpPr>
        <p:spPr>
          <a:xfrm>
            <a:off x="8366760" y="3566160"/>
            <a:ext cx="31089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1F2A"/>
                </a:solidFill>
              </a:rPr>
              <a:t>Target C: average variance on the diagonal, average covariance off it</a:t>
            </a:r>
            <a:endParaRPr lang="en-US" sz="1400" dirty="0"/>
          </a:p>
          <a:p>
            <a:pPr marL="342900" indent="-342900">
              <a:spcAft>
                <a:spcPts val="400"/>
              </a:spcAft>
              <a:buSzPct val="100000"/>
              <a:buChar char="•"/>
            </a:pPr>
            <a:r>
              <a:rPr lang="en-US" sz="1400" dirty="0">
                <a:solidFill>
                  <a:srgbClr val="1B1F2A"/>
                </a:solidFill>
              </a:rPr>
              <a:t>λ from the Clarke–de Silva–Thorley (2006) appendix, clipped to [0, 1] (0.464 at the first rebalance)</a:t>
            </a:r>
            <a:endParaRPr lang="en-US" sz="1400" dirty="0"/>
          </a:p>
        </p:txBody>
      </p:sp>
      <p:sp>
        <p:nvSpPr>
          <p:cNvPr id="22" name="Estimator property 3"/>
          <p:cNvSpPr txBox="1"/>
          <p:nvPr/>
        </p:nvSpPr>
        <p:spPr>
          <a:xfrm>
            <a:off x="8366760" y="5074920"/>
            <a:ext cx="3108960" cy="960120"/>
          </a:xfrm>
          <a:prstGeom prst="rect">
            <a:avLst/>
          </a:prstGeom>
          <a:noFill/>
          <a:ln/>
        </p:spPr>
        <p:txBody>
          <a:bodyPr wrap="square" lIns="0" tIns="0" rIns="0" bIns="0" rtlCol="0" anchor="t"/>
          <a:lstStyle/>
          <a:p>
            <a:pPr indent="0" marL="0">
              <a:buNone/>
            </a:pPr>
            <a:r>
              <a:rPr lang="en-US" sz="1300" i="1" dirty="0">
                <a:solidFill>
                  <a:srgbClr val="5B6577"/>
                </a:solidFill>
              </a:rPr>
              <a:t>Captures correlations between any two stocks; QPs for minimum risk and MaxDiv, Newton's method for risk parity</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The Risk Model Changes Minimum Risk Most, Risk Parity Least</a:t>
            </a:r>
            <a:endParaRPr lang="en-US" sz="3000" dirty="0"/>
          </a:p>
        </p:txBody>
      </p:sp>
      <p:graphicFrame>
        <p:nvGraphicFramePr>
          <p:cNvPr id="8" name="Estimator table"/>
          <p:cNvGraphicFramePr>
            <a:graphicFrameLocks noGrp="1"/>
          </p:cNvGraphicFramePr>
          <p:nvPr>
            <p:extLst>
              <p:ext uri="{D42A27DB-BD31-4B8C-83A1-F6EECF244321}">
                <p14:modId xmlns:p14="http://schemas.microsoft.com/office/powerpoint/2010/main" val="1579011935"/>
              </p:ext>
            </p:extLst>
          </p:nvPr>
        </p:nvGraphicFramePr>
        <p:xfrm>
          <a:off x="457200" y="1188720"/>
          <a:ext cx="6995160" cy="914400"/>
        </p:xfrm>
        <a:graphic>
          <a:graphicData uri="http://schemas.openxmlformats.org/drawingml/2006/table">
            <a:tbl>
              <a:tblPr/>
              <a:tblGrid>
                <a:gridCol w="1097280"/>
                <a:gridCol w="1508760"/>
                <a:gridCol w="685800"/>
                <a:gridCol w="731520"/>
                <a:gridCol w="777240"/>
                <a:gridCol w="731520"/>
                <a:gridCol w="777240"/>
                <a:gridCol w="685800"/>
              </a:tblGrid>
              <a:tr h="310896">
                <a:tc>
                  <a:txBody>
                    <a:bodyPr/>
                    <a:lstStyle/>
                    <a:p>
                      <a:pPr algn="l" indent="0" marL="0">
                        <a:buNone/>
                      </a:pPr>
                      <a:r>
                        <a:rPr lang="en-US" sz="1200" b="1" dirty="0">
                          <a:solidFill>
                            <a:schemeClr val="bg1"/>
                          </a:solidFill>
                        </a:rPr>
                        <a:t>Strategy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l" indent="0" marL="0">
                        <a:buNone/>
                      </a:pPr>
                      <a:r>
                        <a:rPr lang="en-US" sz="1200" b="1" dirty="0">
                          <a:solidFill>
                            <a:schemeClr val="bg1"/>
                          </a:solidFill>
                        </a:rPr>
                        <a:t>Risk model</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Sharpe</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Volatility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Max DD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Turnover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Pred / real. vol</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Utilities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310896">
                <a:tc>
                  <a:txBody>
                    <a:bodyPr/>
                    <a:lstStyle/>
                    <a:p>
                      <a:pPr algn="l" indent="0" marL="0">
                        <a:buNone/>
                      </a:pPr>
                      <a:r>
                        <a:rPr lang="en-US" sz="1200" dirty="0">
                          <a:solidFill>
                            <a:srgbClr val="2A78D6"/>
                          </a:solidFill>
                        </a:rPr>
                        <a:t>■  </a:t>
                      </a:r>
                      <a:pPr algn="l" indent="0" marL="0">
                        <a:buNone/>
                      </a:pPr>
                      <a:r>
                        <a:rPr lang="en-US" sz="1200" b="1" dirty="0">
                          <a:solidFill>
                            <a:srgbClr val="1B1F2A"/>
                          </a:solidFill>
                        </a:rPr>
                        <a:t>Min. risk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0.499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12.7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−37.5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0.57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52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l" indent="0" marL="0">
                        <a:buNone/>
                      </a:pPr>
                      <a:r>
                        <a:rPr lang="en-US" sz="1200" dirty="0">
                          <a:solidFill>
                            <a:srgbClr val="1B1F2A"/>
                          </a:solidFill>
                        </a:rPr>
                        <a:t>Const.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0.580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12.2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−34.8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96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0.83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42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0.675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11.8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−41.0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180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1.11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c>
                  <a:txBody>
                    <a:bodyPr/>
                    <a:lstStyle/>
                    <a:p>
                      <a:pPr algn="ctr" indent="0" marL="0">
                        <a:buNone/>
                      </a:pPr>
                      <a:r>
                        <a:rPr lang="en-US" sz="1200" dirty="0">
                          <a:solidFill>
                            <a:srgbClr val="1B1F2A"/>
                          </a:solidFill>
                        </a:rPr>
                        <a:t>20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AF2FC"/>
                    </a:solidFill>
                  </a:tcPr>
                </a:tc>
              </a:tr>
              <a:tr h="310896">
                <a:tc>
                  <a:txBody>
                    <a:bodyPr/>
                    <a:lstStyle/>
                    <a:p>
                      <a:pPr algn="l" indent="0" marL="0">
                        <a:buNone/>
                      </a:pPr>
                      <a:r>
                        <a:rPr lang="en-US" sz="1200" dirty="0">
                          <a:solidFill>
                            <a:srgbClr val="EB6834"/>
                          </a:solidFill>
                        </a:rPr>
                        <a:t>■  </a:t>
                      </a:r>
                      <a:pPr algn="l" indent="0" marL="0">
                        <a:buNone/>
                      </a:pPr>
                      <a:r>
                        <a:rPr lang="en-US" sz="1200" b="1" dirty="0">
                          <a:solidFill>
                            <a:srgbClr val="1B1F2A"/>
                          </a:solidFill>
                        </a:rPr>
                        <a:t>Max. div.</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0.604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−53.6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Const.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0.532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−58.5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r>
                        <a:rPr lang="en-US" sz="1200" dirty="0">
                          <a:solidFill>
                            <a:srgbClr val="1BAF7A"/>
                          </a:solidFill>
                        </a:rPr>
                        <a:t>■  </a:t>
                      </a:r>
                      <a:pPr algn="l" indent="0" marL="0">
                        <a:buNone/>
                      </a:pPr>
                      <a:r>
                        <a:rPr lang="en-US" sz="1200" b="1" dirty="0">
                          <a:solidFill>
                            <a:srgbClr val="1B1F2A"/>
                          </a:solidFill>
                        </a:rPr>
                        <a:t>Risk parity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Const.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0.656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r>
                        <a:rPr lang="en-US" sz="1200" dirty="0">
                          <a:solidFill>
                            <a:srgbClr val="EDA100"/>
                          </a:solidFill>
                        </a:rPr>
                        <a:t>■  </a:t>
                      </a:r>
                      <a:pPr algn="l" indent="0" marL="0">
                        <a:buNone/>
                      </a:pPr>
                      <a:r>
                        <a:rPr lang="en-US" sz="1200" b="1" dirty="0">
                          <a:solidFill>
                            <a:srgbClr val="1B1F2A"/>
                          </a:solidFill>
                        </a:rPr>
                        <a:t>EW</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Benchmark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0.631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10896">
                <a:tc>
                  <a:txBody>
                    <a:bodyPr/>
                    <a:lstStyle/>
                    <a:p>
                      <a:pPr algn="l" indent="0" marL="0">
                        <a:buNone/>
                      </a:pPr>
                      <a:r>
                        <a:rPr lang="en-US" sz="1200" dirty="0">
                          <a:solidFill>
                            <a:srgbClr val="E87BA4"/>
                          </a:solidFill>
                        </a:rPr>
                        <a:t>■  </a:t>
                      </a:r>
                      <a:pPr algn="l" indent="0" marL="0">
                        <a:buNone/>
                      </a:pPr>
                      <a:r>
                        <a:rPr lang="en-US" sz="1200" b="1" dirty="0">
                          <a:solidFill>
                            <a:srgbClr val="1B1F2A"/>
                          </a:solidFill>
                        </a:rPr>
                        <a:t>VW</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Benchmark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0.656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4" name="Estimator note"/>
          <p:cNvSpPr txBox="1"/>
          <p:nvPr/>
        </p:nvSpPr>
        <p:spPr>
          <a:xfrm>
            <a:off x="457200" y="5486400"/>
            <a:ext cx="6995160" cy="502920"/>
          </a:xfrm>
          <a:prstGeom prst="rect">
            <a:avLst/>
          </a:prstGeom>
          <a:noFill/>
          <a:ln/>
        </p:spPr>
        <p:txBody>
          <a:bodyPr wrap="square" lIns="0" tIns="0" rIns="0" bIns="0" rtlCol="0" anchor="ctr"/>
          <a:lstStyle/>
          <a:p>
            <a:pPr indent="0" marL="0">
              <a:buNone/>
            </a:pPr>
            <a:r>
              <a:rPr lang="en-US" sz="1100" dirty="0">
                <a:solidFill>
                  <a:srgbClr val="5B6577"/>
                </a:solidFill>
              </a:rPr>
              <a:t>Pred / real. vol: average ex-ante volatility ÷ realized volatility (below 1 = risk underestimated). Utilities: average weight in SIC 4900–4999. EW and VW use no covariance.</a:t>
            </a:r>
            <a:endParaRPr lang="en-US" sz="1100" dirty="0"/>
          </a:p>
        </p:txBody>
      </p:sp>
      <p:graphicFrame>
        <p:nvGraphicFramePr>
          <p:cNvPr id="5" name="Min risk by estimator" descr=""/>
          <p:cNvGraphicFramePr/>
          <p:nvPr/>
        </p:nvGraphicFramePr>
        <p:xfrm>
          <a:off x="7726680" y="1188720"/>
          <a:ext cx="4005072" cy="4572000"/>
        </p:xfrm>
        <a:graphic xmlns:a="http://schemas.openxmlformats.org/drawingml/2006/main">
          <a:graphicData uri="http://schemas.openxmlformats.org/drawingml/2006/chart">
            <c:chart xmlns:c="http://schemas.openxmlformats.org/drawingml/2006/chart" r:id="rId1"/>
          </a:graphicData>
        </a:graphic>
      </p:graphicFrame>
      <p:sp>
        <p:nvSpPr>
          <p:cNvPr id="6" name="Chart takeaway"/>
          <p:cNvSpPr txBox="1"/>
          <p:nvPr/>
        </p:nvSpPr>
        <p:spPr>
          <a:xfrm>
            <a:off x="7726680" y="5806440"/>
            <a:ext cx="4005072" cy="411480"/>
          </a:xfrm>
          <a:prstGeom prst="rect">
            <a:avLst/>
          </a:prstGeom>
          <a:noFill/>
          <a:ln/>
        </p:spPr>
        <p:txBody>
          <a:bodyPr wrap="square" lIns="0" tIns="0" rIns="0" bIns="0" rtlCol="0" anchor="ctr"/>
          <a:lstStyle/>
          <a:p>
            <a:pPr indent="0" marL="0">
              <a:buNone/>
            </a:pPr>
            <a:r>
              <a:rPr lang="en-US" sz="1200" i="1" dirty="0">
                <a:solidFill>
                  <a:srgbClr val="1B1F2A"/>
                </a:solidFill>
              </a:rPr>
              <a:t>Risk parity's Sharpe stays within 0.656–0.689; MaxDiv swings from 0.532 to 0.661.</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Why Estimation Error Hits Some Rules Harder</a:t>
            </a:r>
            <a:endParaRPr lang="en-US" sz="3000" dirty="0"/>
          </a:p>
        </p:txBody>
      </p:sp>
      <p:sp>
        <p:nvSpPr>
          <p:cNvPr id="3" name="Stat card 1"/>
          <p:cNvSpPr/>
          <p:nvPr/>
        </p:nvSpPr>
        <p:spPr>
          <a:xfrm>
            <a:off x="457200" y="1188720"/>
            <a:ext cx="3566160" cy="1417320"/>
          </a:xfrm>
          <a:prstGeom prst="roundRect">
            <a:avLst>
              <a:gd name="adj" fmla="val 5161"/>
            </a:avLst>
          </a:prstGeom>
          <a:solidFill>
            <a:srgbClr val="EEF1F5"/>
          </a:solidFill>
          <a:ln w="12700">
            <a:solidFill>
              <a:srgbClr val="EEF1F5"/>
            </a:solidFill>
            <a:prstDash val="solid"/>
          </a:ln>
        </p:spPr>
      </p:sp>
      <p:sp>
        <p:nvSpPr>
          <p:cNvPr id="4" name="Stat number 1"/>
          <p:cNvSpPr txBox="1"/>
          <p:nvPr/>
        </p:nvSpPr>
        <p:spPr>
          <a:xfrm>
            <a:off x="685800" y="1261872"/>
            <a:ext cx="3108960" cy="64008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52% → 20%</a:t>
            </a:r>
            <a:endParaRPr lang="en-US" sz="3000" dirty="0"/>
          </a:p>
        </p:txBody>
      </p:sp>
      <p:sp>
        <p:nvSpPr>
          <p:cNvPr id="5" name="Stat label 1"/>
          <p:cNvSpPr txBox="1"/>
          <p:nvPr/>
        </p:nvSpPr>
        <p:spPr>
          <a:xfrm>
            <a:off x="685800" y="1920240"/>
            <a:ext cx="3108960" cy="621792"/>
          </a:xfrm>
          <a:prstGeom prst="rect">
            <a:avLst/>
          </a:prstGeom>
          <a:noFill/>
          <a:ln/>
        </p:spPr>
        <p:txBody>
          <a:bodyPr wrap="square" lIns="0" tIns="0" rIns="0" bIns="0" rtlCol="0" anchor="t"/>
          <a:lstStyle/>
          <a:p>
            <a:pPr indent="0" marL="0">
              <a:buNone/>
            </a:pPr>
            <a:r>
              <a:rPr lang="en-US" sz="1300" b="1" dirty="0">
                <a:solidFill>
                  <a:srgbClr val="1B1F2A"/>
                </a:solidFill>
              </a:rPr>
              <a:t>Minimum risk's weight in utilities</a:t>
            </a:r>
            <a:endParaRPr lang="en-US" sz="1300" dirty="0"/>
          </a:p>
          <a:p>
            <a:pPr indent="0" marL="0">
              <a:buNone/>
            </a:pPr>
            <a:r>
              <a:rPr lang="en-US" sz="1300" dirty="0">
                <a:solidFill>
                  <a:srgbClr val="5B6577"/>
                </a:solidFill>
              </a:rPr>
              <a:t>single factor → shrunk sample</a:t>
            </a:r>
            <a:endParaRPr lang="en-US" sz="1300" dirty="0"/>
          </a:p>
        </p:txBody>
      </p:sp>
      <p:sp>
        <p:nvSpPr>
          <p:cNvPr id="6" name="Stat card 2"/>
          <p:cNvSpPr/>
          <p:nvPr/>
        </p:nvSpPr>
        <p:spPr>
          <a:xfrm>
            <a:off x="4297680" y="1188720"/>
            <a:ext cx="3566160" cy="1417320"/>
          </a:xfrm>
          <a:prstGeom prst="roundRect">
            <a:avLst>
              <a:gd name="adj" fmla="val 5161"/>
            </a:avLst>
          </a:prstGeom>
          <a:solidFill>
            <a:srgbClr val="EEF1F5"/>
          </a:solidFill>
          <a:ln w="12700">
            <a:solidFill>
              <a:srgbClr val="EEF1F5"/>
            </a:solidFill>
            <a:prstDash val="solid"/>
          </a:ln>
        </p:spPr>
      </p:sp>
      <p:sp>
        <p:nvSpPr>
          <p:cNvPr id="7" name="Stat number 2"/>
          <p:cNvSpPr txBox="1"/>
          <p:nvPr/>
        </p:nvSpPr>
        <p:spPr>
          <a:xfrm>
            <a:off x="4526280" y="1261872"/>
            <a:ext cx="3108960" cy="64008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0.57 → 1.11</a:t>
            </a:r>
            <a:endParaRPr lang="en-US" sz="3000" dirty="0"/>
          </a:p>
        </p:txBody>
      </p:sp>
      <p:sp>
        <p:nvSpPr>
          <p:cNvPr id="8" name="Stat label 2"/>
          <p:cNvSpPr txBox="1"/>
          <p:nvPr/>
        </p:nvSpPr>
        <p:spPr>
          <a:xfrm>
            <a:off x="4526280" y="1920240"/>
            <a:ext cx="3108960" cy="621792"/>
          </a:xfrm>
          <a:prstGeom prst="rect">
            <a:avLst/>
          </a:prstGeom>
          <a:noFill/>
          <a:ln/>
        </p:spPr>
        <p:txBody>
          <a:bodyPr wrap="square" lIns="0" tIns="0" rIns="0" bIns="0" rtlCol="0" anchor="t"/>
          <a:lstStyle/>
          <a:p>
            <a:pPr indent="0" marL="0">
              <a:buNone/>
            </a:pPr>
            <a:r>
              <a:rPr lang="en-US" sz="1300" b="1" dirty="0">
                <a:solidFill>
                  <a:srgbClr val="1B1F2A"/>
                </a:solidFill>
              </a:rPr>
              <a:t>Predicted ÷ realized volatility</a:t>
            </a:r>
            <a:endParaRPr lang="en-US" sz="1300" dirty="0"/>
          </a:p>
          <a:p>
            <a:pPr indent="0" marL="0">
              <a:buNone/>
            </a:pPr>
            <a:r>
              <a:rPr lang="en-US" sz="1300" dirty="0">
                <a:solidFill>
                  <a:srgbClr val="5B6577"/>
                </a:solidFill>
              </a:rPr>
              <a:t>risk underestimated by about 43% → roughly unbiased</a:t>
            </a:r>
            <a:endParaRPr lang="en-US" sz="1300" dirty="0"/>
          </a:p>
        </p:txBody>
      </p:sp>
      <p:sp>
        <p:nvSpPr>
          <p:cNvPr id="9" name="Stat card 3"/>
          <p:cNvSpPr/>
          <p:nvPr/>
        </p:nvSpPr>
        <p:spPr>
          <a:xfrm>
            <a:off x="8138160" y="1188720"/>
            <a:ext cx="3566160" cy="1417320"/>
          </a:xfrm>
          <a:prstGeom prst="roundRect">
            <a:avLst>
              <a:gd name="adj" fmla="val 5161"/>
            </a:avLst>
          </a:prstGeom>
          <a:solidFill>
            <a:srgbClr val="EEF1F5"/>
          </a:solidFill>
          <a:ln w="12700">
            <a:solidFill>
              <a:srgbClr val="EEF1F5"/>
            </a:solidFill>
            <a:prstDash val="solid"/>
          </a:ln>
        </p:spPr>
      </p:sp>
      <p:sp>
        <p:nvSpPr>
          <p:cNvPr id="10" name="Stat number 3"/>
          <p:cNvSpPr txBox="1"/>
          <p:nvPr/>
        </p:nvSpPr>
        <p:spPr>
          <a:xfrm>
            <a:off x="8366760" y="1261872"/>
            <a:ext cx="3108960" cy="64008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0.499 → 0.675</a:t>
            </a:r>
            <a:endParaRPr lang="en-US" sz="3000" dirty="0"/>
          </a:p>
        </p:txBody>
      </p:sp>
      <p:sp>
        <p:nvSpPr>
          <p:cNvPr id="11" name="Stat label 3"/>
          <p:cNvSpPr txBox="1"/>
          <p:nvPr/>
        </p:nvSpPr>
        <p:spPr>
          <a:xfrm>
            <a:off x="8366760" y="1920240"/>
            <a:ext cx="3108960" cy="621792"/>
          </a:xfrm>
          <a:prstGeom prst="rect">
            <a:avLst/>
          </a:prstGeom>
          <a:noFill/>
          <a:ln/>
        </p:spPr>
        <p:txBody>
          <a:bodyPr wrap="square" lIns="0" tIns="0" rIns="0" bIns="0" rtlCol="0" anchor="t"/>
          <a:lstStyle/>
          <a:p>
            <a:pPr indent="0" marL="0">
              <a:buNone/>
            </a:pPr>
            <a:r>
              <a:rPr lang="en-US" sz="1300" b="1" dirty="0">
                <a:solidFill>
                  <a:srgbClr val="1B1F2A"/>
                </a:solidFill>
              </a:rPr>
              <a:t>Minimum risk's Sharpe ratio</a:t>
            </a:r>
            <a:endParaRPr lang="en-US" sz="1300" dirty="0"/>
          </a:p>
          <a:p>
            <a:pPr indent="0" marL="0">
              <a:buNone/>
            </a:pPr>
            <a:r>
              <a:rPr lang="en-US" sz="1300" dirty="0">
                <a:solidFill>
                  <a:srgbClr val="5B6577"/>
                </a:solidFill>
              </a:rPr>
              <a:t>at the cost of more turnover (117% → 180%)</a:t>
            </a:r>
            <a:endParaRPr lang="en-US" sz="1300" dirty="0"/>
          </a:p>
        </p:txBody>
      </p:sp>
      <p:sp>
        <p:nvSpPr>
          <p:cNvPr id="12" name="Discussion"/>
          <p:cNvSpPr txBox="1"/>
          <p:nvPr/>
        </p:nvSpPr>
        <p:spPr>
          <a:xfrm>
            <a:off x="457200" y="2880360"/>
            <a:ext cx="6035040" cy="3337560"/>
          </a:xfrm>
          <a:prstGeom prst="rect">
            <a:avLst/>
          </a:prstGeom>
          <a:noFill/>
          <a:ln/>
        </p:spPr>
        <p:txBody>
          <a:bodyPr wrap="square" lIns="0" tIns="0" rIns="0" bIns="0" rtlCol="0" anchor="t"/>
          <a:lstStyle/>
          <a:p>
            <a:pPr indent="0" marL="0">
              <a:spcAft>
                <a:spcPts val="600"/>
              </a:spcAft>
              <a:buNone/>
            </a:pPr>
            <a:r>
              <a:rPr lang="en-US" sz="1400" b="1" dirty="0">
                <a:solidFill>
                  <a:srgbClr val="2A78D6"/>
                </a:solidFill>
              </a:rPr>
              <a:t>Minimum risk relies on the fine structure of V</a:t>
            </a:r>
            <a:endParaRPr lang="en-US" sz="1400" dirty="0"/>
          </a:p>
          <a:p>
            <a:pPr indent="0" marL="0">
              <a:spcAft>
                <a:spcPts val="600"/>
              </a:spcAft>
              <a:buNone/>
            </a:pPr>
            <a:r>
              <a:rPr lang="en-US" sz="1400" dirty="0">
                <a:solidFill>
                  <a:srgbClr val="1B1F2A"/>
                </a:solidFill>
              </a:rPr>
              <a:t>Its weights depend on V⁻¹. The single-factor model cannot see the utilities' shared industry risk, so the optimizer piles into them; the sample covariance sees it.</a:t>
            </a:r>
            <a:endParaRPr lang="en-US" sz="1400" dirty="0"/>
          </a:p>
          <a:p>
            <a:pPr indent="0" marL="0">
              <a:spcAft>
                <a:spcPts val="600"/>
              </a:spcAft>
              <a:buNone/>
            </a:pPr>
            <a:r>
              <a:rPr lang="en-US" sz="1400" b="1" dirty="0">
                <a:solidFill>
                  <a:srgbClr val="1BAF7A"/>
                </a:solidFill>
              </a:rPr>
              <a:t>Risk parity only needs each stock's covariance with the portfolio</a:t>
            </a:r>
            <a:endParaRPr lang="en-US" sz="1400" dirty="0"/>
          </a:p>
          <a:p>
            <a:pPr indent="0" marL="0">
              <a:spcAft>
                <a:spcPts val="600"/>
              </a:spcAft>
              <a:buNone/>
            </a:pPr>
            <a:r>
              <a:rPr lang="en-US" sz="1400" dirty="0">
                <a:solidFill>
                  <a:srgbClr val="1B1F2A"/>
                </a:solidFill>
              </a:rPr>
              <a:t>With 500 names that is close to the stock's beta, which every estimator gets about right, so the weights barely move.</a:t>
            </a:r>
            <a:endParaRPr lang="en-US" sz="1400" dirty="0"/>
          </a:p>
          <a:p>
            <a:pPr indent="0" marL="0">
              <a:spcAft>
                <a:spcPts val="600"/>
              </a:spcAft>
              <a:buNone/>
            </a:pPr>
            <a:r>
              <a:rPr lang="en-US" sz="1400" b="1" dirty="0">
                <a:solidFill>
                  <a:srgbClr val="EB6834"/>
                </a:solidFill>
              </a:rPr>
              <a:t>Maximum diversification is estimator-sensitive</a:t>
            </a:r>
            <a:endParaRPr lang="en-US" sz="1400" dirty="0"/>
          </a:p>
          <a:p>
            <a:pPr indent="0" marL="0">
              <a:spcAft>
                <a:spcPts val="600"/>
              </a:spcAft>
              <a:buNone/>
            </a:pPr>
            <a:r>
              <a:rPr lang="en-US" sz="1400" dirty="0">
                <a:solidFill>
                  <a:srgbClr val="1B1F2A"/>
                </a:solidFill>
              </a:rPr>
              <a:t>Sharpe 0.604 / 0.661 / 0.532; under constant correlation it is the inverse-volatility portfolio.</a:t>
            </a:r>
            <a:endParaRPr lang="en-US" sz="1400" dirty="0"/>
          </a:p>
        </p:txBody>
      </p:sp>
      <p:graphicFrame>
        <p:nvGraphicFramePr>
          <p:cNvPr id="13" name="Lambda" descr=""/>
          <p:cNvGraphicFramePr/>
          <p:nvPr/>
        </p:nvGraphicFramePr>
        <p:xfrm>
          <a:off x="6812280" y="2834640"/>
          <a:ext cx="4919472" cy="2514600"/>
        </p:xfrm>
        <a:graphic xmlns:a="http://schemas.openxmlformats.org/drawingml/2006/main">
          <a:graphicData uri="http://schemas.openxmlformats.org/drawingml/2006/chart">
            <c:chart xmlns:c="http://schemas.openxmlformats.org/drawingml/2006/chart" r:id="rId1"/>
          </a:graphicData>
        </a:graphic>
      </p:graphicFrame>
      <p:sp>
        <p:nvSpPr>
          <p:cNvPr id="14" name="Lambda note"/>
          <p:cNvSpPr txBox="1"/>
          <p:nvPr/>
        </p:nvSpPr>
        <p:spPr>
          <a:xfrm>
            <a:off x="6812280" y="5394960"/>
            <a:ext cx="4919472" cy="777240"/>
          </a:xfrm>
          <a:prstGeom prst="rect">
            <a:avLst/>
          </a:prstGeom>
          <a:noFill/>
          <a:ln/>
        </p:spPr>
        <p:txBody>
          <a:bodyPr wrap="square" lIns="0" tIns="0" rIns="0" bIns="0" rtlCol="0" anchor="t"/>
          <a:lstStyle/>
          <a:p>
            <a:pPr indent="0" marL="0">
              <a:buNone/>
            </a:pPr>
            <a:r>
              <a:rPr lang="en-US" sz="1200" i="1" dirty="0">
                <a:solidFill>
                  <a:srgbClr val="5B6577"/>
                </a:solidFill>
              </a:rPr>
              <a:t>λ averages 0.473, but 0.925 on the 24 dates whose window contains GME's +1,625% (Jan 2021): the estimate then sits on the constant target.</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Max DR ≠ Equal Risk Contributions ≠ Independent Bets</a:t>
            </a:r>
            <a:endParaRPr lang="en-US" sz="3000" dirty="0"/>
          </a:p>
        </p:txBody>
      </p:sp>
      <p:graphicFrame>
        <p:nvGraphicFramePr>
          <p:cNvPr id="10" name="Concentration table"/>
          <p:cNvGraphicFramePr>
            <a:graphicFrameLocks noGrp="1"/>
          </p:cNvGraphicFramePr>
          <p:nvPr>
            <p:extLst>
              <p:ext uri="{D42A27DB-BD31-4B8C-83A1-F6EECF244321}">
                <p14:modId xmlns:p14="http://schemas.microsoft.com/office/powerpoint/2010/main" val="1579011935"/>
              </p:ext>
            </p:extLst>
          </p:nvPr>
        </p:nvGraphicFramePr>
        <p:xfrm>
          <a:off x="457200" y="1188720"/>
          <a:ext cx="6309360" cy="914400"/>
        </p:xfrm>
        <a:graphic>
          <a:graphicData uri="http://schemas.openxmlformats.org/drawingml/2006/table">
            <a:tbl>
              <a:tblPr/>
              <a:tblGrid>
                <a:gridCol w="2743200"/>
                <a:gridCol w="822960"/>
                <a:gridCol w="822960"/>
                <a:gridCol w="914400"/>
                <a:gridCol w="1005840"/>
              </a:tblGrid>
              <a:tr h="457200">
                <a:tc>
                  <a:txBody>
                    <a:bodyPr/>
                    <a:lstStyle/>
                    <a:p>
                      <a:pPr algn="l" indent="0" marL="0">
                        <a:buNone/>
                      </a:pPr>
                      <a:r>
                        <a:rPr lang="en-US" sz="1200" b="1" dirty="0">
                          <a:solidFill>
                            <a:schemeClr val="bg1"/>
                          </a:solidFill>
                        </a:rPr>
                        <a:t>Single factor, average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Div. ratio</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Holdings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Effective risk bets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Market share of variance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57200">
                <a:tc>
                  <a:txBody>
                    <a:bodyPr/>
                    <a:lstStyle/>
                    <a:p>
                      <a:pPr algn="l" indent="0" marL="0">
                        <a:buNone/>
                      </a:pPr>
                      <a:r>
                        <a:rPr lang="en-US" sz="1300" dirty="0">
                          <a:solidFill>
                            <a:srgbClr val="EDA100"/>
                          </a:solidFill>
                        </a:rPr>
                        <a:t>■  </a:t>
                      </a:r>
                      <a:pPr algn="l" indent="0" marL="0">
                        <a:buNone/>
                      </a:pPr>
                      <a:r>
                        <a:rPr lang="en-US" sz="1300" dirty="0">
                          <a:solidFill>
                            <a:srgbClr val="1B1F2A"/>
                          </a:solidFill>
                        </a:rPr>
                        <a:t>Equally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2.12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437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E87BA4"/>
                          </a:solidFill>
                        </a:rPr>
                        <a:t>■  </a:t>
                      </a:r>
                      <a:pPr algn="l" indent="0" marL="0">
                        <a:buNone/>
                      </a:pPr>
                      <a:r>
                        <a:rPr lang="en-US" sz="1300" dirty="0">
                          <a:solidFill>
                            <a:srgbClr val="1B1F2A"/>
                          </a:solidFill>
                        </a:rPr>
                        <a:t>Value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1.95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2A78D6"/>
                          </a:solidFill>
                        </a:rPr>
                        <a:t>■  </a:t>
                      </a:r>
                      <a:pPr algn="l" indent="0" marL="0">
                        <a:buNone/>
                      </a:pPr>
                      <a:r>
                        <a:rPr lang="en-US" sz="1300" dirty="0">
                          <a:solidFill>
                            <a:srgbClr val="1B1F2A"/>
                          </a:solidFill>
                        </a:rPr>
                        <a:t>Minimum risk</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2.89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73%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AF7A"/>
                          </a:solidFill>
                        </a:rPr>
                        <a:t>■  </a:t>
                      </a:r>
                      <a:pPr algn="l" indent="0" marL="0">
                        <a:buNone/>
                      </a:pPr>
                      <a:r>
                        <a:rPr lang="en-US" sz="1300" dirty="0">
                          <a:solidFill>
                            <a:srgbClr val="1B1F2A"/>
                          </a:solidFill>
                        </a:rPr>
                        <a:t>Risk parity</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2.26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EB6834"/>
                          </a:solidFill>
                        </a:rPr>
                        <a:t>■  </a:t>
                      </a:r>
                      <a:pPr algn="l" indent="0" marL="0">
                        <a:buNone/>
                      </a:pPr>
                      <a:r>
                        <a:rPr lang="en-US" sz="1300" dirty="0">
                          <a:solidFill>
                            <a:srgbClr val="1B1F2A"/>
                          </a:solidFill>
                        </a:rPr>
                        <a:t>Maximum diversification</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3.66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63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38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4" name="Concentration takeaways"/>
          <p:cNvSpPr txBox="1"/>
          <p:nvPr/>
        </p:nvSpPr>
        <p:spPr>
          <a:xfrm>
            <a:off x="457200" y="4343400"/>
            <a:ext cx="6309360" cy="1280160"/>
          </a:xfrm>
          <a:prstGeom prst="rect">
            <a:avLst/>
          </a:prstGeom>
          <a:noFill/>
          <a:ln/>
        </p:spPr>
        <p:txBody>
          <a:bodyPr wrap="square" lIns="0" tIns="0" rIns="0" bIns="0" rtlCol="0" anchor="t"/>
          <a:lstStyle/>
          <a:p>
            <a:pPr indent="0" marL="0">
              <a:spcAft>
                <a:spcPts val="600"/>
              </a:spcAft>
              <a:buNone/>
            </a:pPr>
            <a:r>
              <a:rPr lang="en-US" sz="1400" b="1" dirty="0">
                <a:solidFill>
                  <a:srgbClr val="EB6834"/>
                </a:solidFill>
              </a:rPr>
              <a:t>MaxDiv</a:t>
            </a:r>
            <a:pPr indent="0" marL="0">
              <a:spcAft>
                <a:spcPts val="600"/>
              </a:spcAft>
              <a:buNone/>
            </a:pPr>
            <a:r>
              <a:rPr lang="en-US" sz="1400" dirty="0">
                <a:solidFill>
                  <a:srgbClr val="1B1F2A"/>
                </a:solidFill>
              </a:rPr>
              <a:t> has the highest diversification ratio (3.66) and the lowest market share (65%), with only about 63 names.</a:t>
            </a:r>
            <a:endParaRPr lang="en-US" sz="1400" dirty="0"/>
          </a:p>
          <a:p>
            <a:pPr indent="0" marL="0">
              <a:spcAft>
                <a:spcPts val="600"/>
              </a:spcAft>
              <a:buNone/>
            </a:pPr>
            <a:r>
              <a:rPr lang="en-US" sz="1400" b="1" dirty="0">
                <a:solidFill>
                  <a:srgbClr val="1BAF7A"/>
                </a:solidFill>
              </a:rPr>
              <a:t>Risk parity</a:t>
            </a:r>
            <a:pPr indent="0" marL="0">
              <a:spcAft>
                <a:spcPts val="600"/>
              </a:spcAft>
              <a:buNone/>
            </a:pPr>
            <a:r>
              <a:rPr lang="en-US" sz="1400" dirty="0">
                <a:solidFill>
                  <a:srgbClr val="1B1F2A"/>
                </a:solidFill>
              </a:rPr>
              <a:t> equalizes risk across all 500 names, yet 99% of its variance is the market factor: not 500 independent bets.</a:t>
            </a:r>
            <a:endParaRPr lang="en-US" sz="1400" dirty="0"/>
          </a:p>
        </p:txBody>
      </p:sp>
      <p:sp>
        <p:nvSpPr>
          <p:cNvPr id="5" name="Concentration note"/>
          <p:cNvSpPr txBox="1"/>
          <p:nvPr/>
        </p:nvSpPr>
        <p:spPr>
          <a:xfrm>
            <a:off x="457200" y="5669280"/>
            <a:ext cx="6309360" cy="411480"/>
          </a:xfrm>
          <a:prstGeom prst="rect">
            <a:avLst/>
          </a:prstGeom>
          <a:noFill/>
          <a:ln/>
        </p:spPr>
        <p:txBody>
          <a:bodyPr wrap="square" lIns="0" tIns="0" rIns="0" bIns="0" rtlCol="0" anchor="ctr"/>
          <a:lstStyle/>
          <a:p>
            <a:pPr indent="0" marL="0">
              <a:buNone/>
            </a:pPr>
            <a:r>
              <a:rPr lang="en-US" sz="1100" dirty="0">
                <a:solidFill>
                  <a:srgbClr val="5B6577"/>
                </a:solidFill>
              </a:rPr>
              <a:t>Diversification ratio σ′x / √(x′Vx); effective risk bets 1 / Σ pᵢ², pᵢ = share of risk; market share σ²ₘ(β′x)² / x′Vx.</a:t>
            </a:r>
            <a:endParaRPr lang="en-US" sz="1100" dirty="0"/>
          </a:p>
        </p:txBody>
      </p:sp>
      <p:graphicFrame>
        <p:nvGraphicFramePr>
          <p:cNvPr id="6" name="Turnover" descr=""/>
          <p:cNvGraphicFramePr/>
          <p:nvPr/>
        </p:nvGraphicFramePr>
        <p:xfrm>
          <a:off x="7086600" y="1188720"/>
          <a:ext cx="4645152" cy="4206240"/>
        </p:xfrm>
        <a:graphic xmlns:a="http://schemas.openxmlformats.org/drawingml/2006/main">
          <a:graphicData uri="http://schemas.openxmlformats.org/drawingml/2006/chart">
            <c:chart xmlns:c="http://schemas.openxmlformats.org/drawingml/2006/chart" r:id="rId1"/>
          </a:graphicData>
        </a:graphic>
      </p:graphicFrame>
      <p:sp>
        <p:nvSpPr>
          <p:cNvPr id="7" name="Turnover note"/>
          <p:cNvSpPr txBox="1"/>
          <p:nvPr/>
        </p:nvSpPr>
        <p:spPr>
          <a:xfrm>
            <a:off x="7086600" y="5486400"/>
            <a:ext cx="4645152" cy="685800"/>
          </a:xfrm>
          <a:prstGeom prst="rect">
            <a:avLst/>
          </a:prstGeom>
          <a:noFill/>
          <a:ln/>
        </p:spPr>
        <p:txBody>
          <a:bodyPr wrap="square" lIns="0" tIns="0" rIns="0" bIns="0" rtlCol="0" anchor="t"/>
          <a:lstStyle/>
          <a:p>
            <a:pPr indent="0" marL="0">
              <a:buNone/>
            </a:pPr>
            <a:r>
              <a:rPr lang="en-US" sz="1300" i="1" dirty="0">
                <a:solidFill>
                  <a:srgbClr val="1B1F2A"/>
                </a:solidFill>
              </a:rPr>
              <a:t>References: EW 62%, VW 10% a year. All results are gross of trading costs.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868680"/>
            <a:ext cx="11247120" cy="1280160"/>
          </a:xfrm>
          <a:prstGeom prst="rect">
            <a:avLst/>
          </a:prstGeom>
          <a:noFill/>
          <a:ln/>
        </p:spPr>
        <p:txBody>
          <a:bodyPr wrap="square" lIns="0" tIns="0" rIns="0" bIns="0" rtlCol="0" anchor="t"/>
          <a:lstStyle/>
          <a:p>
            <a:pPr algn="l" indent="0" marL="0">
              <a:buNone/>
            </a:pPr>
            <a:r>
              <a:rPr lang="en-US" sz="3800" b="1" dirty="0">
                <a:solidFill>
                  <a:schemeClr val="bg1"/>
                </a:solidFill>
              </a:rPr>
              <a:t>Match the Rule, and the Risk Model, to the Objective</a:t>
            </a:r>
            <a:endParaRPr lang="en-US" sz="3800" dirty="0"/>
          </a:p>
        </p:txBody>
      </p:sp>
      <p:sp>
        <p:nvSpPr>
          <p:cNvPr id="3" name="Conclusion badge 1"/>
          <p:cNvSpPr/>
          <p:nvPr/>
        </p:nvSpPr>
        <p:spPr>
          <a:xfrm>
            <a:off x="457200" y="2423160"/>
            <a:ext cx="548640" cy="548640"/>
          </a:xfrm>
          <a:prstGeom prst="ellipse">
            <a:avLst/>
          </a:prstGeom>
          <a:solidFill>
            <a:srgbClr val="6FD3A6"/>
          </a:solidFill>
          <a:ln w="12700">
            <a:solidFill>
              <a:srgbClr val="6FD3A6"/>
            </a:solidFill>
            <a:prstDash val="solid"/>
          </a:ln>
        </p:spPr>
      </p:sp>
      <p:sp>
        <p:nvSpPr>
          <p:cNvPr id="4" name="Conclusion number 1"/>
          <p:cNvSpPr txBox="1"/>
          <p:nvPr/>
        </p:nvSpPr>
        <p:spPr>
          <a:xfrm>
            <a:off x="457200" y="2423160"/>
            <a:ext cx="548640" cy="548640"/>
          </a:xfrm>
          <a:prstGeom prst="rect">
            <a:avLst/>
          </a:prstGeom>
          <a:noFill/>
          <a:ln/>
        </p:spPr>
        <p:txBody>
          <a:bodyPr wrap="square" lIns="0" tIns="0" rIns="0" bIns="0" rtlCol="0" anchor="ctr"/>
          <a:lstStyle/>
          <a:p>
            <a:pPr algn="ctr" indent="0" marL="0">
              <a:buNone/>
            </a:pPr>
            <a:r>
              <a:rPr lang="en-US" sz="2000" b="1" dirty="0">
                <a:solidFill>
                  <a:srgbClr val="1F2A44"/>
                </a:solidFill>
              </a:rPr>
              <a:t>1</a:t>
            </a:r>
            <a:endParaRPr lang="en-US" sz="2000" dirty="0"/>
          </a:p>
        </p:txBody>
      </p:sp>
      <p:sp>
        <p:nvSpPr>
          <p:cNvPr id="5" name="Conclusion 1"/>
          <p:cNvSpPr txBox="1"/>
          <p:nvPr/>
        </p:nvSpPr>
        <p:spPr>
          <a:xfrm>
            <a:off x="1234440" y="2377440"/>
            <a:ext cx="10424160" cy="914400"/>
          </a:xfrm>
          <a:prstGeom prst="rect">
            <a:avLst/>
          </a:prstGeom>
          <a:noFill/>
          <a:ln/>
        </p:spPr>
        <p:txBody>
          <a:bodyPr wrap="square" lIns="0" tIns="0" rIns="0" bIns="0" rtlCol="0" anchor="t"/>
          <a:lstStyle/>
          <a:p>
            <a:pPr indent="0" marL="0">
              <a:buNone/>
            </a:pPr>
            <a:r>
              <a:rPr lang="en-US" sz="1800" b="1" dirty="0">
                <a:solidFill>
                  <a:srgbClr val="FFFFFF"/>
                </a:solidFill>
              </a:rPr>
              <a:t>For risk-adjusted return, use risk parity</a:t>
            </a:r>
            <a:endParaRPr lang="en-US" sz="1800" dirty="0"/>
          </a:p>
          <a:p>
            <a:pPr indent="0" marL="0">
              <a:buNone/>
            </a:pPr>
            <a:r>
              <a:rPr lang="en-US" sz="1400" dirty="0">
                <a:solidFill>
                  <a:srgbClr val="D5DCE8"/>
                </a:solidFill>
              </a:rPr>
              <a:t>Highest Sharpe ratio (0.689), close to EW in return with less volatility, and robust to the risk model.</a:t>
            </a:r>
            <a:endParaRPr lang="en-US" sz="1800" dirty="0"/>
          </a:p>
        </p:txBody>
      </p:sp>
      <p:sp>
        <p:nvSpPr>
          <p:cNvPr id="6" name="Conclusion badge 2"/>
          <p:cNvSpPr/>
          <p:nvPr/>
        </p:nvSpPr>
        <p:spPr>
          <a:xfrm>
            <a:off x="457200" y="3337560"/>
            <a:ext cx="548640" cy="548640"/>
          </a:xfrm>
          <a:prstGeom prst="ellipse">
            <a:avLst/>
          </a:prstGeom>
          <a:solidFill>
            <a:srgbClr val="7FB2F0"/>
          </a:solidFill>
          <a:ln w="12700">
            <a:solidFill>
              <a:srgbClr val="7FB2F0"/>
            </a:solidFill>
            <a:prstDash val="solid"/>
          </a:ln>
        </p:spPr>
      </p:sp>
      <p:sp>
        <p:nvSpPr>
          <p:cNvPr id="7" name="Conclusion number 2"/>
          <p:cNvSpPr txBox="1"/>
          <p:nvPr/>
        </p:nvSpPr>
        <p:spPr>
          <a:xfrm>
            <a:off x="457200" y="3337560"/>
            <a:ext cx="548640" cy="548640"/>
          </a:xfrm>
          <a:prstGeom prst="rect">
            <a:avLst/>
          </a:prstGeom>
          <a:noFill/>
          <a:ln/>
        </p:spPr>
        <p:txBody>
          <a:bodyPr wrap="square" lIns="0" tIns="0" rIns="0" bIns="0" rtlCol="0" anchor="ctr"/>
          <a:lstStyle/>
          <a:p>
            <a:pPr algn="ctr" indent="0" marL="0">
              <a:buNone/>
            </a:pPr>
            <a:r>
              <a:rPr lang="en-US" sz="2000" b="1" dirty="0">
                <a:solidFill>
                  <a:srgbClr val="1F2A44"/>
                </a:solidFill>
              </a:rPr>
              <a:t>2</a:t>
            </a:r>
            <a:endParaRPr lang="en-US" sz="2000" dirty="0"/>
          </a:p>
        </p:txBody>
      </p:sp>
      <p:sp>
        <p:nvSpPr>
          <p:cNvPr id="8" name="Conclusion 2"/>
          <p:cNvSpPr txBox="1"/>
          <p:nvPr/>
        </p:nvSpPr>
        <p:spPr>
          <a:xfrm>
            <a:off x="1234440" y="3291840"/>
            <a:ext cx="10424160" cy="914400"/>
          </a:xfrm>
          <a:prstGeom prst="rect">
            <a:avLst/>
          </a:prstGeom>
          <a:noFill/>
          <a:ln/>
        </p:spPr>
        <p:txBody>
          <a:bodyPr wrap="square" lIns="0" tIns="0" rIns="0" bIns="0" rtlCol="0" anchor="t"/>
          <a:lstStyle/>
          <a:p>
            <a:pPr indent="0" marL="0">
              <a:buNone/>
            </a:pPr>
            <a:r>
              <a:rPr lang="en-US" sz="1800" b="1" dirty="0">
                <a:solidFill>
                  <a:srgbClr val="FFFFFF"/>
                </a:solidFill>
              </a:rPr>
              <a:t>For protection, minimum risk, with a better covariance</a:t>
            </a:r>
            <a:endParaRPr lang="en-US" sz="1800" dirty="0"/>
          </a:p>
          <a:p>
            <a:pPr indent="0" marL="0">
              <a:buNone/>
            </a:pPr>
            <a:r>
              <a:rPr lang="en-US" sz="1400" dirty="0">
                <a:solidFill>
                  <a:srgbClr val="D5DCE8"/>
                </a:solidFill>
              </a:rPr>
              <a:t>Smallest losses in crashes but the weakest rebounds; the shrunk sample covariance lifts its Sharpe from 0.499 to 0.675.</a:t>
            </a:r>
            <a:endParaRPr lang="en-US" sz="1800" dirty="0"/>
          </a:p>
        </p:txBody>
      </p:sp>
      <p:sp>
        <p:nvSpPr>
          <p:cNvPr id="9" name="Conclusion badge 3"/>
          <p:cNvSpPr/>
          <p:nvPr/>
        </p:nvSpPr>
        <p:spPr>
          <a:xfrm>
            <a:off x="457200" y="4251960"/>
            <a:ext cx="548640" cy="548640"/>
          </a:xfrm>
          <a:prstGeom prst="ellipse">
            <a:avLst/>
          </a:prstGeom>
          <a:solidFill>
            <a:srgbClr val="F5A27A"/>
          </a:solidFill>
          <a:ln w="12700">
            <a:solidFill>
              <a:srgbClr val="F5A27A"/>
            </a:solidFill>
            <a:prstDash val="solid"/>
          </a:ln>
        </p:spPr>
      </p:sp>
      <p:sp>
        <p:nvSpPr>
          <p:cNvPr id="10" name="Conclusion number 3"/>
          <p:cNvSpPr txBox="1"/>
          <p:nvPr/>
        </p:nvSpPr>
        <p:spPr>
          <a:xfrm>
            <a:off x="457200" y="4251960"/>
            <a:ext cx="548640" cy="548640"/>
          </a:xfrm>
          <a:prstGeom prst="rect">
            <a:avLst/>
          </a:prstGeom>
          <a:noFill/>
          <a:ln/>
        </p:spPr>
        <p:txBody>
          <a:bodyPr wrap="square" lIns="0" tIns="0" rIns="0" bIns="0" rtlCol="0" anchor="ctr"/>
          <a:lstStyle/>
          <a:p>
            <a:pPr algn="ctr" indent="0" marL="0">
              <a:buNone/>
            </a:pPr>
            <a:r>
              <a:rPr lang="en-US" sz="2000" b="1" dirty="0">
                <a:solidFill>
                  <a:srgbClr val="1F2A44"/>
                </a:solidFill>
              </a:rPr>
              <a:t>3</a:t>
            </a:r>
            <a:endParaRPr lang="en-US" sz="2000" dirty="0"/>
          </a:p>
        </p:txBody>
      </p:sp>
      <p:sp>
        <p:nvSpPr>
          <p:cNvPr id="11" name="Conclusion 3"/>
          <p:cNvSpPr txBox="1"/>
          <p:nvPr/>
        </p:nvSpPr>
        <p:spPr>
          <a:xfrm>
            <a:off x="1234440" y="4206240"/>
            <a:ext cx="10424160" cy="914400"/>
          </a:xfrm>
          <a:prstGeom prst="rect">
            <a:avLst/>
          </a:prstGeom>
          <a:noFill/>
          <a:ln/>
        </p:spPr>
        <p:txBody>
          <a:bodyPr wrap="square" lIns="0" tIns="0" rIns="0" bIns="0" rtlCol="0" anchor="t"/>
          <a:lstStyle/>
          <a:p>
            <a:pPr indent="0" marL="0">
              <a:buNone/>
            </a:pPr>
            <a:r>
              <a:rPr lang="en-US" sz="1800" b="1" dirty="0">
                <a:solidFill>
                  <a:srgbClr val="FFFFFF"/>
                </a:solidFill>
              </a:rPr>
              <a:t>A high estimated diversification ratio is not a high Sharpe</a:t>
            </a:r>
            <a:endParaRPr lang="en-US" sz="1800" dirty="0"/>
          </a:p>
          <a:p>
            <a:pPr indent="0" marL="0">
              <a:buNone/>
            </a:pPr>
            <a:r>
              <a:rPr lang="en-US" sz="1400" dirty="0">
                <a:solidFill>
                  <a:srgbClr val="D5DCE8"/>
                </a:solidFill>
              </a:rPr>
              <a:t>MaxDiv maximizes an estimate (DR 3.66) whose realized payoff depends on the model and the period.</a:t>
            </a:r>
            <a:endParaRPr lang="en-US" sz="1800" dirty="0"/>
          </a:p>
        </p:txBody>
      </p:sp>
      <p:sp>
        <p:nvSpPr>
          <p:cNvPr id="12" name="Limitations"/>
          <p:cNvSpPr txBox="1"/>
          <p:nvPr/>
        </p:nvSpPr>
        <p:spPr>
          <a:xfrm>
            <a:off x="457200" y="5212080"/>
            <a:ext cx="11247120" cy="320040"/>
          </a:xfrm>
          <a:prstGeom prst="rect">
            <a:avLst/>
          </a:prstGeom>
          <a:noFill/>
          <a:ln/>
        </p:spPr>
        <p:txBody>
          <a:bodyPr wrap="square" lIns="0" tIns="0" rIns="0" bIns="0" rtlCol="0" anchor="ctr"/>
          <a:lstStyle/>
          <a:p>
            <a:pPr indent="0" marL="0">
              <a:buNone/>
            </a:pPr>
            <a:r>
              <a:rPr lang="en-US" sz="1300" dirty="0">
                <a:solidFill>
                  <a:srgbClr val="F4B183"/>
                </a:solidFill>
              </a:rPr>
              <a:t>Limitations: gross of trading costs · no Sharpe-ratio significance test · the full-history rule favours long-listed stocks · monthly data.</a:t>
            </a:r>
            <a:endParaRPr lang="en-US" sz="1300" dirty="0"/>
          </a:p>
        </p:txBody>
      </p:sp>
      <p:sp>
        <p:nvSpPr>
          <p:cNvPr id="13" name="References"/>
          <p:cNvSpPr txBox="1"/>
          <p:nvPr/>
        </p:nvSpPr>
        <p:spPr>
          <a:xfrm>
            <a:off x="457200" y="5669280"/>
            <a:ext cx="11247120" cy="868680"/>
          </a:xfrm>
          <a:prstGeom prst="rect">
            <a:avLst/>
          </a:prstGeom>
          <a:noFill/>
          <a:ln/>
        </p:spPr>
        <p:txBody>
          <a:bodyPr wrap="square" lIns="0" tIns="0" rIns="0" bIns="0" rtlCol="0" anchor="t"/>
          <a:lstStyle/>
          <a:p>
            <a:pPr indent="0" marL="0">
              <a:buNone/>
            </a:pPr>
            <a:r>
              <a:rPr lang="en-US" sz="1100" b="1" dirty="0">
                <a:solidFill>
                  <a:srgbClr val="B8C2D6"/>
                </a:solidFill>
              </a:rPr>
              <a:t>References  </a:t>
            </a:r>
            <a:pPr indent="0" marL="0">
              <a:buNone/>
            </a:pPr>
            <a:r>
              <a:rPr lang="en-US" sz="1100" dirty="0">
                <a:solidFill>
                  <a:srgbClr val="B8C2D6"/>
                </a:solidFill>
              </a:rPr>
              <a:t>Clarke, de Silva and Thorley (2006), “Minimum-Variance Portfolios in the U.S. Equity Market,” JPM 33(1), 10–24. · Clarke, de Silva and Thorley (2013), “Risk Parity, Maximum Diversification, and Minimum Variance: An Analytic Perspective,” JPM 39(3), 39–53. · CRSP msf_v2 via WRDS; Kenneth French data library (MktRf.csv). · Demo: project_demo.ipynb + project.py reproduce every number.</a:t>
            </a:r>
            <a:endParaRPr lang="en-US" sz="1100" dirty="0"/>
          </a:p>
        </p:txBody>
      </p:sp>
      <p:sp>
        <p:nvSpPr>
          <p:cNvPr id="15" name="Text 0"/>
          <p:cNvSpPr/>
          <p:nvPr>
            <p:ph idx="101" type="body" hasCustomPrompt="1"/>
          </p:nvPr>
        </p:nvSpPr>
        <p:spPr>
          <a:xfrm>
            <a:off x="457200" y="2240280"/>
            <a:ext cx="11247120" cy="45720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377440"/>
            <a:ext cx="11247120" cy="914400"/>
          </a:xfrm>
          <a:prstGeom prst="rect">
            <a:avLst/>
          </a:prstGeom>
          <a:noFill/>
          <a:ln/>
        </p:spPr>
        <p:txBody>
          <a:bodyPr wrap="square" lIns="0" tIns="0" rIns="0" bIns="0" rtlCol="0" anchor="b"/>
          <a:lstStyle/>
          <a:p>
            <a:pPr algn="l" indent="0" marL="0">
              <a:buNone/>
            </a:pPr>
            <a:r>
              <a:rPr lang="en-US" sz="4000" b="1" dirty="0">
                <a:solidFill>
                  <a:schemeClr val="bg1"/>
                </a:solidFill>
              </a:rPr>
              <a:t>Appendix</a:t>
            </a:r>
            <a:endParaRPr lang="en-US" sz="4000" dirty="0"/>
          </a:p>
        </p:txBody>
      </p:sp>
      <p:sp>
        <p:nvSpPr>
          <p:cNvPr id="3" name="Text 0"/>
          <p:cNvSpPr/>
          <p:nvPr>
            <p:ph idx="101" type="body" hasCustomPrompt="1"/>
          </p:nvPr>
        </p:nvSpPr>
        <p:spPr>
          <a:xfrm>
            <a:off x="457200" y="3429000"/>
            <a:ext cx="11247120" cy="1097280"/>
          </a:xfrm>
          <a:prstGeom prst="rect">
            <a:avLst/>
          </a:prstGeom>
          <a:noFill/>
          <a:ln/>
        </p:spPr>
        <p:txBody>
          <a:bodyPr wrap="square" lIns="0" tIns="0" rIns="0" bIns="0" rtlCol="0" anchor="t"/>
          <a:lstStyle/>
          <a:p>
            <a:pPr indent="0" marL="0">
              <a:buNone/>
            </a:pPr>
            <a:r>
              <a:rPr lang="en-US" sz="1800" dirty="0">
                <a:solidFill>
                  <a:srgbClr val="B8C2D6"/>
                </a:solidFill>
              </a:rPr>
              <a:t>Supporting results. Every chart and table is reproduced by the demo notebook (sections 4–13).</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Drawdowns From the Running Peak, Single-Factor Baseline</a:t>
            </a:r>
            <a:endParaRPr lang="en-US" sz="3000" dirty="0"/>
          </a:p>
        </p:txBody>
      </p:sp>
      <p:graphicFrame>
        <p:nvGraphicFramePr>
          <p:cNvPr id="3" name="Drawdowns" descr=""/>
          <p:cNvGraphicFramePr/>
          <p:nvPr/>
        </p:nvGraphicFramePr>
        <p:xfrm>
          <a:off x="457200" y="1188720"/>
          <a:ext cx="11247120" cy="50292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Performance by Economic Period, Single-Factor Baseline</a:t>
            </a:r>
            <a:endParaRPr lang="en-US" sz="3000" dirty="0"/>
          </a:p>
        </p:txBody>
      </p:sp>
      <p:graphicFrame>
        <p:nvGraphicFramePr>
          <p:cNvPr id="14" name="Sharpe ratio"/>
          <p:cNvGraphicFramePr>
            <a:graphicFrameLocks noGrp="1"/>
          </p:cNvGraphicFramePr>
          <p:nvPr>
            <p:extLst>
              <p:ext uri="{D42A27DB-BD31-4B8C-83A1-F6EECF244321}">
                <p14:modId xmlns:p14="http://schemas.microsoft.com/office/powerpoint/2010/main" val="1579011935"/>
              </p:ext>
            </p:extLst>
          </p:nvPr>
        </p:nvGraphicFramePr>
        <p:xfrm>
          <a:off x="457200" y="1280160"/>
          <a:ext cx="5440680" cy="914400"/>
        </p:xfrm>
        <a:graphic>
          <a:graphicData uri="http://schemas.openxmlformats.org/drawingml/2006/table">
            <a:tbl>
              <a:tblPr/>
              <a:tblGrid>
                <a:gridCol w="1325880"/>
                <a:gridCol w="822960"/>
                <a:gridCol w="822960"/>
                <a:gridCol w="822960"/>
                <a:gridCol w="822960"/>
                <a:gridCol w="822960"/>
              </a:tblGrid>
              <a:tr h="457200">
                <a:tc>
                  <a:txBody>
                    <a:bodyPr/>
                    <a:lstStyle/>
                    <a:p>
                      <a:pPr algn="l" indent="0" marL="0">
                        <a:buNone/>
                      </a:pPr>
                      <a:r>
                        <a:rPr lang="en-US" sz="1200" b="1" dirty="0">
                          <a:solidFill>
                            <a:schemeClr val="bg1"/>
                          </a:solidFill>
                        </a:rPr>
                        <a:t>Sharpe ratio</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EW</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VW</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Min. risk</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Risk parity</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Max. div.</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57200">
                <a:tc>
                  <a:txBody>
                    <a:bodyPr/>
                    <a:lstStyle/>
                    <a:p>
                      <a:pPr algn="l" indent="0" marL="0">
                        <a:buNone/>
                      </a:pPr>
                      <a:r>
                        <a:rPr lang="en-US" sz="1300" b="1" dirty="0">
                          <a:solidFill>
                            <a:srgbClr val="1B1F2A"/>
                          </a:solidFill>
                        </a:rPr>
                        <a:t>1995–1999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1.22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1.55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0.31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0.58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2000–2002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−0.35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−0.87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0.48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−0.12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0.22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2003–2006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1.51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1.36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1.30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1.67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1.51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2007–2009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−0.19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−0.28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−0.37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−0.23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−0.58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2010–2019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1.21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r>
              <a:tr h="457200">
                <a:tc>
                  <a:txBody>
                    <a:bodyPr/>
                    <a:lstStyle/>
                    <a:p>
                      <a:pPr algn="l" indent="0" marL="0">
                        <a:buNone/>
                      </a:pPr>
                      <a:r>
                        <a:rPr lang="en-US" sz="1300" b="1" dirty="0">
                          <a:solidFill>
                            <a:srgbClr val="1B1F2A"/>
                          </a:solidFill>
                        </a:rPr>
                        <a:t>2020–2025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0.53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0.78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0.07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0.51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0.44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graphicFrame>
        <p:nvGraphicFramePr>
          <p:cNvPr id="27" name="Annual return (%)"/>
          <p:cNvGraphicFramePr>
            <a:graphicFrameLocks noGrp="1"/>
          </p:cNvGraphicFramePr>
          <p:nvPr>
            <p:extLst>
              <p:ext uri="{D42A27DB-BD31-4B8C-83A1-F6EECF244321}">
                <p14:modId xmlns:p14="http://schemas.microsoft.com/office/powerpoint/2010/main" val="1579011935"/>
              </p:ext>
            </p:extLst>
          </p:nvPr>
        </p:nvGraphicFramePr>
        <p:xfrm>
          <a:off x="6291072" y="1280160"/>
          <a:ext cx="5440680" cy="914400"/>
        </p:xfrm>
        <a:graphic>
          <a:graphicData uri="http://schemas.openxmlformats.org/drawingml/2006/table">
            <a:tbl>
              <a:tblPr/>
              <a:tblGrid>
                <a:gridCol w="1325880"/>
                <a:gridCol w="822960"/>
                <a:gridCol w="822960"/>
                <a:gridCol w="822960"/>
                <a:gridCol w="822960"/>
                <a:gridCol w="822960"/>
              </a:tblGrid>
              <a:tr h="457200">
                <a:tc>
                  <a:txBody>
                    <a:bodyPr/>
                    <a:lstStyle/>
                    <a:p>
                      <a:pPr algn="l" indent="0" marL="0">
                        <a:buNone/>
                      </a:pPr>
                      <a:r>
                        <a:rPr lang="en-US" sz="1200" b="1" dirty="0">
                          <a:solidFill>
                            <a:schemeClr val="bg1"/>
                          </a:solidFill>
                        </a:rPr>
                        <a:t>Annual return (%)</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EW</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VW</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Min. risk</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Risk parity</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Max. div.</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57200">
                <a:tc>
                  <a:txBody>
                    <a:bodyPr/>
                    <a:lstStyle/>
                    <a:p>
                      <a:pPr algn="l" indent="0" marL="0">
                        <a:buNone/>
                      </a:pPr>
                      <a:r>
                        <a:rPr lang="en-US" sz="1300" b="1" dirty="0">
                          <a:solidFill>
                            <a:srgbClr val="1B1F2A"/>
                          </a:solidFill>
                        </a:rPr>
                        <a:t>1995–1999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23.2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28.8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8.5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13.9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2000–2002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−12.7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11.4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0.8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2003–2006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18.2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14.1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12.6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17.1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14.8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2007–2009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−3.9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−4.3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b="1" dirty="0">
                          <a:solidFill>
                            <a:srgbClr val="1B1F2A"/>
                          </a:solidFill>
                        </a:rPr>
                        <a:t>2010–2019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14.2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13.7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12.7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14.5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15.9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r>
              <a:tr h="457200">
                <a:tc>
                  <a:txBody>
                    <a:bodyPr/>
                    <a:lstStyle/>
                    <a:p>
                      <a:pPr algn="l" indent="0" marL="0">
                        <a:buNone/>
                      </a:pPr>
                      <a:r>
                        <a:rPr lang="en-US" sz="1300" b="1" dirty="0">
                          <a:solidFill>
                            <a:srgbClr val="1B1F2A"/>
                          </a:solidFill>
                        </a:rPr>
                        <a:t>2020–2025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b="1" dirty="0">
                          <a:solidFill>
                            <a:srgbClr val="1B1F2A"/>
                          </a:solidFill>
                        </a:rPr>
                        <a:t>15.7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E3F4EA"/>
                    </a:solidFill>
                  </a:tcPr>
                </a:tc>
                <a:tc>
                  <a:txBody>
                    <a:bodyPr/>
                    <a:lstStyle/>
                    <a:p>
                      <a:pPr algn="ctr" indent="0" marL="0">
                        <a:buNone/>
                      </a:pPr>
                      <a:r>
                        <a:rPr lang="en-US" sz="1300" dirty="0">
                          <a:solidFill>
                            <a:srgbClr val="1B1F2A"/>
                          </a:solidFill>
                        </a:rPr>
                        <a:t>2.7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8.6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5" name="Period note"/>
          <p:cNvSpPr txBox="1"/>
          <p:nvPr/>
        </p:nvSpPr>
        <p:spPr>
          <a:xfrm>
            <a:off x="457200" y="4800600"/>
            <a:ext cx="11247120" cy="640080"/>
          </a:xfrm>
          <a:prstGeom prst="rect">
            <a:avLst/>
          </a:prstGeom>
          <a:noFill/>
          <a:ln/>
        </p:spPr>
        <p:txBody>
          <a:bodyPr wrap="square" lIns="0" tIns="0" rIns="0" bIns="0" rtlCol="0" anchor="ctr"/>
          <a:lstStyle/>
          <a:p>
            <a:pPr indent="0" marL="0">
              <a:buNone/>
            </a:pPr>
            <a:r>
              <a:rPr lang="en-US" sz="1400" dirty="0">
                <a:solidFill>
                  <a:srgbClr val="1B1F2A"/>
                </a:solidFill>
              </a:rPr>
              <a:t>Shaded: best in the period. The preferred rule changes with the regime: minimum risk leads in 2000–2009, MaxDiv in 2010–2019, and VW in 1995–1999 and 2020–2025.</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MaxDiv and Risk Parity Under Three Estimators</a:t>
            </a:r>
            <a:endParaRPr lang="en-US" sz="3000" dirty="0"/>
          </a:p>
        </p:txBody>
      </p:sp>
      <p:graphicFrame>
        <p:nvGraphicFramePr>
          <p:cNvPr id="3" name="Maximum diversification by estimator" descr=""/>
          <p:cNvGraphicFramePr/>
          <p:nvPr/>
        </p:nvGraphicFramePr>
        <p:xfrm>
          <a:off x="457200" y="118872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Risk parity by estimator" descr=""/>
          <p:cNvGraphicFramePr/>
          <p:nvPr/>
        </p:nvGraphicFramePr>
        <p:xfrm>
          <a:off x="6217920" y="1188720"/>
          <a:ext cx="5486400" cy="4572000"/>
        </p:xfrm>
        <a:graphic xmlns:a="http://schemas.openxmlformats.org/drawingml/2006/main">
          <a:graphicData uri="http://schemas.openxmlformats.org/drawingml/2006/chart">
            <c:chart xmlns:c="http://schemas.openxmlformats.org/drawingml/2006/chart" r:id="rId2"/>
          </a:graphicData>
        </a:graphic>
      </p:graphicFrame>
      <p:sp>
        <p:nvSpPr>
          <p:cNvPr id="5" name="Estimator chart note"/>
          <p:cNvSpPr txBox="1"/>
          <p:nvPr/>
        </p:nvSpPr>
        <p:spPr>
          <a:xfrm>
            <a:off x="457200" y="5852160"/>
            <a:ext cx="11247120" cy="365760"/>
          </a:xfrm>
          <a:prstGeom prst="rect">
            <a:avLst/>
          </a:prstGeom>
          <a:noFill/>
          <a:ln/>
        </p:spPr>
        <p:txBody>
          <a:bodyPr wrap="square" lIns="0" tIns="0" rIns="0" bIns="0" rtlCol="0" anchor="ctr"/>
          <a:lstStyle/>
          <a:p>
            <a:pPr indent="0" marL="0">
              <a:buNone/>
            </a:pPr>
            <a:r>
              <a:rPr lang="en-US" sz="1300" i="1" dirty="0">
                <a:solidFill>
                  <a:srgbClr val="1B1F2A"/>
                </a:solidFill>
              </a:rPr>
              <a:t>Under constant correlation, MaxDiv and risk parity are the same inverse-volatility portfolio, which tracks EW closely.</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Full Estimator Comparison, 1995–2025</a:t>
            </a:r>
            <a:endParaRPr lang="en-US" sz="3000" dirty="0"/>
          </a:p>
        </p:txBody>
      </p:sp>
      <p:graphicFrame>
        <p:nvGraphicFramePr>
          <p:cNvPr id="16" name="Full estimator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103120"/>
                <a:gridCol w="1737360"/>
                <a:gridCol w="777240"/>
                <a:gridCol w="777240"/>
                <a:gridCol w="777240"/>
                <a:gridCol w="868680"/>
                <a:gridCol w="685800"/>
                <a:gridCol w="868680"/>
                <a:gridCol w="868680"/>
                <a:gridCol w="868680"/>
                <a:gridCol w="914400"/>
              </a:tblGrid>
              <a:tr h="365760">
                <a:tc>
                  <a:txBody>
                    <a:bodyPr/>
                    <a:lstStyle/>
                    <a:p>
                      <a:pPr algn="l" indent="0" marL="0">
                        <a:buNone/>
                      </a:pPr>
                      <a:r>
                        <a:rPr lang="en-US" sz="1200" b="1" dirty="0">
                          <a:solidFill>
                            <a:schemeClr val="bg1"/>
                          </a:solidFill>
                        </a:rPr>
                        <a:t>Strategy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l" indent="0" marL="0">
                        <a:buNone/>
                      </a:pPr>
                      <a:r>
                        <a:rPr lang="en-US" sz="1200" b="1" dirty="0">
                          <a:solidFill>
                            <a:schemeClr val="bg1"/>
                          </a:solidFill>
                        </a:rPr>
                        <a:t>Risk model</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CAGR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Vol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Sharpe</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Max DD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Beta</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Turnover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Pred / real.</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Holdings</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100" b="1" dirty="0">
                          <a:solidFill>
                            <a:schemeClr val="bg1"/>
                          </a:solidFill>
                        </a:rPr>
                        <a:t>Utilities %</a:t>
                      </a:r>
                      <a:endParaRPr lang="en-US" sz="11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365760">
                <a:tc>
                  <a:txBody>
                    <a:bodyPr/>
                    <a:lstStyle/>
                    <a:p>
                      <a:pPr algn="l" indent="0" marL="0">
                        <a:buNone/>
                      </a:pPr>
                      <a:r>
                        <a:rPr lang="en-US" sz="1200" b="1" dirty="0">
                          <a:solidFill>
                            <a:srgbClr val="1B1F2A"/>
                          </a:solidFill>
                        </a:rPr>
                        <a:t>Minimum risk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8.2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12.7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0.499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−37.5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0.34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Constant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12.2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0.580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−34.8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0.38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96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0.83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180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r>
                        <a:rPr lang="en-US" sz="1200" b="1" dirty="0">
                          <a:solidFill>
                            <a:srgbClr val="1B1F2A"/>
                          </a:solidFill>
                        </a:rPr>
                        <a:t>Maximum diversification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0.604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−53.6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0.75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Constant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16.0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0.532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−58.5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0.86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261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72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13</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r>
                        <a:rPr lang="en-US" sz="1200" b="1" dirty="0">
                          <a:solidFill>
                            <a:srgbClr val="1B1F2A"/>
                          </a:solidFill>
                        </a:rPr>
                        <a:t>Risk parity</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Single factor</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−48.9</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0.85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Constant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0.661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0.656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r>
                        <a:rPr lang="en-US" sz="1200" b="1" dirty="0">
                          <a:solidFill>
                            <a:srgbClr val="1B1F2A"/>
                          </a:solidFill>
                        </a:rPr>
                        <a:t>Equally weighted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Benchmark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15.7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0.631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−51.7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62</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0.97</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365760">
                <a:tc>
                  <a:txBody>
                    <a:bodyPr/>
                    <a:lstStyle/>
                    <a:p>
                      <a:pPr algn="l" indent="0" marL="0">
                        <a:buNone/>
                      </a:pPr>
                      <a:r>
                        <a:rPr lang="en-US" sz="1200" b="1" dirty="0">
                          <a:solidFill>
                            <a:srgbClr val="1B1F2A"/>
                          </a:solidFill>
                        </a:rPr>
                        <a:t>Value weighted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200" dirty="0">
                          <a:solidFill>
                            <a:srgbClr val="1B1F2A"/>
                          </a:solidFill>
                        </a:rPr>
                        <a:t>Benchmark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11.5</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14.8</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0.656</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−49.1</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0.94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1.00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500</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200" dirty="0">
                          <a:solidFill>
                            <a:srgbClr val="1B1F2A"/>
                          </a:solidFill>
                        </a:rPr>
                        <a:t>4</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4" name="Full table note"/>
          <p:cNvSpPr txBox="1"/>
          <p:nvPr/>
        </p:nvSpPr>
        <p:spPr>
          <a:xfrm>
            <a:off x="457200" y="5669280"/>
            <a:ext cx="11247120" cy="365760"/>
          </a:xfrm>
          <a:prstGeom prst="rect">
            <a:avLst/>
          </a:prstGeom>
          <a:noFill/>
          <a:ln/>
        </p:spPr>
        <p:txBody>
          <a:bodyPr wrap="square" lIns="0" tIns="0" rIns="0" bIns="0" rtlCol="0" anchor="ctr"/>
          <a:lstStyle/>
          <a:p>
            <a:pPr indent="0" marL="0">
              <a:buNone/>
            </a:pPr>
            <a:r>
              <a:rPr lang="en-US" sz="1100" dirty="0">
                <a:solidFill>
                  <a:srgbClr val="5B6577"/>
                </a:solidFill>
              </a:rPr>
              <a:t>Gross of trading costs. Pred / real.: average ex-ante ÷ realized volatility; for EW and VW it uses the single-factor model.</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Diversification Under the Alternative Estimators</a:t>
            </a:r>
            <a:endParaRPr lang="en-US" sz="3000" dirty="0"/>
          </a:p>
        </p:txBody>
      </p:sp>
      <p:graphicFrame>
        <p:nvGraphicFramePr>
          <p:cNvPr id="17" name="Constant correlation concentration"/>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2194560"/>
                <a:gridCol w="822960"/>
                <a:gridCol w="822960"/>
                <a:gridCol w="777240"/>
                <a:gridCol w="868680"/>
              </a:tblGrid>
              <a:tr h="457200">
                <a:tc>
                  <a:txBody>
                    <a:bodyPr/>
                    <a:lstStyle/>
                    <a:p>
                      <a:pPr algn="l" indent="0" marL="0">
                        <a:buNone/>
                      </a:pPr>
                      <a:r>
                        <a:rPr lang="en-US" sz="1200" b="1" dirty="0">
                          <a:solidFill>
                            <a:schemeClr val="bg1"/>
                          </a:solidFill>
                        </a:rPr>
                        <a:t>Constant correlation</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Div. ratio</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Holdings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Risk bets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Market share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57200">
                <a:tc>
                  <a:txBody>
                    <a:bodyPr/>
                    <a:lstStyle/>
                    <a:p>
                      <a:pPr algn="l" indent="0" marL="0">
                        <a:buNone/>
                      </a:pPr>
                      <a:r>
                        <a:rPr lang="en-US" sz="1300" dirty="0">
                          <a:solidFill>
                            <a:srgbClr val="1B1F2A"/>
                          </a:solidFill>
                        </a:rPr>
                        <a:t>Equally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465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Value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112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Minimum risk</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1.92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89%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Risk parity</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Maximum diversification</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2.03</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graphicFrame>
        <p:nvGraphicFramePr>
          <p:cNvPr id="33" name="Shrunk sample concentration"/>
          <p:cNvGraphicFramePr>
            <a:graphicFrameLocks noGrp="1"/>
          </p:cNvGraphicFramePr>
          <p:nvPr>
            <p:extLst>
              <p:ext uri="{D42A27DB-BD31-4B8C-83A1-F6EECF244321}">
                <p14:modId xmlns:p14="http://schemas.microsoft.com/office/powerpoint/2010/main" val="1579011935"/>
              </p:ext>
            </p:extLst>
          </p:nvPr>
        </p:nvGraphicFramePr>
        <p:xfrm>
          <a:off x="6217920" y="1280160"/>
          <a:ext cx="5486400" cy="914400"/>
        </p:xfrm>
        <a:graphic>
          <a:graphicData uri="http://schemas.openxmlformats.org/drawingml/2006/table">
            <a:tbl>
              <a:tblPr/>
              <a:tblGrid>
                <a:gridCol w="2194560"/>
                <a:gridCol w="822960"/>
                <a:gridCol w="822960"/>
                <a:gridCol w="777240"/>
                <a:gridCol w="868680"/>
              </a:tblGrid>
              <a:tr h="457200">
                <a:tc>
                  <a:txBody>
                    <a:bodyPr/>
                    <a:lstStyle/>
                    <a:p>
                      <a:pPr algn="l" indent="0" marL="0">
                        <a:buNone/>
                      </a:pPr>
                      <a:r>
                        <a:rPr lang="en-US" sz="1200" b="1" dirty="0">
                          <a:solidFill>
                            <a:schemeClr val="bg1"/>
                          </a:solidFill>
                        </a:rPr>
                        <a:t>Shrunk sample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Div. ratio</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Holdings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Risk bets</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ctr" indent="0" marL="0">
                        <a:buNone/>
                      </a:pPr>
                      <a:r>
                        <a:rPr lang="en-US" sz="1200" b="1" dirty="0">
                          <a:solidFill>
                            <a:schemeClr val="bg1"/>
                          </a:solidFill>
                        </a:rPr>
                        <a:t>Market share</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457200">
                <a:tc>
                  <a:txBody>
                    <a:bodyPr/>
                    <a:lstStyle/>
                    <a:p>
                      <a:pPr algn="l" indent="0" marL="0">
                        <a:buNone/>
                      </a:pPr>
                      <a:r>
                        <a:rPr lang="en-US" sz="1300" dirty="0">
                          <a:solidFill>
                            <a:srgbClr val="1B1F2A"/>
                          </a:solidFill>
                        </a:rPr>
                        <a:t>Equally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2.11</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466</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Value weighted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2.05</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Minimum risk</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2.40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108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68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87%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Risk parity</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2.17</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500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99%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457200">
                <a:tc>
                  <a:txBody>
                    <a:bodyPr/>
                    <a:lstStyle/>
                    <a:p>
                      <a:pPr algn="l" indent="0" marL="0">
                        <a:buNone/>
                      </a:pPr>
                      <a:r>
                        <a:rPr lang="en-US" sz="1300" dirty="0">
                          <a:solidFill>
                            <a:srgbClr val="1B1F2A"/>
                          </a:solidFill>
                        </a:rPr>
                        <a:t>Maximum diversification</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2.74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72</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29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ctr" indent="0" marL="0">
                        <a:buNone/>
                      </a:pPr>
                      <a:r>
                        <a:rPr lang="en-US" sz="1300" dirty="0">
                          <a:solidFill>
                            <a:srgbClr val="1B1F2A"/>
                          </a:solidFill>
                        </a:rPr>
                        <a:t>58%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5" name="Alt concentration note"/>
          <p:cNvSpPr txBox="1"/>
          <p:nvPr/>
        </p:nvSpPr>
        <p:spPr>
          <a:xfrm>
            <a:off x="457200" y="4343400"/>
            <a:ext cx="11247120" cy="640080"/>
          </a:xfrm>
          <a:prstGeom prst="rect">
            <a:avLst/>
          </a:prstGeom>
          <a:noFill/>
          <a:ln/>
        </p:spPr>
        <p:txBody>
          <a:bodyPr wrap="square" lIns="0" tIns="0" rIns="0" bIns="0" rtlCol="0" anchor="ctr"/>
          <a:lstStyle/>
          <a:p>
            <a:pPr indent="0" marL="0">
              <a:buNone/>
            </a:pPr>
            <a:r>
              <a:rPr lang="en-US" sz="1400" dirty="0">
                <a:solidFill>
                  <a:srgbClr val="1B1F2A"/>
                </a:solidFill>
              </a:rPr>
              <a:t>Diversification ratio and risk bets use each estimator's own covariance; the market share of variance always uses the single-factor model, so it is comparable across panels.</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47120" cy="731520"/>
          </a:xfrm>
          <a:prstGeom prst="rect">
            <a:avLst/>
          </a:prstGeom>
          <a:noFill/>
          <a:ln/>
        </p:spPr>
        <p:txBody>
          <a:bodyPr wrap="square" lIns="0" tIns="0" rIns="0" bIns="0" rtlCol="0" anchor="ctr"/>
          <a:lstStyle/>
          <a:p>
            <a:pPr indent="0" marL="0">
              <a:buNone/>
            </a:pPr>
            <a:r>
              <a:rPr lang="en-US" sz="3000" b="1" dirty="0">
                <a:solidFill>
                  <a:schemeClr val="tx2"/>
                </a:solidFill>
              </a:rPr>
              <a:t>Numerical Validation in the Demo</a:t>
            </a:r>
            <a:endParaRPr lang="en-US" sz="3000" dirty="0"/>
          </a:p>
        </p:txBody>
      </p:sp>
      <p:graphicFrame>
        <p:nvGraphicFramePr>
          <p:cNvPr id="18" name="Validation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3383280"/>
                <a:gridCol w="4846320"/>
                <a:gridCol w="3017520"/>
              </a:tblGrid>
              <a:tr h="566928">
                <a:tc>
                  <a:txBody>
                    <a:bodyPr/>
                    <a:lstStyle/>
                    <a:p>
                      <a:pPr algn="l" indent="0" marL="0">
                        <a:buNone/>
                      </a:pPr>
                      <a:r>
                        <a:rPr lang="en-US" sz="1200" b="1" dirty="0">
                          <a:solidFill>
                            <a:schemeClr val="bg1"/>
                          </a:solidFill>
                        </a:rPr>
                        <a:t>Check</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l" indent="0" marL="0">
                        <a:buNone/>
                      </a:pPr>
                      <a:r>
                        <a:rPr lang="en-US" sz="1200" b="1" dirty="0">
                          <a:solidFill>
                            <a:schemeClr val="bg1"/>
                          </a:solidFill>
                        </a:rPr>
                        <a:t>What is verified</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c>
                  <a:txBody>
                    <a:bodyPr/>
                    <a:lstStyle/>
                    <a:p>
                      <a:pPr algn="l" indent="0" marL="0">
                        <a:buNone/>
                      </a:pPr>
                      <a:r>
                        <a:rPr lang="en-US" sz="1200" b="1" dirty="0">
                          <a:solidFill>
                            <a:schemeClr val="bg1"/>
                          </a:solidFill>
                        </a:rPr>
                        <a:t>Result</a:t>
                      </a:r>
                      <a:endParaRPr lang="en-US" sz="12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solidFill>
                      <a:srgbClr val="1F2A44"/>
                    </a:solidFill>
                  </a:tcPr>
                </a:tc>
              </a:tr>
              <a:tr h="566928">
                <a:tc>
                  <a:txBody>
                    <a:bodyPr/>
                    <a:lstStyle/>
                    <a:p>
                      <a:pPr algn="l" indent="0" marL="0">
                        <a:buNone/>
                      </a:pPr>
                      <a:r>
                        <a:rPr lang="en-US" sz="1300" b="1" dirty="0">
                          <a:solidFill>
                            <a:srgbClr val="1B1F2A"/>
                          </a:solidFill>
                        </a:rPr>
                        <a:t>Closed forms vs. QP solvers (first rebalance)</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Minimum-risk variance, MaxDiv DR and risk-parity weights agree</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passed</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566928">
                <a:tc>
                  <a:txBody>
                    <a:bodyPr/>
                    <a:lstStyle/>
                    <a:p>
                      <a:pPr algn="l" indent="0" marL="0">
                        <a:buNone/>
                      </a:pPr>
                      <a:r>
                        <a:rPr lang="en-US" sz="1300" b="1" dirty="0">
                          <a:solidFill>
                            <a:srgbClr val="1B1F2A"/>
                          </a:solidFill>
                        </a:rPr>
                        <a:t>Alignment, every date</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Same months, universe and rebalance dates; weights sum to 1, no shorts</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372 months × 5 strategies × 3 models</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566928">
                <a:tc>
                  <a:txBody>
                    <a:bodyPr/>
                    <a:lstStyle/>
                    <a:p>
                      <a:pPr algn="l" indent="0" marL="0">
                        <a:buNone/>
                      </a:pPr>
                      <a:r>
                        <a:rPr lang="en-US" sz="1300" b="1" dirty="0">
                          <a:solidFill>
                            <a:srgbClr val="1B1F2A"/>
                          </a:solidFill>
                        </a:rPr>
                        <a:t>MaxDiv optimality (max relative KKT residual)</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single factor / constant correlation / shrunk sample</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2.85e-09 / 2.28e-15 / 2.62e-08</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566928">
                <a:tc>
                  <a:txBody>
                    <a:bodyPr/>
                    <a:lstStyle/>
                    <a:p>
                      <a:pPr algn="l" indent="0" marL="0">
                        <a:buNone/>
                      </a:pPr>
                      <a:r>
                        <a:rPr lang="en-US" sz="1300" b="1" dirty="0">
                          <a:solidFill>
                            <a:srgbClr val="1B1F2A"/>
                          </a:solidFill>
                        </a:rPr>
                        <a:t>Risk parity: equal risk contributions</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max |n·shareᵢ − 1|, same order</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2.94e-14 / 2.22e-15 / 9.31e-10</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566928">
                <a:tc>
                  <a:txBody>
                    <a:bodyPr/>
                    <a:lstStyle/>
                    <a:p>
                      <a:pPr algn="l" indent="0" marL="0">
                        <a:buNone/>
                      </a:pPr>
                      <a:r>
                        <a:rPr lang="en-US" sz="1300" b="1" dirty="0">
                          <a:solidFill>
                            <a:srgbClr val="1B1F2A"/>
                          </a:solidFill>
                        </a:rPr>
                        <a:t>Constant correlation</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ρ equals the mean pairwise correlation; MaxDiv = RP = inverse volatility</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ρ = 0.269</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r h="566928">
                <a:tc>
                  <a:txBody>
                    <a:bodyPr/>
                    <a:lstStyle/>
                    <a:p>
                      <a:pPr algn="l" indent="0" marL="0">
                        <a:buNone/>
                      </a:pPr>
                      <a:r>
                        <a:rPr lang="en-US" sz="1300" b="1" dirty="0">
                          <a:solidFill>
                            <a:srgbClr val="1B1F2A"/>
                          </a:solidFill>
                        </a:rPr>
                        <a:t>Shrunk sample</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λ and V match a dense computation of the formulas in project.pdf</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c>
                  <a:txBody>
                    <a:bodyPr/>
                    <a:lstStyle/>
                    <a:p>
                      <a:pPr algn="l" indent="0" marL="0">
                        <a:buNone/>
                      </a:pPr>
                      <a:r>
                        <a:rPr lang="en-US" sz="1300" dirty="0">
                          <a:solidFill>
                            <a:srgbClr val="1B1F2A"/>
                          </a:solidFill>
                        </a:rPr>
                        <a:t>λ = 0.464</a:t>
                      </a:r>
                      <a:endParaRPr lang="en-US" sz="1300" dirty="0"/>
                    </a:p>
                  </a:txBody>
                  <a:tcPr marL="91440" marR="91440" marT="45720" marB="45720" anchor="ctr">
                    <a:lnL w="6350" cap="flat" cmpd="sng" algn="ctr">
                      <a:solidFill>
                        <a:srgbClr val="E3E7ED"/>
                      </a:solidFill>
                      <a:prstDash val="solid"/>
                      <a:round/>
                      <a:headEnd type="none" w="med" len="med"/>
                      <a:tailEnd type="none" w="med" len="med"/>
                    </a:lnL>
                    <a:lnR w="6350" cap="flat" cmpd="sng" algn="ctr">
                      <a:solidFill>
                        <a:srgbClr val="E3E7ED"/>
                      </a:solidFill>
                      <a:prstDash val="solid"/>
                      <a:round/>
                      <a:headEnd type="none" w="med" len="med"/>
                      <a:tailEnd type="none" w="med" len="med"/>
                    </a:lnR>
                    <a:lnT w="6350" cap="flat" cmpd="sng" algn="ctr">
                      <a:solidFill>
                        <a:srgbClr val="E3E7ED"/>
                      </a:solidFill>
                      <a:prstDash val="solid"/>
                      <a:round/>
                      <a:headEnd type="none" w="med" len="med"/>
                      <a:tailEnd type="none" w="med" len="med"/>
                    </a:lnT>
                    <a:lnB w="6350" cap="flat" cmpd="sng" algn="ctr">
                      <a:solidFill>
                        <a:srgbClr val="E3E7E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Diversification">
  <a:themeElements>
    <a:clrScheme name="Diversification">
      <a:dk1>
        <a:srgbClr val="1B1F2A"/>
      </a:dk1>
      <a:lt1>
        <a:srgbClr val="FFFFFF"/>
      </a:lt1>
      <a:dk2>
        <a:srgbClr val="1F2A44"/>
      </a:dk2>
      <a:lt2>
        <a:srgbClr val="EEF1F5"/>
      </a:lt2>
      <a:accent1>
        <a:srgbClr val="2A78D6"/>
      </a:accent1>
      <a:accent2>
        <a:srgbClr val="1BAF7A"/>
      </a:accent2>
      <a:accent3>
        <a:srgbClr val="EB6834"/>
      </a:accent3>
      <a:accent4>
        <a:srgbClr val="EDA100"/>
      </a:accent4>
      <a:accent5>
        <a:srgbClr val="E87BA4"/>
      </a:accent5>
      <a:accent6>
        <a:srgbClr val="16A3B8"/>
      </a:accent6>
      <a:hlink>
        <a:srgbClr val="2A78D6"/>
      </a:hlink>
      <a:folHlink>
        <a:srgbClr val="8E44AD"/>
      </a:folHlink>
    </a:clrScheme>
    <a:fontScheme name="Diversific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Diversification Approaches</dc:title>
  <dc:subject>PptxGenJS Presentation</dc:subject>
  <dc:creator>PptxGenJS</dc:creator>
  <cp:lastModifiedBy>PptxGenJS</cp:lastModifiedBy>
  <cp:revision>1</cp:revision>
  <dcterms:created xsi:type="dcterms:W3CDTF">2026-10-05T02:53:15Z</dcterms:created>
  <dcterms:modified xsi:type="dcterms:W3CDTF">2026-10-05T02:53:15Z</dcterms:modified>
</cp:coreProperties>
</file>